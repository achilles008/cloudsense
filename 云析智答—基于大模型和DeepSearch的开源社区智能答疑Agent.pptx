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1-d3dpatos8jdo4os5dgc0.jpg"/>
          <p:cNvPicPr>
            <a:picLocks noChangeAspect="1"/>
          </p:cNvPicPr>
          <p:nvPr/>
        </p:nvPicPr>
        <p:blipFill>
          <a:blip r:embed="rId2"/>
          <a:srcRect t="81" b="81"/>
          <a:stretch>
            <a:fillRect/>
          </a:stretch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3585" y="1328420"/>
            <a:ext cx="7359015" cy="11068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云析智</a:t>
            </a:r>
            <a:r>
              <a:rPr lang="zh-CN" altLang="en-US" sz="6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</a:t>
            </a:r>
            <a:endParaRPr lang="zh-CN" altLang="en-US" sz="66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4" name="Image 1" descr="https://kimi-img.moonshot.cn/pub/slides/slides_tmpl/image/25-09-30-16:31:50-d3dpatgs8jdo4os5dgb0.png"/>
          <p:cNvPicPr>
            <a:picLocks noChangeAspect="1"/>
          </p:cNvPicPr>
          <p:nvPr/>
        </p:nvPicPr>
        <p:blipFill>
          <a:blip r:embed="rId3"/>
          <a:srcRect l="-4251" t="-10515" r="-1259" b="-11753"/>
          <a:stretch>
            <a:fillRect/>
          </a:stretch>
        </p:blipFill>
        <p:spPr>
          <a:xfrm>
            <a:off x="743585" y="4895850"/>
            <a:ext cx="2561590" cy="7531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3585" y="5069205"/>
            <a:ext cx="2561590" cy="304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参赛团队: Devs</a:t>
            </a:r>
            <a:endParaRPr lang="en-US" sz="1600" dirty="0"/>
          </a:p>
        </p:txBody>
      </p:sp>
      <p:pic>
        <p:nvPicPr>
          <p:cNvPr id="6" name="Image 2" descr="https://kimi-img.moonshot.cn/pub/slides/slides_tmpl/image/25-09-30-16:31:50-d3dpatgs8jdo4os5dgb0.png"/>
          <p:cNvPicPr>
            <a:picLocks noChangeAspect="1"/>
          </p:cNvPicPr>
          <p:nvPr/>
        </p:nvPicPr>
        <p:blipFill>
          <a:blip r:embed="rId3"/>
          <a:srcRect l="-3093" t="-7577" r="-2849" b="-8754"/>
          <a:stretch>
            <a:fillRect/>
          </a:stretch>
        </p:blipFill>
        <p:spPr>
          <a:xfrm>
            <a:off x="3312160" y="4895850"/>
            <a:ext cx="2702560" cy="7531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395980" y="5069205"/>
            <a:ext cx="2562225" cy="304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时间:2025/12/31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9" name="Image 3" descr="https://kimi-img.moonshot.cn/pub/slides/slides_tmpl/image/25-09-30-16:31:50-d3dpatgs8jdo4os5dg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0">
            <a:off x="7219950" y="1313815"/>
            <a:ext cx="4137025" cy="479044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359525" y="5814060"/>
            <a:ext cx="1160145" cy="822960"/>
          </a:xfrm>
          <a:custGeom>
            <a:avLst/>
            <a:gdLst/>
            <a:ahLst/>
            <a:cxnLst/>
            <a:rect l="l" t="t" r="r" b="b"/>
            <a:pathLst>
              <a:path w="1160145" h="822960">
                <a:moveTo>
                  <a:pt x="51650" y="29341"/>
                </a:moveTo>
                <a:cubicBezTo>
                  <a:pt x="51650" y="45609"/>
                  <a:pt x="39866" y="58797"/>
                  <a:pt x="25329" y="58797"/>
                </a:cubicBezTo>
                <a:cubicBezTo>
                  <a:pt x="10793" y="58797"/>
                  <a:pt x="-991" y="45609"/>
                  <a:pt x="-991" y="29341"/>
                </a:cubicBezTo>
                <a:cubicBezTo>
                  <a:pt x="-991" y="13073"/>
                  <a:pt x="10793" y="-115"/>
                  <a:pt x="25329" y="-115"/>
                </a:cubicBezTo>
                <a:cubicBezTo>
                  <a:pt x="39860" y="-123"/>
                  <a:pt x="51642" y="13053"/>
                  <a:pt x="51650" y="29313"/>
                </a:cubicBezTo>
                <a:cubicBezTo>
                  <a:pt x="51650" y="29323"/>
                  <a:pt x="51650" y="29332"/>
                  <a:pt x="51650" y="29341"/>
                </a:cubicBezTo>
                <a:close/>
                <a:moveTo>
                  <a:pt x="273361" y="29341"/>
                </a:moveTo>
                <a:cubicBezTo>
                  <a:pt x="273361" y="45609"/>
                  <a:pt x="261577" y="58797"/>
                  <a:pt x="247041" y="58797"/>
                </a:cubicBezTo>
                <a:cubicBezTo>
                  <a:pt x="232505" y="58797"/>
                  <a:pt x="220720" y="45609"/>
                  <a:pt x="220720" y="29341"/>
                </a:cubicBezTo>
                <a:cubicBezTo>
                  <a:pt x="220720" y="13073"/>
                  <a:pt x="232505" y="-115"/>
                  <a:pt x="247041" y="-115"/>
                </a:cubicBezTo>
                <a:cubicBezTo>
                  <a:pt x="261569" y="-96"/>
                  <a:pt x="273345" y="13081"/>
                  <a:pt x="273361" y="29341"/>
                </a:cubicBezTo>
                <a:close/>
                <a:moveTo>
                  <a:pt x="495012" y="29341"/>
                </a:moveTo>
                <a:cubicBezTo>
                  <a:pt x="495012" y="45609"/>
                  <a:pt x="483227" y="58797"/>
                  <a:pt x="468691" y="58797"/>
                </a:cubicBezTo>
                <a:cubicBezTo>
                  <a:pt x="454155" y="58797"/>
                  <a:pt x="442371" y="45609"/>
                  <a:pt x="442371" y="29341"/>
                </a:cubicBezTo>
                <a:cubicBezTo>
                  <a:pt x="442371" y="13073"/>
                  <a:pt x="454155" y="-115"/>
                  <a:pt x="468691" y="-115"/>
                </a:cubicBezTo>
                <a:cubicBezTo>
                  <a:pt x="483220" y="-123"/>
                  <a:pt x="495003" y="13053"/>
                  <a:pt x="495012" y="29313"/>
                </a:cubicBezTo>
                <a:cubicBezTo>
                  <a:pt x="495012" y="29323"/>
                  <a:pt x="495012" y="29332"/>
                  <a:pt x="495012" y="29341"/>
                </a:cubicBezTo>
                <a:close/>
                <a:moveTo>
                  <a:pt x="716723" y="29341"/>
                </a:moveTo>
                <a:cubicBezTo>
                  <a:pt x="716723" y="45609"/>
                  <a:pt x="704939" y="58797"/>
                  <a:pt x="690403" y="58797"/>
                </a:cubicBezTo>
                <a:cubicBezTo>
                  <a:pt x="675866" y="58797"/>
                  <a:pt x="664082" y="45609"/>
                  <a:pt x="664082" y="29341"/>
                </a:cubicBezTo>
                <a:cubicBezTo>
                  <a:pt x="664082" y="13073"/>
                  <a:pt x="675866" y="-115"/>
                  <a:pt x="690403" y="-115"/>
                </a:cubicBezTo>
                <a:cubicBezTo>
                  <a:pt x="704933" y="-123"/>
                  <a:pt x="716715" y="13053"/>
                  <a:pt x="716723" y="29313"/>
                </a:cubicBezTo>
                <a:cubicBezTo>
                  <a:pt x="716723" y="29323"/>
                  <a:pt x="716723" y="29332"/>
                  <a:pt x="716723" y="29341"/>
                </a:cubicBezTo>
                <a:close/>
                <a:moveTo>
                  <a:pt x="938435" y="29341"/>
                </a:moveTo>
                <a:cubicBezTo>
                  <a:pt x="938435" y="45609"/>
                  <a:pt x="926651" y="58797"/>
                  <a:pt x="912114" y="58797"/>
                </a:cubicBezTo>
                <a:cubicBezTo>
                  <a:pt x="897579" y="58797"/>
                  <a:pt x="885794" y="45609"/>
                  <a:pt x="885794" y="29341"/>
                </a:cubicBezTo>
                <a:cubicBezTo>
                  <a:pt x="885794" y="13073"/>
                  <a:pt x="897579" y="-115"/>
                  <a:pt x="912114" y="-115"/>
                </a:cubicBezTo>
                <a:cubicBezTo>
                  <a:pt x="926644" y="-123"/>
                  <a:pt x="938427" y="13053"/>
                  <a:pt x="938435" y="29313"/>
                </a:cubicBezTo>
                <a:cubicBezTo>
                  <a:pt x="938435" y="29323"/>
                  <a:pt x="938435" y="29332"/>
                  <a:pt x="938435" y="29341"/>
                </a:cubicBezTo>
                <a:close/>
                <a:moveTo>
                  <a:pt x="1160145" y="29341"/>
                </a:moveTo>
                <a:cubicBezTo>
                  <a:pt x="1160145" y="45609"/>
                  <a:pt x="1148361" y="58797"/>
                  <a:pt x="1133824" y="58797"/>
                </a:cubicBezTo>
                <a:cubicBezTo>
                  <a:pt x="1119288" y="58797"/>
                  <a:pt x="1107504" y="45609"/>
                  <a:pt x="1107504" y="29341"/>
                </a:cubicBezTo>
                <a:cubicBezTo>
                  <a:pt x="1107504" y="13073"/>
                  <a:pt x="1119288" y="-115"/>
                  <a:pt x="1133824" y="-115"/>
                </a:cubicBezTo>
                <a:cubicBezTo>
                  <a:pt x="1148353" y="-96"/>
                  <a:pt x="1160129" y="13081"/>
                  <a:pt x="1160145" y="29341"/>
                </a:cubicBezTo>
                <a:close/>
                <a:moveTo>
                  <a:pt x="51650" y="220382"/>
                </a:moveTo>
                <a:cubicBezTo>
                  <a:pt x="51650" y="236650"/>
                  <a:pt x="39866" y="249838"/>
                  <a:pt x="25329" y="249838"/>
                </a:cubicBezTo>
                <a:cubicBezTo>
                  <a:pt x="10793" y="249838"/>
                  <a:pt x="-991" y="236650"/>
                  <a:pt x="-991" y="220382"/>
                </a:cubicBezTo>
                <a:cubicBezTo>
                  <a:pt x="-991" y="204114"/>
                  <a:pt x="10793" y="190926"/>
                  <a:pt x="25329" y="190926"/>
                </a:cubicBezTo>
                <a:cubicBezTo>
                  <a:pt x="39860" y="190918"/>
                  <a:pt x="51642" y="204094"/>
                  <a:pt x="51650" y="220354"/>
                </a:cubicBezTo>
                <a:cubicBezTo>
                  <a:pt x="51650" y="220364"/>
                  <a:pt x="51650" y="220373"/>
                  <a:pt x="51650" y="220382"/>
                </a:cubicBezTo>
                <a:close/>
                <a:moveTo>
                  <a:pt x="273361" y="220382"/>
                </a:moveTo>
                <a:cubicBezTo>
                  <a:pt x="273361" y="236650"/>
                  <a:pt x="261577" y="249838"/>
                  <a:pt x="247041" y="249838"/>
                </a:cubicBezTo>
                <a:cubicBezTo>
                  <a:pt x="232505" y="249838"/>
                  <a:pt x="220720" y="236650"/>
                  <a:pt x="220720" y="220382"/>
                </a:cubicBezTo>
                <a:cubicBezTo>
                  <a:pt x="220720" y="204114"/>
                  <a:pt x="232505" y="190926"/>
                  <a:pt x="247041" y="190926"/>
                </a:cubicBezTo>
                <a:cubicBezTo>
                  <a:pt x="261569" y="190945"/>
                  <a:pt x="273345" y="204122"/>
                  <a:pt x="273361" y="220382"/>
                </a:cubicBezTo>
                <a:close/>
                <a:moveTo>
                  <a:pt x="495012" y="220382"/>
                </a:moveTo>
                <a:cubicBezTo>
                  <a:pt x="495012" y="236650"/>
                  <a:pt x="483227" y="249838"/>
                  <a:pt x="468691" y="249838"/>
                </a:cubicBezTo>
                <a:cubicBezTo>
                  <a:pt x="454155" y="249838"/>
                  <a:pt x="442371" y="236650"/>
                  <a:pt x="442371" y="220382"/>
                </a:cubicBezTo>
                <a:cubicBezTo>
                  <a:pt x="442371" y="204114"/>
                  <a:pt x="454155" y="190926"/>
                  <a:pt x="468691" y="190926"/>
                </a:cubicBezTo>
                <a:cubicBezTo>
                  <a:pt x="483220" y="190918"/>
                  <a:pt x="495003" y="204094"/>
                  <a:pt x="495012" y="220354"/>
                </a:cubicBezTo>
                <a:cubicBezTo>
                  <a:pt x="495012" y="220364"/>
                  <a:pt x="495012" y="220373"/>
                  <a:pt x="495012" y="220382"/>
                </a:cubicBezTo>
                <a:close/>
                <a:moveTo>
                  <a:pt x="716723" y="220382"/>
                </a:moveTo>
                <a:cubicBezTo>
                  <a:pt x="716723" y="236650"/>
                  <a:pt x="704939" y="249838"/>
                  <a:pt x="690403" y="249838"/>
                </a:cubicBezTo>
                <a:cubicBezTo>
                  <a:pt x="675866" y="249838"/>
                  <a:pt x="664082" y="236650"/>
                  <a:pt x="664082" y="220382"/>
                </a:cubicBezTo>
                <a:cubicBezTo>
                  <a:pt x="664082" y="204114"/>
                  <a:pt x="675866" y="190926"/>
                  <a:pt x="690403" y="190926"/>
                </a:cubicBezTo>
                <a:cubicBezTo>
                  <a:pt x="704933" y="190918"/>
                  <a:pt x="716715" y="204094"/>
                  <a:pt x="716723" y="220354"/>
                </a:cubicBezTo>
                <a:cubicBezTo>
                  <a:pt x="716723" y="220364"/>
                  <a:pt x="716723" y="220373"/>
                  <a:pt x="716723" y="220382"/>
                </a:cubicBezTo>
                <a:close/>
                <a:moveTo>
                  <a:pt x="938435" y="220382"/>
                </a:moveTo>
                <a:cubicBezTo>
                  <a:pt x="938435" y="236650"/>
                  <a:pt x="926651" y="249838"/>
                  <a:pt x="912114" y="249838"/>
                </a:cubicBezTo>
                <a:cubicBezTo>
                  <a:pt x="897579" y="249838"/>
                  <a:pt x="885794" y="236650"/>
                  <a:pt x="885794" y="220382"/>
                </a:cubicBezTo>
                <a:cubicBezTo>
                  <a:pt x="885794" y="204114"/>
                  <a:pt x="897579" y="190926"/>
                  <a:pt x="912114" y="190926"/>
                </a:cubicBezTo>
                <a:cubicBezTo>
                  <a:pt x="926644" y="190918"/>
                  <a:pt x="938427" y="204094"/>
                  <a:pt x="938435" y="220354"/>
                </a:cubicBezTo>
                <a:cubicBezTo>
                  <a:pt x="938435" y="220364"/>
                  <a:pt x="938435" y="220373"/>
                  <a:pt x="938435" y="220382"/>
                </a:cubicBezTo>
                <a:close/>
                <a:moveTo>
                  <a:pt x="1160145" y="220382"/>
                </a:moveTo>
                <a:cubicBezTo>
                  <a:pt x="1160145" y="236650"/>
                  <a:pt x="1148361" y="249838"/>
                  <a:pt x="1133824" y="249838"/>
                </a:cubicBezTo>
                <a:cubicBezTo>
                  <a:pt x="1119288" y="249838"/>
                  <a:pt x="1107504" y="236650"/>
                  <a:pt x="1107504" y="220382"/>
                </a:cubicBezTo>
                <a:cubicBezTo>
                  <a:pt x="1107504" y="204114"/>
                  <a:pt x="1119288" y="190926"/>
                  <a:pt x="1133824" y="190926"/>
                </a:cubicBezTo>
                <a:cubicBezTo>
                  <a:pt x="1148353" y="190945"/>
                  <a:pt x="1160129" y="204122"/>
                  <a:pt x="1160145" y="220382"/>
                </a:cubicBezTo>
                <a:close/>
                <a:moveTo>
                  <a:pt x="51650" y="411423"/>
                </a:moveTo>
                <a:cubicBezTo>
                  <a:pt x="51650" y="427691"/>
                  <a:pt x="39866" y="440878"/>
                  <a:pt x="25329" y="440878"/>
                </a:cubicBezTo>
                <a:cubicBezTo>
                  <a:pt x="10793" y="440878"/>
                  <a:pt x="-991" y="427691"/>
                  <a:pt x="-991" y="411423"/>
                </a:cubicBezTo>
                <a:cubicBezTo>
                  <a:pt x="-991" y="395154"/>
                  <a:pt x="10793" y="381967"/>
                  <a:pt x="25329" y="381967"/>
                </a:cubicBezTo>
                <a:cubicBezTo>
                  <a:pt x="39860" y="381959"/>
                  <a:pt x="51642" y="395134"/>
                  <a:pt x="51650" y="411394"/>
                </a:cubicBezTo>
                <a:cubicBezTo>
                  <a:pt x="51650" y="411403"/>
                  <a:pt x="51650" y="411413"/>
                  <a:pt x="51650" y="411423"/>
                </a:cubicBezTo>
                <a:close/>
                <a:moveTo>
                  <a:pt x="273361" y="411423"/>
                </a:moveTo>
                <a:cubicBezTo>
                  <a:pt x="273361" y="427691"/>
                  <a:pt x="261577" y="440878"/>
                  <a:pt x="247041" y="440878"/>
                </a:cubicBezTo>
                <a:cubicBezTo>
                  <a:pt x="232505" y="440878"/>
                  <a:pt x="220720" y="427691"/>
                  <a:pt x="220720" y="411423"/>
                </a:cubicBezTo>
                <a:cubicBezTo>
                  <a:pt x="220720" y="395154"/>
                  <a:pt x="232505" y="381967"/>
                  <a:pt x="247041" y="381967"/>
                </a:cubicBezTo>
                <a:cubicBezTo>
                  <a:pt x="261569" y="381986"/>
                  <a:pt x="273345" y="395162"/>
                  <a:pt x="273361" y="411423"/>
                </a:cubicBezTo>
                <a:close/>
                <a:moveTo>
                  <a:pt x="495012" y="411423"/>
                </a:moveTo>
                <a:cubicBezTo>
                  <a:pt x="495012" y="427691"/>
                  <a:pt x="483227" y="440878"/>
                  <a:pt x="468691" y="440878"/>
                </a:cubicBezTo>
                <a:cubicBezTo>
                  <a:pt x="454155" y="440878"/>
                  <a:pt x="442371" y="427691"/>
                  <a:pt x="442371" y="411423"/>
                </a:cubicBezTo>
                <a:cubicBezTo>
                  <a:pt x="442371" y="395154"/>
                  <a:pt x="454155" y="381967"/>
                  <a:pt x="468691" y="381967"/>
                </a:cubicBezTo>
                <a:cubicBezTo>
                  <a:pt x="483220" y="381959"/>
                  <a:pt x="495003" y="395134"/>
                  <a:pt x="495012" y="411394"/>
                </a:cubicBezTo>
                <a:cubicBezTo>
                  <a:pt x="495012" y="411403"/>
                  <a:pt x="495012" y="411413"/>
                  <a:pt x="495012" y="411423"/>
                </a:cubicBezTo>
                <a:close/>
                <a:moveTo>
                  <a:pt x="716723" y="411423"/>
                </a:moveTo>
                <a:cubicBezTo>
                  <a:pt x="716723" y="427691"/>
                  <a:pt x="704939" y="440878"/>
                  <a:pt x="690403" y="440878"/>
                </a:cubicBezTo>
                <a:cubicBezTo>
                  <a:pt x="675866" y="440878"/>
                  <a:pt x="664082" y="427691"/>
                  <a:pt x="664082" y="411423"/>
                </a:cubicBezTo>
                <a:cubicBezTo>
                  <a:pt x="664082" y="395154"/>
                  <a:pt x="675866" y="381967"/>
                  <a:pt x="690403" y="381967"/>
                </a:cubicBezTo>
                <a:cubicBezTo>
                  <a:pt x="704933" y="381959"/>
                  <a:pt x="716715" y="395134"/>
                  <a:pt x="716723" y="411394"/>
                </a:cubicBezTo>
                <a:cubicBezTo>
                  <a:pt x="716723" y="411403"/>
                  <a:pt x="716723" y="411413"/>
                  <a:pt x="716723" y="411423"/>
                </a:cubicBezTo>
                <a:close/>
                <a:moveTo>
                  <a:pt x="938435" y="411423"/>
                </a:moveTo>
                <a:cubicBezTo>
                  <a:pt x="938435" y="427691"/>
                  <a:pt x="926651" y="440878"/>
                  <a:pt x="912114" y="440878"/>
                </a:cubicBezTo>
                <a:cubicBezTo>
                  <a:pt x="897579" y="440878"/>
                  <a:pt x="885794" y="427691"/>
                  <a:pt x="885794" y="411423"/>
                </a:cubicBezTo>
                <a:cubicBezTo>
                  <a:pt x="885794" y="395154"/>
                  <a:pt x="897579" y="381967"/>
                  <a:pt x="912114" y="381967"/>
                </a:cubicBezTo>
                <a:cubicBezTo>
                  <a:pt x="926644" y="381959"/>
                  <a:pt x="938427" y="395134"/>
                  <a:pt x="938435" y="411394"/>
                </a:cubicBezTo>
                <a:cubicBezTo>
                  <a:pt x="938435" y="411403"/>
                  <a:pt x="938435" y="411413"/>
                  <a:pt x="938435" y="411423"/>
                </a:cubicBezTo>
                <a:close/>
                <a:moveTo>
                  <a:pt x="1160145" y="411423"/>
                </a:moveTo>
                <a:cubicBezTo>
                  <a:pt x="1160145" y="427691"/>
                  <a:pt x="1148361" y="440878"/>
                  <a:pt x="1133824" y="440878"/>
                </a:cubicBezTo>
                <a:cubicBezTo>
                  <a:pt x="1119288" y="440878"/>
                  <a:pt x="1107504" y="427691"/>
                  <a:pt x="1107504" y="411423"/>
                </a:cubicBezTo>
                <a:cubicBezTo>
                  <a:pt x="1107504" y="395154"/>
                  <a:pt x="1119288" y="381967"/>
                  <a:pt x="1133824" y="381967"/>
                </a:cubicBezTo>
                <a:cubicBezTo>
                  <a:pt x="1148353" y="381986"/>
                  <a:pt x="1160129" y="395162"/>
                  <a:pt x="1160145" y="411423"/>
                </a:cubicBezTo>
                <a:close/>
                <a:moveTo>
                  <a:pt x="51650" y="602463"/>
                </a:moveTo>
                <a:cubicBezTo>
                  <a:pt x="51650" y="618731"/>
                  <a:pt x="39866" y="631919"/>
                  <a:pt x="25329" y="631919"/>
                </a:cubicBezTo>
                <a:cubicBezTo>
                  <a:pt x="10793" y="631919"/>
                  <a:pt x="-991" y="618731"/>
                  <a:pt x="-991" y="602463"/>
                </a:cubicBezTo>
                <a:cubicBezTo>
                  <a:pt x="-991" y="586195"/>
                  <a:pt x="10793" y="573007"/>
                  <a:pt x="25329" y="573007"/>
                </a:cubicBezTo>
                <a:cubicBezTo>
                  <a:pt x="39860" y="572999"/>
                  <a:pt x="51642" y="586175"/>
                  <a:pt x="51650" y="602435"/>
                </a:cubicBezTo>
                <a:cubicBezTo>
                  <a:pt x="51650" y="602445"/>
                  <a:pt x="51650" y="602454"/>
                  <a:pt x="51650" y="602463"/>
                </a:cubicBezTo>
                <a:close/>
                <a:moveTo>
                  <a:pt x="273361" y="602463"/>
                </a:moveTo>
                <a:cubicBezTo>
                  <a:pt x="273361" y="618731"/>
                  <a:pt x="261577" y="631919"/>
                  <a:pt x="247041" y="631919"/>
                </a:cubicBezTo>
                <a:cubicBezTo>
                  <a:pt x="232505" y="631919"/>
                  <a:pt x="220720" y="618731"/>
                  <a:pt x="220720" y="602463"/>
                </a:cubicBezTo>
                <a:cubicBezTo>
                  <a:pt x="220720" y="586195"/>
                  <a:pt x="232505" y="573007"/>
                  <a:pt x="247041" y="573007"/>
                </a:cubicBezTo>
                <a:cubicBezTo>
                  <a:pt x="261569" y="573027"/>
                  <a:pt x="273345" y="586203"/>
                  <a:pt x="273361" y="602463"/>
                </a:cubicBezTo>
                <a:close/>
                <a:moveTo>
                  <a:pt x="495012" y="602463"/>
                </a:moveTo>
                <a:cubicBezTo>
                  <a:pt x="495012" y="618731"/>
                  <a:pt x="483227" y="631919"/>
                  <a:pt x="468691" y="631919"/>
                </a:cubicBezTo>
                <a:cubicBezTo>
                  <a:pt x="454155" y="631919"/>
                  <a:pt x="442371" y="618731"/>
                  <a:pt x="442371" y="602463"/>
                </a:cubicBezTo>
                <a:cubicBezTo>
                  <a:pt x="442371" y="586195"/>
                  <a:pt x="454155" y="573007"/>
                  <a:pt x="468691" y="573007"/>
                </a:cubicBezTo>
                <a:cubicBezTo>
                  <a:pt x="483220" y="572999"/>
                  <a:pt x="495003" y="586175"/>
                  <a:pt x="495012" y="602435"/>
                </a:cubicBezTo>
                <a:cubicBezTo>
                  <a:pt x="495012" y="602445"/>
                  <a:pt x="495012" y="602454"/>
                  <a:pt x="495012" y="602463"/>
                </a:cubicBezTo>
                <a:close/>
                <a:moveTo>
                  <a:pt x="716723" y="602463"/>
                </a:moveTo>
                <a:cubicBezTo>
                  <a:pt x="716723" y="618731"/>
                  <a:pt x="704939" y="631919"/>
                  <a:pt x="690403" y="631919"/>
                </a:cubicBezTo>
                <a:cubicBezTo>
                  <a:pt x="675866" y="631919"/>
                  <a:pt x="664082" y="618731"/>
                  <a:pt x="664082" y="602463"/>
                </a:cubicBezTo>
                <a:cubicBezTo>
                  <a:pt x="664082" y="586195"/>
                  <a:pt x="675866" y="573007"/>
                  <a:pt x="690403" y="573007"/>
                </a:cubicBezTo>
                <a:cubicBezTo>
                  <a:pt x="704933" y="572999"/>
                  <a:pt x="716715" y="586175"/>
                  <a:pt x="716723" y="602435"/>
                </a:cubicBezTo>
                <a:cubicBezTo>
                  <a:pt x="716723" y="602445"/>
                  <a:pt x="716723" y="602454"/>
                  <a:pt x="716723" y="602463"/>
                </a:cubicBezTo>
                <a:close/>
                <a:moveTo>
                  <a:pt x="938435" y="602463"/>
                </a:moveTo>
                <a:cubicBezTo>
                  <a:pt x="938435" y="618731"/>
                  <a:pt x="926651" y="631919"/>
                  <a:pt x="912114" y="631919"/>
                </a:cubicBezTo>
                <a:cubicBezTo>
                  <a:pt x="897579" y="631919"/>
                  <a:pt x="885794" y="618731"/>
                  <a:pt x="885794" y="602463"/>
                </a:cubicBezTo>
                <a:cubicBezTo>
                  <a:pt x="885794" y="586195"/>
                  <a:pt x="897579" y="573007"/>
                  <a:pt x="912114" y="573007"/>
                </a:cubicBezTo>
                <a:cubicBezTo>
                  <a:pt x="926644" y="572999"/>
                  <a:pt x="938427" y="586175"/>
                  <a:pt x="938435" y="602435"/>
                </a:cubicBezTo>
                <a:cubicBezTo>
                  <a:pt x="938435" y="602445"/>
                  <a:pt x="938435" y="602454"/>
                  <a:pt x="938435" y="602463"/>
                </a:cubicBezTo>
                <a:close/>
                <a:moveTo>
                  <a:pt x="1160145" y="602463"/>
                </a:moveTo>
                <a:cubicBezTo>
                  <a:pt x="1160145" y="618731"/>
                  <a:pt x="1148361" y="631919"/>
                  <a:pt x="1133824" y="631919"/>
                </a:cubicBezTo>
                <a:cubicBezTo>
                  <a:pt x="1119288" y="631919"/>
                  <a:pt x="1107504" y="618731"/>
                  <a:pt x="1107504" y="602463"/>
                </a:cubicBezTo>
                <a:cubicBezTo>
                  <a:pt x="1107504" y="586195"/>
                  <a:pt x="1119288" y="573007"/>
                  <a:pt x="1133824" y="573007"/>
                </a:cubicBezTo>
                <a:cubicBezTo>
                  <a:pt x="1148353" y="573027"/>
                  <a:pt x="1160129" y="586203"/>
                  <a:pt x="1160145" y="602463"/>
                </a:cubicBezTo>
                <a:close/>
                <a:moveTo>
                  <a:pt x="51650" y="793504"/>
                </a:moveTo>
                <a:cubicBezTo>
                  <a:pt x="51650" y="809772"/>
                  <a:pt x="39866" y="822960"/>
                  <a:pt x="25329" y="822960"/>
                </a:cubicBezTo>
                <a:cubicBezTo>
                  <a:pt x="10793" y="822960"/>
                  <a:pt x="-991" y="809772"/>
                  <a:pt x="-991" y="793504"/>
                </a:cubicBezTo>
                <a:cubicBezTo>
                  <a:pt x="-991" y="777236"/>
                  <a:pt x="10793" y="764048"/>
                  <a:pt x="25329" y="764048"/>
                </a:cubicBezTo>
                <a:cubicBezTo>
                  <a:pt x="39860" y="764040"/>
                  <a:pt x="51642" y="777215"/>
                  <a:pt x="51650" y="793476"/>
                </a:cubicBezTo>
                <a:cubicBezTo>
                  <a:pt x="51650" y="793485"/>
                  <a:pt x="51650" y="793494"/>
                  <a:pt x="51650" y="793504"/>
                </a:cubicBezTo>
                <a:close/>
                <a:moveTo>
                  <a:pt x="273361" y="793504"/>
                </a:moveTo>
                <a:cubicBezTo>
                  <a:pt x="273361" y="809772"/>
                  <a:pt x="261577" y="822960"/>
                  <a:pt x="247041" y="822960"/>
                </a:cubicBezTo>
                <a:cubicBezTo>
                  <a:pt x="232505" y="822960"/>
                  <a:pt x="220720" y="809772"/>
                  <a:pt x="220720" y="793504"/>
                </a:cubicBezTo>
                <a:cubicBezTo>
                  <a:pt x="220720" y="777236"/>
                  <a:pt x="232505" y="764048"/>
                  <a:pt x="247041" y="764048"/>
                </a:cubicBezTo>
                <a:cubicBezTo>
                  <a:pt x="261569" y="764066"/>
                  <a:pt x="273345" y="777244"/>
                  <a:pt x="273361" y="793504"/>
                </a:cubicBezTo>
                <a:close/>
                <a:moveTo>
                  <a:pt x="495012" y="793504"/>
                </a:moveTo>
                <a:cubicBezTo>
                  <a:pt x="495012" y="809772"/>
                  <a:pt x="483227" y="822960"/>
                  <a:pt x="468691" y="822960"/>
                </a:cubicBezTo>
                <a:cubicBezTo>
                  <a:pt x="454155" y="822960"/>
                  <a:pt x="442371" y="809772"/>
                  <a:pt x="442371" y="793504"/>
                </a:cubicBezTo>
                <a:cubicBezTo>
                  <a:pt x="442371" y="777236"/>
                  <a:pt x="454155" y="764048"/>
                  <a:pt x="468691" y="764048"/>
                </a:cubicBezTo>
                <a:cubicBezTo>
                  <a:pt x="483220" y="764040"/>
                  <a:pt x="495003" y="777215"/>
                  <a:pt x="495012" y="793476"/>
                </a:cubicBezTo>
                <a:cubicBezTo>
                  <a:pt x="495012" y="793485"/>
                  <a:pt x="495012" y="793494"/>
                  <a:pt x="495012" y="793504"/>
                </a:cubicBezTo>
                <a:close/>
                <a:moveTo>
                  <a:pt x="716723" y="793504"/>
                </a:moveTo>
                <a:cubicBezTo>
                  <a:pt x="716723" y="809772"/>
                  <a:pt x="704939" y="822960"/>
                  <a:pt x="690403" y="822960"/>
                </a:cubicBezTo>
                <a:cubicBezTo>
                  <a:pt x="675866" y="822960"/>
                  <a:pt x="664082" y="809772"/>
                  <a:pt x="664082" y="793504"/>
                </a:cubicBezTo>
                <a:cubicBezTo>
                  <a:pt x="664082" y="777236"/>
                  <a:pt x="675866" y="764048"/>
                  <a:pt x="690403" y="764048"/>
                </a:cubicBezTo>
                <a:cubicBezTo>
                  <a:pt x="704933" y="764040"/>
                  <a:pt x="716715" y="777215"/>
                  <a:pt x="716723" y="793476"/>
                </a:cubicBezTo>
                <a:cubicBezTo>
                  <a:pt x="716723" y="793485"/>
                  <a:pt x="716723" y="793494"/>
                  <a:pt x="716723" y="793504"/>
                </a:cubicBezTo>
                <a:close/>
                <a:moveTo>
                  <a:pt x="938435" y="793504"/>
                </a:moveTo>
                <a:cubicBezTo>
                  <a:pt x="938435" y="809772"/>
                  <a:pt x="926651" y="822960"/>
                  <a:pt x="912114" y="822960"/>
                </a:cubicBezTo>
                <a:cubicBezTo>
                  <a:pt x="897579" y="822960"/>
                  <a:pt x="885794" y="809772"/>
                  <a:pt x="885794" y="793504"/>
                </a:cubicBezTo>
                <a:cubicBezTo>
                  <a:pt x="885794" y="777236"/>
                  <a:pt x="897579" y="764048"/>
                  <a:pt x="912114" y="764048"/>
                </a:cubicBezTo>
                <a:cubicBezTo>
                  <a:pt x="926644" y="764040"/>
                  <a:pt x="938427" y="777215"/>
                  <a:pt x="938435" y="793476"/>
                </a:cubicBezTo>
                <a:cubicBezTo>
                  <a:pt x="938435" y="793485"/>
                  <a:pt x="938435" y="793494"/>
                  <a:pt x="938435" y="793504"/>
                </a:cubicBezTo>
                <a:close/>
                <a:moveTo>
                  <a:pt x="1160145" y="793504"/>
                </a:moveTo>
                <a:cubicBezTo>
                  <a:pt x="1160145" y="809772"/>
                  <a:pt x="1148361" y="822960"/>
                  <a:pt x="1133824" y="822960"/>
                </a:cubicBezTo>
                <a:cubicBezTo>
                  <a:pt x="1119288" y="822960"/>
                  <a:pt x="1107504" y="809772"/>
                  <a:pt x="1107504" y="793504"/>
                </a:cubicBezTo>
                <a:cubicBezTo>
                  <a:pt x="1107504" y="777236"/>
                  <a:pt x="1119288" y="764048"/>
                  <a:pt x="1133824" y="764048"/>
                </a:cubicBezTo>
                <a:cubicBezTo>
                  <a:pt x="1148353" y="764066"/>
                  <a:pt x="1160129" y="777244"/>
                  <a:pt x="1160145" y="793504"/>
                </a:cubicBezTo>
                <a:close/>
              </a:path>
            </a:pathLst>
          </a:custGeom>
          <a:solidFill>
            <a:srgbClr val="1199FB"/>
          </a:solidFill>
        </p:spPr>
      </p:sp>
      <p:sp>
        <p:nvSpPr>
          <p:cNvPr id="11" name="Text 0"/>
          <p:cNvSpPr/>
          <p:nvPr/>
        </p:nvSpPr>
        <p:spPr>
          <a:xfrm>
            <a:off x="743585" y="2559050"/>
            <a:ext cx="7359015" cy="1753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3600" b="1" dirty="0">
                <a:solidFill>
                  <a:srgbClr val="7030A0"/>
                </a:solidFill>
              </a:rPr>
              <a:t>基于</a:t>
            </a:r>
            <a:r>
              <a:rPr lang="zh-CN" altLang="en-US" sz="3600" b="1" dirty="0">
                <a:solidFill>
                  <a:srgbClr val="7030A0"/>
                </a:solidFill>
              </a:rPr>
              <a:t>大模型和</a:t>
            </a:r>
            <a:r>
              <a:rPr lang="en-US" altLang="zh-CN" sz="3600" b="1" dirty="0">
                <a:solidFill>
                  <a:srgbClr val="7030A0"/>
                </a:solidFill>
              </a:rPr>
              <a:t>DeepSearch</a:t>
            </a:r>
            <a:endParaRPr lang="en-US" altLang="zh-CN" sz="3600" b="1" dirty="0">
              <a:solidFill>
                <a:srgbClr val="7030A0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3600" b="1" dirty="0">
                <a:solidFill>
                  <a:srgbClr val="7030A0"/>
                </a:solidFill>
              </a:rPr>
              <a:t>的开源社区智能答疑</a:t>
            </a:r>
            <a:r>
              <a:rPr lang="en-US" altLang="zh-CN" sz="3600" b="1" dirty="0">
                <a:solidFill>
                  <a:srgbClr val="7030A0"/>
                </a:solidFill>
              </a:rPr>
              <a:t>Agent</a:t>
            </a:r>
            <a:endParaRPr lang="en-US" altLang="zh-CN" sz="3600" b="1" dirty="0">
              <a:solidFill>
                <a:srgbClr val="7030A0"/>
              </a:solidFill>
            </a:endParaRPr>
          </a:p>
        </p:txBody>
      </p:sp>
      <p:sp>
        <p:nvSpPr>
          <p:cNvPr id="12" name="Text 0"/>
          <p:cNvSpPr/>
          <p:nvPr/>
        </p:nvSpPr>
        <p:spPr>
          <a:xfrm>
            <a:off x="743585" y="6053455"/>
            <a:ext cx="43053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b="1" i="1" dirty="0">
                <a:solidFill>
                  <a:srgbClr val="7030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</a:t>
            </a:r>
            <a:r>
              <a:rPr lang="zh-CN" altLang="en-US" sz="3200" b="1" i="1" dirty="0">
                <a:solidFill>
                  <a:srgbClr val="7030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altLang="zh-CN" sz="3200" b="1" i="1" dirty="0">
                <a:solidFill>
                  <a:srgbClr val="7030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MaxKB</a:t>
            </a:r>
            <a:r>
              <a:rPr lang="zh-CN" altLang="en-US" sz="3200" b="1" i="1" dirty="0">
                <a:solidFill>
                  <a:srgbClr val="7030A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</a:t>
            </a:r>
            <a:endParaRPr lang="zh-CN" altLang="en-US" sz="3200" b="1" i="1" dirty="0">
              <a:solidFill>
                <a:srgbClr val="7030A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0050" y="381000"/>
            <a:ext cx="2028825" cy="304800"/>
          </a:xfrm>
          <a:custGeom>
            <a:avLst/>
            <a:gdLst/>
            <a:ahLst/>
            <a:cxnLst/>
            <a:rect l="l" t="t" r="r" b="b"/>
            <a:pathLst>
              <a:path w="2028825" h="304800">
                <a:moveTo>
                  <a:pt x="0" y="0"/>
                </a:moveTo>
                <a:lnTo>
                  <a:pt x="2028825" y="0"/>
                </a:lnTo>
                <a:lnTo>
                  <a:pt x="20288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0005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71500" y="433388"/>
            <a:ext cx="1779463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3335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400050" y="17907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0050" y="17907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57150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Text 8"/>
          <p:cNvSpPr/>
          <p:nvPr/>
        </p:nvSpPr>
        <p:spPr>
          <a:xfrm>
            <a:off x="701204" y="2076450"/>
            <a:ext cx="2952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1100" y="194310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1100" y="2247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行业痛点与需求分析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67450" y="17907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7450" y="17907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6" name="Shape 13"/>
          <p:cNvSpPr/>
          <p:nvPr/>
        </p:nvSpPr>
        <p:spPr>
          <a:xfrm>
            <a:off x="6438900" y="1981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7" name="Text 14"/>
          <p:cNvSpPr/>
          <p:nvPr/>
        </p:nvSpPr>
        <p:spPr>
          <a:xfrm>
            <a:off x="6551340" y="2076450"/>
            <a:ext cx="32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8500" y="194310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48500" y="22479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解决价值与核心优势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30099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00050" y="3009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2" name="Shape 19"/>
          <p:cNvSpPr/>
          <p:nvPr/>
        </p:nvSpPr>
        <p:spPr>
          <a:xfrm>
            <a:off x="571500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3" name="Text 20"/>
          <p:cNvSpPr/>
          <p:nvPr/>
        </p:nvSpPr>
        <p:spPr>
          <a:xfrm>
            <a:off x="683121" y="3295650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81100" y="316230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81100" y="34671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五层架构与核心技术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67450" y="30099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67450" y="3009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8" name="Shape 25"/>
          <p:cNvSpPr/>
          <p:nvPr/>
        </p:nvSpPr>
        <p:spPr>
          <a:xfrm>
            <a:off x="6438900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9" name="Text 26"/>
          <p:cNvSpPr/>
          <p:nvPr/>
        </p:nvSpPr>
        <p:spPr>
          <a:xfrm>
            <a:off x="6550596" y="3295650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48500" y="316230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048500" y="34671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智能问答与精准检索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00050" y="42291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00050" y="4229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4" name="Shape 31"/>
          <p:cNvSpPr/>
          <p:nvPr/>
        </p:nvSpPr>
        <p:spPr>
          <a:xfrm>
            <a:off x="5715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5" name="Text 32"/>
          <p:cNvSpPr/>
          <p:nvPr/>
        </p:nvSpPr>
        <p:spPr>
          <a:xfrm>
            <a:off x="684461" y="4514850"/>
            <a:ext cx="323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81100" y="4381500"/>
            <a:ext cx="1314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创新点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81100" y="46863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技术优势与差异化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267450" y="42291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267450" y="4229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0" name="Shape 37"/>
          <p:cNvSpPr/>
          <p:nvPr/>
        </p:nvSpPr>
        <p:spPr>
          <a:xfrm>
            <a:off x="6438900" y="4419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1" name="Text 38"/>
          <p:cNvSpPr/>
          <p:nvPr/>
        </p:nvSpPr>
        <p:spPr>
          <a:xfrm>
            <a:off x="6549703" y="4514850"/>
            <a:ext cx="333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048500" y="4381500"/>
            <a:ext cx="1466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048500" y="4686300"/>
            <a:ext cx="1447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落地案例与价值体现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00050" y="54483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00050" y="54483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6" name="Shape 43"/>
          <p:cNvSpPr/>
          <p:nvPr/>
        </p:nvSpPr>
        <p:spPr>
          <a:xfrm>
            <a:off x="571500" y="563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7" name="Text 44"/>
          <p:cNvSpPr/>
          <p:nvPr/>
        </p:nvSpPr>
        <p:spPr>
          <a:xfrm>
            <a:off x="690563" y="5734050"/>
            <a:ext cx="314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81100" y="5600700"/>
            <a:ext cx="1314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81100" y="590550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发展路径与商业化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0050" y="381000"/>
            <a:ext cx="2238375" cy="304800"/>
          </a:xfrm>
          <a:custGeom>
            <a:avLst/>
            <a:gdLst/>
            <a:ahLst/>
            <a:cxnLst/>
            <a:rect l="l" t="t" r="r" b="b"/>
            <a:pathLst>
              <a:path w="2238375" h="304800">
                <a:moveTo>
                  <a:pt x="0" y="0"/>
                </a:moveTo>
                <a:lnTo>
                  <a:pt x="2238375" y="0"/>
                </a:lnTo>
                <a:lnTo>
                  <a:pt x="22383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0005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71500" y="433705"/>
            <a:ext cx="22390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项目背景</a:t>
            </a:r>
            <a:r>
              <a:rPr lang="zh-CN" alt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行业痛点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400050" y="1485900"/>
            <a:ext cx="11410950" cy="2476500"/>
          </a:xfrm>
          <a:custGeom>
            <a:avLst/>
            <a:gdLst/>
            <a:ahLst/>
            <a:cxnLst/>
            <a:rect l="l" t="t" r="r" b="b"/>
            <a:pathLst>
              <a:path w="11410950" h="2476500">
                <a:moveTo>
                  <a:pt x="38100" y="0"/>
                </a:moveTo>
                <a:lnTo>
                  <a:pt x="11296660" y="0"/>
                </a:lnTo>
                <a:cubicBezTo>
                  <a:pt x="11359780" y="0"/>
                  <a:pt x="11410950" y="51170"/>
                  <a:pt x="11410950" y="114290"/>
                </a:cubicBezTo>
                <a:lnTo>
                  <a:pt x="11410950" y="2362210"/>
                </a:lnTo>
                <a:cubicBezTo>
                  <a:pt x="11410950" y="2425330"/>
                  <a:pt x="11359780" y="2476500"/>
                  <a:pt x="11296660" y="2476500"/>
                </a:cubicBez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0050" y="1485900"/>
            <a:ext cx="38100" cy="2476500"/>
          </a:xfrm>
          <a:custGeom>
            <a:avLst/>
            <a:gdLst/>
            <a:ahLst/>
            <a:cxnLst/>
            <a:rect l="l" t="t" r="r" b="b"/>
            <a:pathLst>
              <a:path w="38100" h="2476500">
                <a:moveTo>
                  <a:pt x="38100" y="0"/>
                </a:moveTo>
                <a:lnTo>
                  <a:pt x="38100" y="0"/>
                </a:lnTo>
                <a:lnTo>
                  <a:pt x="38100" y="2476500"/>
                </a:lnTo>
                <a:lnTo>
                  <a:pt x="38100" y="2476500"/>
                </a:lnTo>
                <a:cubicBezTo>
                  <a:pt x="17072" y="2476500"/>
                  <a:pt x="0" y="2459428"/>
                  <a:pt x="0" y="2438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647700" y="1714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800100" y="1866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Text 9"/>
          <p:cNvSpPr/>
          <p:nvPr/>
        </p:nvSpPr>
        <p:spPr>
          <a:xfrm>
            <a:off x="1371600" y="1714500"/>
            <a:ext cx="1032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痛点1: 知识分散,检索效率低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71600" y="2171700"/>
            <a:ext cx="3305175" cy="1562100"/>
          </a:xfrm>
          <a:custGeom>
            <a:avLst/>
            <a:gdLst/>
            <a:ahLst/>
            <a:cxnLst/>
            <a:rect l="l" t="t" r="r" b="b"/>
            <a:pathLst>
              <a:path w="3305175" h="15621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1485901"/>
                </a:lnTo>
                <a:cubicBezTo>
                  <a:pt x="3305175" y="1527984"/>
                  <a:pt x="3271059" y="1562100"/>
                  <a:pt x="32289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4" name="Shape 11"/>
          <p:cNvSpPr/>
          <p:nvPr/>
        </p:nvSpPr>
        <p:spPr>
          <a:xfrm>
            <a:off x="152400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5" name="Text 12"/>
          <p:cNvSpPr/>
          <p:nvPr/>
        </p:nvSpPr>
        <p:spPr>
          <a:xfrm>
            <a:off x="1676400" y="2324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24000" y="2628900"/>
            <a:ext cx="30765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技术问题答案分散在文档、历史问答、Issue、社群聊天中,用户需要在多个平台间频繁切换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25975" y="2171700"/>
            <a:ext cx="3305175" cy="1562100"/>
          </a:xfrm>
          <a:custGeom>
            <a:avLst/>
            <a:gdLst/>
            <a:ahLst/>
            <a:cxnLst/>
            <a:rect l="l" t="t" r="r" b="b"/>
            <a:pathLst>
              <a:path w="3305175" h="15621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1485901"/>
                </a:lnTo>
                <a:cubicBezTo>
                  <a:pt x="3305175" y="1527984"/>
                  <a:pt x="3271059" y="1562100"/>
                  <a:pt x="32289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8" name="Shape 15"/>
          <p:cNvSpPr/>
          <p:nvPr/>
        </p:nvSpPr>
        <p:spPr>
          <a:xfrm>
            <a:off x="4978375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9" name="Text 16"/>
          <p:cNvSpPr/>
          <p:nvPr/>
        </p:nvSpPr>
        <p:spPr>
          <a:xfrm>
            <a:off x="5130775" y="2324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78375" y="2628900"/>
            <a:ext cx="314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223197" y="2719388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个平台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78375" y="300990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05512" y="3100388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分钟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78375" y="3390900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平均解决问题耗时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80350" y="2171700"/>
            <a:ext cx="3305175" cy="1562100"/>
          </a:xfrm>
          <a:custGeom>
            <a:avLst/>
            <a:gdLst/>
            <a:ahLst/>
            <a:cxnLst/>
            <a:rect l="l" t="t" r="r" b="b"/>
            <a:pathLst>
              <a:path w="3305175" h="15621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1485901"/>
                </a:lnTo>
                <a:cubicBezTo>
                  <a:pt x="3305175" y="1527984"/>
                  <a:pt x="3271059" y="1562100"/>
                  <a:pt x="32289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6" name="Shape 23"/>
          <p:cNvSpPr/>
          <p:nvPr/>
        </p:nvSpPr>
        <p:spPr>
          <a:xfrm>
            <a:off x="843275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7" name="Text 24"/>
          <p:cNvSpPr/>
          <p:nvPr/>
        </p:nvSpPr>
        <p:spPr>
          <a:xfrm>
            <a:off x="8585150" y="2324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32750" y="2628900"/>
            <a:ext cx="30765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新手查询"项目部署步骤",需同时翻阅README、论坛帖、视频教程,信息碎片化严重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00050" y="4152900"/>
            <a:ext cx="11410950" cy="2286000"/>
          </a:xfrm>
          <a:custGeom>
            <a:avLst/>
            <a:gdLst/>
            <a:ahLst/>
            <a:cxnLst/>
            <a:rect l="l" t="t" r="r" b="b"/>
            <a:pathLst>
              <a:path w="11410950" h="22860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2171700"/>
                </a:lnTo>
                <a:cubicBezTo>
                  <a:pt x="11410950" y="2234784"/>
                  <a:pt x="11359734" y="2286000"/>
                  <a:pt x="11296650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00050" y="4152900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1" name="Shape 28"/>
          <p:cNvSpPr/>
          <p:nvPr/>
        </p:nvSpPr>
        <p:spPr>
          <a:xfrm>
            <a:off x="647700" y="4381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800100" y="4533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3" name="Text 30"/>
          <p:cNvSpPr/>
          <p:nvPr/>
        </p:nvSpPr>
        <p:spPr>
          <a:xfrm>
            <a:off x="1371600" y="4381500"/>
            <a:ext cx="1032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痛点2: 重复答疑,人工成本高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371600" y="4838700"/>
            <a:ext cx="3305175" cy="1371600"/>
          </a:xfrm>
          <a:custGeom>
            <a:avLst/>
            <a:gdLst/>
            <a:ahLst/>
            <a:cxnLst/>
            <a:rect l="l" t="t" r="r" b="b"/>
            <a:pathLst>
              <a:path w="3305175" h="1371600">
                <a:moveTo>
                  <a:pt x="76206" y="0"/>
                </a:moveTo>
                <a:lnTo>
                  <a:pt x="3228969" y="0"/>
                </a:lnTo>
                <a:cubicBezTo>
                  <a:pt x="3271056" y="0"/>
                  <a:pt x="3305175" y="34119"/>
                  <a:pt x="3305175" y="76206"/>
                </a:cubicBezTo>
                <a:lnTo>
                  <a:pt x="3305175" y="1295394"/>
                </a:lnTo>
                <a:cubicBezTo>
                  <a:pt x="3305175" y="1337481"/>
                  <a:pt x="3271056" y="1371600"/>
                  <a:pt x="3228969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5" name="Shape 32"/>
          <p:cNvSpPr/>
          <p:nvPr/>
        </p:nvSpPr>
        <p:spPr>
          <a:xfrm>
            <a:off x="152400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6" name="Text 33"/>
          <p:cNvSpPr/>
          <p:nvPr/>
        </p:nvSpPr>
        <p:spPr>
          <a:xfrm>
            <a:off x="1676400" y="4991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现状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524000" y="5295900"/>
            <a:ext cx="3076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社区维护者</a:t>
            </a:r>
            <a:r>
              <a:rPr lang="en-US" sz="1200" dirty="0">
                <a:solidFill>
                  <a:srgbClr val="0A2540"/>
                </a:solidFill>
                <a:highlight>
                  <a:srgbClr val="5A7184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70%精力 </a:t>
            </a: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用于回复重复问题(如端口冲突、依赖缺失)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825975" y="4838700"/>
            <a:ext cx="3305175" cy="1371600"/>
          </a:xfrm>
          <a:custGeom>
            <a:avLst/>
            <a:gdLst/>
            <a:ahLst/>
            <a:cxnLst/>
            <a:rect l="l" t="t" r="r" b="b"/>
            <a:pathLst>
              <a:path w="3305175" h="1371600">
                <a:moveTo>
                  <a:pt x="76206" y="0"/>
                </a:moveTo>
                <a:lnTo>
                  <a:pt x="3228969" y="0"/>
                </a:lnTo>
                <a:cubicBezTo>
                  <a:pt x="3271056" y="0"/>
                  <a:pt x="3305175" y="34119"/>
                  <a:pt x="3305175" y="76206"/>
                </a:cubicBezTo>
                <a:lnTo>
                  <a:pt x="3305175" y="1295394"/>
                </a:lnTo>
                <a:cubicBezTo>
                  <a:pt x="3305175" y="1337481"/>
                  <a:pt x="3271056" y="1371600"/>
                  <a:pt x="3228969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9" name="Shape 36"/>
          <p:cNvSpPr/>
          <p:nvPr/>
        </p:nvSpPr>
        <p:spPr>
          <a:xfrm>
            <a:off x="4978375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0" name="Text 37"/>
          <p:cNvSpPr/>
          <p:nvPr/>
        </p:nvSpPr>
        <p:spPr>
          <a:xfrm>
            <a:off x="5130775" y="4991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978375" y="5295900"/>
            <a:ext cx="7048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A71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45%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614095" y="5386388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重复问题占比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978375" y="5715000"/>
            <a:ext cx="8858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A71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10万+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795293" y="5805488"/>
            <a:ext cx="895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年成本/社区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80350" y="4838700"/>
            <a:ext cx="3305175" cy="1371600"/>
          </a:xfrm>
          <a:custGeom>
            <a:avLst/>
            <a:gdLst/>
            <a:ahLst/>
            <a:cxnLst/>
            <a:rect l="l" t="t" r="r" b="b"/>
            <a:pathLst>
              <a:path w="3305175" h="1371600">
                <a:moveTo>
                  <a:pt x="76206" y="0"/>
                </a:moveTo>
                <a:lnTo>
                  <a:pt x="3228969" y="0"/>
                </a:lnTo>
                <a:cubicBezTo>
                  <a:pt x="3271056" y="0"/>
                  <a:pt x="3305175" y="34119"/>
                  <a:pt x="3305175" y="76206"/>
                </a:cubicBezTo>
                <a:lnTo>
                  <a:pt x="3305175" y="1295394"/>
                </a:lnTo>
                <a:cubicBezTo>
                  <a:pt x="3305175" y="1337481"/>
                  <a:pt x="3271056" y="1371600"/>
                  <a:pt x="3228969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6" name="Shape 43"/>
          <p:cNvSpPr/>
          <p:nvPr/>
        </p:nvSpPr>
        <p:spPr>
          <a:xfrm>
            <a:off x="8432750" y="5200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7" name="Text 44"/>
          <p:cNvSpPr/>
          <p:nvPr/>
        </p:nvSpPr>
        <p:spPr>
          <a:xfrm>
            <a:off x="8585150" y="51244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432750" y="5429250"/>
            <a:ext cx="3076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大量人力成本浪费在重复性工作上,阻碍核心功能开发与社区生态发展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0050" y="381000"/>
            <a:ext cx="2238375" cy="304800"/>
          </a:xfrm>
          <a:custGeom>
            <a:avLst/>
            <a:gdLst/>
            <a:ahLst/>
            <a:cxnLst/>
            <a:rect l="l" t="t" r="r" b="b"/>
            <a:pathLst>
              <a:path w="2238375" h="304800">
                <a:moveTo>
                  <a:pt x="0" y="0"/>
                </a:moveTo>
                <a:lnTo>
                  <a:pt x="2238375" y="0"/>
                </a:lnTo>
                <a:lnTo>
                  <a:pt x="22383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0005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71500" y="433705"/>
            <a:ext cx="2448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项目背景</a:t>
            </a:r>
            <a:r>
              <a:rPr lang="zh-CN" alt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行业痛点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400050" y="1485900"/>
            <a:ext cx="11410950" cy="2552700"/>
          </a:xfrm>
          <a:custGeom>
            <a:avLst/>
            <a:gdLst/>
            <a:ahLst/>
            <a:cxnLst/>
            <a:rect l="l" t="t" r="r" b="b"/>
            <a:pathLst>
              <a:path w="11410950" h="2552700">
                <a:moveTo>
                  <a:pt x="38100" y="0"/>
                </a:moveTo>
                <a:lnTo>
                  <a:pt x="11296640" y="0"/>
                </a:lnTo>
                <a:cubicBezTo>
                  <a:pt x="11359772" y="0"/>
                  <a:pt x="11410950" y="51178"/>
                  <a:pt x="11410950" y="114310"/>
                </a:cubicBezTo>
                <a:lnTo>
                  <a:pt x="11410950" y="2438390"/>
                </a:lnTo>
                <a:cubicBezTo>
                  <a:pt x="11410950" y="2501522"/>
                  <a:pt x="11359772" y="2552700"/>
                  <a:pt x="11296640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0050" y="14859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647700" y="1714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800100" y="1866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Text 9"/>
          <p:cNvSpPr/>
          <p:nvPr/>
        </p:nvSpPr>
        <p:spPr>
          <a:xfrm>
            <a:off x="1371600" y="1714500"/>
            <a:ext cx="1032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痛点3: 检索精度不足,答非所问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71600" y="2171700"/>
            <a:ext cx="3305175" cy="1638300"/>
          </a:xfrm>
          <a:custGeom>
            <a:avLst/>
            <a:gdLst/>
            <a:ahLst/>
            <a:cxnLst/>
            <a:rect l="l" t="t" r="r" b="b"/>
            <a:pathLst>
              <a:path w="3305175" h="1638300">
                <a:moveTo>
                  <a:pt x="76197" y="0"/>
                </a:moveTo>
                <a:lnTo>
                  <a:pt x="3228978" y="0"/>
                </a:lnTo>
                <a:cubicBezTo>
                  <a:pt x="3271060" y="0"/>
                  <a:pt x="3305175" y="34115"/>
                  <a:pt x="3305175" y="76197"/>
                </a:cubicBezTo>
                <a:lnTo>
                  <a:pt x="3305175" y="1562103"/>
                </a:lnTo>
                <a:cubicBezTo>
                  <a:pt x="3305175" y="1604185"/>
                  <a:pt x="3271060" y="1638300"/>
                  <a:pt x="322897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4" name="Shape 11"/>
          <p:cNvSpPr/>
          <p:nvPr/>
        </p:nvSpPr>
        <p:spPr>
          <a:xfrm>
            <a:off x="152400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5" name="Text 12"/>
          <p:cNvSpPr/>
          <p:nvPr/>
        </p:nvSpPr>
        <p:spPr>
          <a:xfrm>
            <a:off x="1676400" y="2324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24000" y="2628900"/>
            <a:ext cx="3076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传统关键词检索</a:t>
            </a:r>
            <a:r>
              <a:rPr lang="en-US" sz="1200" dirty="0">
                <a:solidFill>
                  <a:srgbClr val="0A2540"/>
                </a:solidFill>
                <a:highlight>
                  <a:srgbClr val="00E5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无法理解语义关联 </a:t>
            </a: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(如"启动失败"与"端口占用"是相关的问题)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25975" y="2171700"/>
            <a:ext cx="3305175" cy="1638300"/>
          </a:xfrm>
          <a:custGeom>
            <a:avLst/>
            <a:gdLst/>
            <a:ahLst/>
            <a:cxnLst/>
            <a:rect l="l" t="t" r="r" b="b"/>
            <a:pathLst>
              <a:path w="3305175" h="1638300">
                <a:moveTo>
                  <a:pt x="76197" y="0"/>
                </a:moveTo>
                <a:lnTo>
                  <a:pt x="3228978" y="0"/>
                </a:lnTo>
                <a:cubicBezTo>
                  <a:pt x="3271060" y="0"/>
                  <a:pt x="3305175" y="34115"/>
                  <a:pt x="3305175" y="76197"/>
                </a:cubicBezTo>
                <a:lnTo>
                  <a:pt x="3305175" y="1562103"/>
                </a:lnTo>
                <a:cubicBezTo>
                  <a:pt x="3305175" y="1604185"/>
                  <a:pt x="3271060" y="1638300"/>
                  <a:pt x="322897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8" name="Shape 15"/>
          <p:cNvSpPr/>
          <p:nvPr/>
        </p:nvSpPr>
        <p:spPr>
          <a:xfrm>
            <a:off x="4978375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9" name="Text 16"/>
          <p:cNvSpPr/>
          <p:nvPr/>
        </p:nvSpPr>
        <p:spPr>
          <a:xfrm>
            <a:off x="5130775" y="23241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78375" y="2628900"/>
            <a:ext cx="7239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631805" y="2719388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答非所问率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978375" y="3048000"/>
            <a:ext cx="7239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632103" y="31384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复杂问题解决率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978375" y="3467100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常规问答工具表现不佳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80350" y="2171700"/>
            <a:ext cx="3305175" cy="1638300"/>
          </a:xfrm>
          <a:custGeom>
            <a:avLst/>
            <a:gdLst/>
            <a:ahLst/>
            <a:cxnLst/>
            <a:rect l="l" t="t" r="r" b="b"/>
            <a:pathLst>
              <a:path w="3305175" h="1638300">
                <a:moveTo>
                  <a:pt x="76197" y="0"/>
                </a:moveTo>
                <a:lnTo>
                  <a:pt x="3228978" y="0"/>
                </a:lnTo>
                <a:cubicBezTo>
                  <a:pt x="3271060" y="0"/>
                  <a:pt x="3305175" y="34115"/>
                  <a:pt x="3305175" y="76197"/>
                </a:cubicBezTo>
                <a:lnTo>
                  <a:pt x="3305175" y="1562103"/>
                </a:lnTo>
                <a:cubicBezTo>
                  <a:pt x="3305175" y="1604185"/>
                  <a:pt x="3271060" y="1638300"/>
                  <a:pt x="322897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6" name="Text 23"/>
          <p:cNvSpPr/>
          <p:nvPr/>
        </p:nvSpPr>
        <p:spPr>
          <a:xfrm>
            <a:off x="8432750" y="2743200"/>
            <a:ext cx="3076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用户需要反复澄清问题,体验差,问题解决周期长,降低社区活跃度与满意度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00050" y="4229100"/>
            <a:ext cx="11410950" cy="2133600"/>
          </a:xfrm>
          <a:custGeom>
            <a:avLst/>
            <a:gdLst/>
            <a:ahLst/>
            <a:cxnLst/>
            <a:rect l="l" t="t" r="r" b="b"/>
            <a:pathLst>
              <a:path w="11410950" h="2133600">
                <a:moveTo>
                  <a:pt x="38100" y="0"/>
                </a:moveTo>
                <a:lnTo>
                  <a:pt x="11296653" y="0"/>
                </a:lnTo>
                <a:cubicBezTo>
                  <a:pt x="11359778" y="0"/>
                  <a:pt x="11410950" y="51172"/>
                  <a:pt x="11410950" y="114297"/>
                </a:cubicBezTo>
                <a:lnTo>
                  <a:pt x="11410950" y="2019303"/>
                </a:lnTo>
                <a:cubicBezTo>
                  <a:pt x="11410950" y="2082428"/>
                  <a:pt x="11359778" y="2133600"/>
                  <a:pt x="11296653" y="2133600"/>
                </a:cubicBez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00050" y="4229100"/>
            <a:ext cx="38100" cy="2133600"/>
          </a:xfrm>
          <a:custGeom>
            <a:avLst/>
            <a:gdLst/>
            <a:ahLst/>
            <a:cxnLst/>
            <a:rect l="l" t="t" r="r" b="b"/>
            <a:pathLst>
              <a:path w="38100" h="2133600">
                <a:moveTo>
                  <a:pt x="38100" y="0"/>
                </a:moveTo>
                <a:lnTo>
                  <a:pt x="38100" y="0"/>
                </a:lnTo>
                <a:lnTo>
                  <a:pt x="38100" y="2133600"/>
                </a:ln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9" name="Shape 26"/>
          <p:cNvSpPr/>
          <p:nvPr/>
        </p:nvSpPr>
        <p:spPr>
          <a:xfrm>
            <a:off x="64770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800100" y="461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1" name="Text 28"/>
          <p:cNvSpPr/>
          <p:nvPr/>
        </p:nvSpPr>
        <p:spPr>
          <a:xfrm>
            <a:off x="1371600" y="4457700"/>
            <a:ext cx="1032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痛点4: 知识更新滞后,时效性差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371600" y="4914900"/>
            <a:ext cx="3305175" cy="1219200"/>
          </a:xfrm>
          <a:custGeom>
            <a:avLst/>
            <a:gdLst/>
            <a:ahLst/>
            <a:cxnLst/>
            <a:rect l="l" t="t" r="r" b="b"/>
            <a:pathLst>
              <a:path w="3305175" h="12192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1143000"/>
                </a:lnTo>
                <a:cubicBezTo>
                  <a:pt x="3305175" y="1185056"/>
                  <a:pt x="3271031" y="1219200"/>
                  <a:pt x="322897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3" name="Shape 30"/>
          <p:cNvSpPr/>
          <p:nvPr/>
        </p:nvSpPr>
        <p:spPr>
          <a:xfrm>
            <a:off x="1524000" y="5143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4" name="Text 31"/>
          <p:cNvSpPr/>
          <p:nvPr/>
        </p:nvSpPr>
        <p:spPr>
          <a:xfrm>
            <a:off x="1676400" y="50673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现状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524000" y="5372100"/>
            <a:ext cx="3076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项目版本迭代后,</a:t>
            </a:r>
            <a:r>
              <a:rPr lang="en-US" sz="1200" dirty="0">
                <a:solidFill>
                  <a:srgbClr val="0A2540"/>
                </a:solidFill>
                <a:highlight>
                  <a:srgbClr val="5A7184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旧文档未同步更新 </a:t>
            </a: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,用户获取过时解决方案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825975" y="4914900"/>
            <a:ext cx="3305175" cy="1219200"/>
          </a:xfrm>
          <a:custGeom>
            <a:avLst/>
            <a:gdLst/>
            <a:ahLst/>
            <a:cxnLst/>
            <a:rect l="l" t="t" r="r" b="b"/>
            <a:pathLst>
              <a:path w="3305175" h="12192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1143000"/>
                </a:lnTo>
                <a:cubicBezTo>
                  <a:pt x="3305175" y="1185056"/>
                  <a:pt x="3271031" y="1219200"/>
                  <a:pt x="322897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7" name="Shape 34"/>
          <p:cNvSpPr/>
          <p:nvPr/>
        </p:nvSpPr>
        <p:spPr>
          <a:xfrm>
            <a:off x="4978375" y="5143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8" name="Text 35"/>
          <p:cNvSpPr/>
          <p:nvPr/>
        </p:nvSpPr>
        <p:spPr>
          <a:xfrm>
            <a:off x="5130775" y="506730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978375" y="5372100"/>
            <a:ext cx="7143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A71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622652" y="5462588"/>
            <a:ext cx="990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项目故障概率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978375" y="5791200"/>
            <a:ext cx="30670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因使用旧方案导致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280350" y="4914900"/>
            <a:ext cx="3305175" cy="1219200"/>
          </a:xfrm>
          <a:custGeom>
            <a:avLst/>
            <a:gdLst/>
            <a:ahLst/>
            <a:cxnLst/>
            <a:rect l="l" t="t" r="r" b="b"/>
            <a:pathLst>
              <a:path w="3305175" h="1219200">
                <a:moveTo>
                  <a:pt x="76200" y="0"/>
                </a:moveTo>
                <a:lnTo>
                  <a:pt x="3228975" y="0"/>
                </a:lnTo>
                <a:cubicBezTo>
                  <a:pt x="3271031" y="0"/>
                  <a:pt x="3305175" y="34144"/>
                  <a:pt x="3305175" y="76200"/>
                </a:cubicBezTo>
                <a:lnTo>
                  <a:pt x="3305175" y="1143000"/>
                </a:lnTo>
                <a:cubicBezTo>
                  <a:pt x="3305175" y="1185056"/>
                  <a:pt x="3271031" y="1219200"/>
                  <a:pt x="322897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3" name="Text 40"/>
          <p:cNvSpPr/>
          <p:nvPr/>
        </p:nvSpPr>
        <p:spPr>
          <a:xfrm>
            <a:off x="8432750" y="5276850"/>
            <a:ext cx="30765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知识库与项目版本脱节,缺乏自动化同步机制,用户无法及时获取最新解决方案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0608" y="343437"/>
            <a:ext cx="2283854" cy="274749"/>
          </a:xfrm>
          <a:custGeom>
            <a:avLst/>
            <a:gdLst/>
            <a:ahLst/>
            <a:cxnLst/>
            <a:rect l="l" t="t" r="r" b="b"/>
            <a:pathLst>
              <a:path w="2283854" h="274749">
                <a:moveTo>
                  <a:pt x="0" y="0"/>
                </a:moveTo>
                <a:lnTo>
                  <a:pt x="2283854" y="0"/>
                </a:lnTo>
                <a:lnTo>
                  <a:pt x="2283854" y="274749"/>
                </a:lnTo>
                <a:lnTo>
                  <a:pt x="0" y="274749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60608" y="343437"/>
            <a:ext cx="34344" cy="274749"/>
          </a:xfrm>
          <a:custGeom>
            <a:avLst/>
            <a:gdLst/>
            <a:ahLst/>
            <a:cxnLst/>
            <a:rect l="l" t="t" r="r" b="b"/>
            <a:pathLst>
              <a:path w="34344" h="274749">
                <a:moveTo>
                  <a:pt x="0" y="0"/>
                </a:moveTo>
                <a:lnTo>
                  <a:pt x="34344" y="0"/>
                </a:lnTo>
                <a:lnTo>
                  <a:pt x="34344" y="274749"/>
                </a:lnTo>
                <a:lnTo>
                  <a:pt x="0" y="274749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14985" y="390525"/>
            <a:ext cx="265049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54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OBJECTIVES &amp; VALUE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3437" y="686873"/>
            <a:ext cx="11659673" cy="3434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核心目标与解决价值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3437" y="1098997"/>
            <a:ext cx="686873" cy="34344"/>
          </a:xfrm>
          <a:custGeom>
            <a:avLst/>
            <a:gdLst/>
            <a:ahLst/>
            <a:cxnLst/>
            <a:rect l="l" t="t" r="r" b="b"/>
            <a:pathLst>
              <a:path w="686873" h="34344">
                <a:moveTo>
                  <a:pt x="0" y="0"/>
                </a:moveTo>
                <a:lnTo>
                  <a:pt x="686873" y="0"/>
                </a:lnTo>
                <a:lnTo>
                  <a:pt x="686873" y="34344"/>
                </a:lnTo>
                <a:lnTo>
                  <a:pt x="0" y="34344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43437" y="1339403"/>
            <a:ext cx="11505127" cy="1313645"/>
          </a:xfrm>
          <a:custGeom>
            <a:avLst/>
            <a:gdLst/>
            <a:ahLst/>
            <a:cxnLst/>
            <a:rect l="l" t="t" r="r" b="b"/>
            <a:pathLst>
              <a:path w="11505127" h="1313645">
                <a:moveTo>
                  <a:pt x="103029" y="0"/>
                </a:moveTo>
                <a:lnTo>
                  <a:pt x="11402098" y="0"/>
                </a:lnTo>
                <a:cubicBezTo>
                  <a:pt x="11458999" y="0"/>
                  <a:pt x="11505127" y="46128"/>
                  <a:pt x="11505127" y="103029"/>
                </a:cubicBezTo>
                <a:lnTo>
                  <a:pt x="11505127" y="1210616"/>
                </a:lnTo>
                <a:cubicBezTo>
                  <a:pt x="11505127" y="1267517"/>
                  <a:pt x="11458999" y="1313645"/>
                  <a:pt x="11402098" y="1313645"/>
                </a:cubicBezTo>
                <a:lnTo>
                  <a:pt x="103029" y="1313645"/>
                </a:lnTo>
                <a:cubicBezTo>
                  <a:pt x="46128" y="1313645"/>
                  <a:pt x="0" y="1267517"/>
                  <a:pt x="0" y="1210616"/>
                </a:cubicBezTo>
                <a:lnTo>
                  <a:pt x="0" y="103029"/>
                </a:lnTo>
                <a:cubicBezTo>
                  <a:pt x="0" y="46128"/>
                  <a:pt x="46128" y="0"/>
                  <a:pt x="103029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28789" dist="858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9499" y="1545465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240406" y="0"/>
                </a:moveTo>
                <a:lnTo>
                  <a:pt x="240406" y="0"/>
                </a:lnTo>
                <a:cubicBezTo>
                  <a:pt x="373178" y="0"/>
                  <a:pt x="480811" y="107633"/>
                  <a:pt x="480811" y="240406"/>
                </a:cubicBezTo>
                <a:lnTo>
                  <a:pt x="480811" y="240406"/>
                </a:lnTo>
                <a:cubicBezTo>
                  <a:pt x="480811" y="373178"/>
                  <a:pt x="373178" y="480811"/>
                  <a:pt x="240406" y="480811"/>
                </a:cubicBezTo>
                <a:lnTo>
                  <a:pt x="240406" y="480811"/>
                </a:lnTo>
                <a:cubicBezTo>
                  <a:pt x="107633" y="480811"/>
                  <a:pt x="0" y="373178"/>
                  <a:pt x="0" y="240406"/>
                </a:cubicBezTo>
                <a:lnTo>
                  <a:pt x="0" y="240406"/>
                </a:lnTo>
                <a:cubicBezTo>
                  <a:pt x="0" y="107633"/>
                  <a:pt x="107633" y="0"/>
                  <a:pt x="240406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686873" y="1682839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180304" y="103031"/>
                </a:moveTo>
                <a:cubicBezTo>
                  <a:pt x="180304" y="60383"/>
                  <a:pt x="145679" y="25758"/>
                  <a:pt x="103031" y="25758"/>
                </a:cubicBezTo>
                <a:cubicBezTo>
                  <a:pt x="60383" y="25758"/>
                  <a:pt x="25758" y="60383"/>
                  <a:pt x="25758" y="103031"/>
                </a:cubicBezTo>
                <a:cubicBezTo>
                  <a:pt x="25758" y="145679"/>
                  <a:pt x="60383" y="180304"/>
                  <a:pt x="103031" y="180304"/>
                </a:cubicBezTo>
                <a:cubicBezTo>
                  <a:pt x="145679" y="180304"/>
                  <a:pt x="180304" y="145679"/>
                  <a:pt x="180304" y="103031"/>
                </a:cubicBezTo>
                <a:close/>
                <a:moveTo>
                  <a:pt x="0" y="103031"/>
                </a:moveTo>
                <a:cubicBezTo>
                  <a:pt x="0" y="46167"/>
                  <a:pt x="46167" y="0"/>
                  <a:pt x="103031" y="0"/>
                </a:cubicBezTo>
                <a:cubicBezTo>
                  <a:pt x="159895" y="0"/>
                  <a:pt x="206062" y="46167"/>
                  <a:pt x="206062" y="103031"/>
                </a:cubicBezTo>
                <a:cubicBezTo>
                  <a:pt x="206062" y="159895"/>
                  <a:pt x="159895" y="206062"/>
                  <a:pt x="103031" y="206062"/>
                </a:cubicBezTo>
                <a:cubicBezTo>
                  <a:pt x="46167" y="206062"/>
                  <a:pt x="0" y="159895"/>
                  <a:pt x="0" y="103031"/>
                </a:cubicBezTo>
                <a:close/>
                <a:moveTo>
                  <a:pt x="103031" y="135228"/>
                </a:moveTo>
                <a:cubicBezTo>
                  <a:pt x="120801" y="135228"/>
                  <a:pt x="135228" y="120801"/>
                  <a:pt x="135228" y="103031"/>
                </a:cubicBezTo>
                <a:cubicBezTo>
                  <a:pt x="135228" y="85261"/>
                  <a:pt x="120801" y="70834"/>
                  <a:pt x="103031" y="70834"/>
                </a:cubicBezTo>
                <a:cubicBezTo>
                  <a:pt x="85261" y="70834"/>
                  <a:pt x="70834" y="85261"/>
                  <a:pt x="70834" y="103031"/>
                </a:cubicBezTo>
                <a:cubicBezTo>
                  <a:pt x="70834" y="120801"/>
                  <a:pt x="85261" y="135228"/>
                  <a:pt x="103031" y="135228"/>
                </a:cubicBezTo>
                <a:close/>
                <a:moveTo>
                  <a:pt x="103031" y="45076"/>
                </a:moveTo>
                <a:cubicBezTo>
                  <a:pt x="135017" y="45076"/>
                  <a:pt x="160986" y="71045"/>
                  <a:pt x="160986" y="103031"/>
                </a:cubicBezTo>
                <a:cubicBezTo>
                  <a:pt x="160986" y="135017"/>
                  <a:pt x="135017" y="160986"/>
                  <a:pt x="103031" y="160986"/>
                </a:cubicBezTo>
                <a:cubicBezTo>
                  <a:pt x="71045" y="160986"/>
                  <a:pt x="45076" y="135017"/>
                  <a:pt x="45076" y="103031"/>
                </a:cubicBezTo>
                <a:cubicBezTo>
                  <a:pt x="45076" y="71045"/>
                  <a:pt x="71045" y="45076"/>
                  <a:pt x="103031" y="45076"/>
                </a:cubicBezTo>
                <a:close/>
                <a:moveTo>
                  <a:pt x="90152" y="103031"/>
                </a:moveTo>
                <a:cubicBezTo>
                  <a:pt x="90152" y="95923"/>
                  <a:pt x="95923" y="90152"/>
                  <a:pt x="103031" y="90152"/>
                </a:cubicBezTo>
                <a:cubicBezTo>
                  <a:pt x="110139" y="90152"/>
                  <a:pt x="115910" y="95923"/>
                  <a:pt x="115910" y="103031"/>
                </a:cubicBezTo>
                <a:cubicBezTo>
                  <a:pt x="115910" y="110139"/>
                  <a:pt x="110139" y="115910"/>
                  <a:pt x="103031" y="115910"/>
                </a:cubicBezTo>
                <a:cubicBezTo>
                  <a:pt x="95923" y="115910"/>
                  <a:pt x="90152" y="110139"/>
                  <a:pt x="90152" y="103031"/>
                </a:cubicBezTo>
                <a:close/>
              </a:path>
            </a:pathLst>
          </a:custGeom>
          <a:solidFill>
            <a:srgbClr val="0A2540"/>
          </a:solidFill>
        </p:spPr>
      </p:sp>
      <p:sp>
        <p:nvSpPr>
          <p:cNvPr id="11" name="Text 8"/>
          <p:cNvSpPr/>
          <p:nvPr/>
        </p:nvSpPr>
        <p:spPr>
          <a:xfrm>
            <a:off x="1167685" y="1631324"/>
            <a:ext cx="1159099" cy="3090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9499" y="2163651"/>
            <a:ext cx="11178862" cy="283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打造</a:t>
            </a:r>
            <a:r>
              <a:rPr lang="en-US" sz="135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"精准检索 + 智能生成 + 持续优化"</a:t>
            </a: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的全流程智能答疑Agent,破解技术问答行业痛点,构建高效、精准、可持续演进的技术知识服务体系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3437" y="2837645"/>
            <a:ext cx="5683876" cy="1511121"/>
          </a:xfrm>
          <a:custGeom>
            <a:avLst/>
            <a:gdLst/>
            <a:ahLst/>
            <a:cxnLst/>
            <a:rect l="l" t="t" r="r" b="b"/>
            <a:pathLst>
              <a:path w="5683876" h="1511121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1408093"/>
                </a:lnTo>
                <a:cubicBezTo>
                  <a:pt x="5683876" y="1464994"/>
                  <a:pt x="5637749" y="1511121"/>
                  <a:pt x="5580848" y="1511121"/>
                </a:cubicBezTo>
                <a:lnTo>
                  <a:pt x="103028" y="1511121"/>
                </a:lnTo>
                <a:cubicBezTo>
                  <a:pt x="46127" y="1511121"/>
                  <a:pt x="0" y="1464994"/>
                  <a:pt x="0" y="1408093"/>
                </a:cubicBezTo>
                <a:lnTo>
                  <a:pt x="0" y="34344"/>
                </a:lnTo>
                <a:cubicBezTo>
                  <a:pt x="0" y="15389"/>
                  <a:pt x="15389" y="0"/>
                  <a:pt x="3434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8789" dist="858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3437" y="2837645"/>
            <a:ext cx="5683876" cy="34344"/>
          </a:xfrm>
          <a:custGeom>
            <a:avLst/>
            <a:gdLst/>
            <a:ahLst/>
            <a:cxnLst/>
            <a:rect l="l" t="t" r="r" b="b"/>
            <a:pathLst>
              <a:path w="5683876" h="34344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34344"/>
                </a:lnTo>
                <a:lnTo>
                  <a:pt x="0" y="34344"/>
                </a:ln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5" name="Shape 12"/>
          <p:cNvSpPr/>
          <p:nvPr/>
        </p:nvSpPr>
        <p:spPr>
          <a:xfrm>
            <a:off x="515155" y="3026535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206062" y="0"/>
                </a:moveTo>
                <a:lnTo>
                  <a:pt x="206062" y="0"/>
                </a:lnTo>
                <a:cubicBezTo>
                  <a:pt x="319791" y="0"/>
                  <a:pt x="412124" y="92333"/>
                  <a:pt x="412124" y="206062"/>
                </a:cubicBezTo>
                <a:lnTo>
                  <a:pt x="412124" y="206062"/>
                </a:lnTo>
                <a:cubicBezTo>
                  <a:pt x="412124" y="319791"/>
                  <a:pt x="319791" y="412124"/>
                  <a:pt x="206062" y="412124"/>
                </a:cubicBezTo>
                <a:lnTo>
                  <a:pt x="206062" y="412124"/>
                </a:lnTo>
                <a:cubicBezTo>
                  <a:pt x="92333" y="412124"/>
                  <a:pt x="0" y="319791"/>
                  <a:pt x="0" y="206062"/>
                </a:cubicBezTo>
                <a:lnTo>
                  <a:pt x="0" y="206062"/>
                </a:lnTo>
                <a:cubicBezTo>
                  <a:pt x="0" y="92333"/>
                  <a:pt x="92333" y="0"/>
                  <a:pt x="206062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635358" y="3146738"/>
            <a:ext cx="171718" cy="171718"/>
          </a:xfrm>
          <a:custGeom>
            <a:avLst/>
            <a:gdLst/>
            <a:ahLst/>
            <a:cxnLst/>
            <a:rect l="l" t="t" r="r" b="b"/>
            <a:pathLst>
              <a:path w="171718" h="171718">
                <a:moveTo>
                  <a:pt x="42930" y="107324"/>
                </a:moveTo>
                <a:lnTo>
                  <a:pt x="8217" y="107324"/>
                </a:lnTo>
                <a:cubicBezTo>
                  <a:pt x="-134" y="107324"/>
                  <a:pt x="-5266" y="98235"/>
                  <a:pt x="-973" y="91058"/>
                </a:cubicBezTo>
                <a:lnTo>
                  <a:pt x="16769" y="61476"/>
                </a:lnTo>
                <a:cubicBezTo>
                  <a:pt x="19687" y="56613"/>
                  <a:pt x="24919" y="53662"/>
                  <a:pt x="30587" y="53662"/>
                </a:cubicBezTo>
                <a:lnTo>
                  <a:pt x="62449" y="53662"/>
                </a:lnTo>
                <a:cubicBezTo>
                  <a:pt x="87972" y="10431"/>
                  <a:pt x="126039" y="8251"/>
                  <a:pt x="151494" y="11973"/>
                </a:cubicBezTo>
                <a:cubicBezTo>
                  <a:pt x="155787" y="12611"/>
                  <a:pt x="159141" y="15964"/>
                  <a:pt x="159745" y="20224"/>
                </a:cubicBezTo>
                <a:cubicBezTo>
                  <a:pt x="163468" y="45680"/>
                  <a:pt x="161288" y="83746"/>
                  <a:pt x="118056" y="109269"/>
                </a:cubicBezTo>
                <a:lnTo>
                  <a:pt x="118056" y="141131"/>
                </a:lnTo>
                <a:cubicBezTo>
                  <a:pt x="118056" y="146799"/>
                  <a:pt x="115105" y="152031"/>
                  <a:pt x="110242" y="154949"/>
                </a:cubicBezTo>
                <a:lnTo>
                  <a:pt x="80661" y="172691"/>
                </a:lnTo>
                <a:cubicBezTo>
                  <a:pt x="73517" y="176984"/>
                  <a:pt x="64394" y="171819"/>
                  <a:pt x="64394" y="163501"/>
                </a:cubicBezTo>
                <a:lnTo>
                  <a:pt x="64394" y="128789"/>
                </a:lnTo>
                <a:cubicBezTo>
                  <a:pt x="64394" y="116950"/>
                  <a:pt x="54769" y="107324"/>
                  <a:pt x="42930" y="107324"/>
                </a:cubicBezTo>
                <a:lnTo>
                  <a:pt x="42896" y="107324"/>
                </a:lnTo>
                <a:close/>
                <a:moveTo>
                  <a:pt x="134155" y="53662"/>
                </a:moveTo>
                <a:cubicBezTo>
                  <a:pt x="134155" y="44777"/>
                  <a:pt x="126941" y="37563"/>
                  <a:pt x="118056" y="37563"/>
                </a:cubicBezTo>
                <a:cubicBezTo>
                  <a:pt x="109171" y="37563"/>
                  <a:pt x="101958" y="44777"/>
                  <a:pt x="101958" y="53662"/>
                </a:cubicBezTo>
                <a:cubicBezTo>
                  <a:pt x="101958" y="62547"/>
                  <a:pt x="109171" y="69761"/>
                  <a:pt x="118056" y="69761"/>
                </a:cubicBezTo>
                <a:cubicBezTo>
                  <a:pt x="126941" y="69761"/>
                  <a:pt x="134155" y="62547"/>
                  <a:pt x="134155" y="53662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7" name="Text 14"/>
          <p:cNvSpPr/>
          <p:nvPr/>
        </p:nvSpPr>
        <p:spPr>
          <a:xfrm>
            <a:off x="1030310" y="3112394"/>
            <a:ext cx="772732" cy="240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5155" y="3541690"/>
            <a:ext cx="789904" cy="3434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5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15980" y="3653307"/>
            <a:ext cx="1167685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问题解决效率提升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5155" y="3953814"/>
            <a:ext cx="5409127" cy="2232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用户问题解决效率大幅提升,平均耗时从30分钟缩短至</a:t>
            </a: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5分钟内</a:t>
            </a: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,显著提升用户体验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66565" y="2837645"/>
            <a:ext cx="5683876" cy="1511121"/>
          </a:xfrm>
          <a:custGeom>
            <a:avLst/>
            <a:gdLst/>
            <a:ahLst/>
            <a:cxnLst/>
            <a:rect l="l" t="t" r="r" b="b"/>
            <a:pathLst>
              <a:path w="5683876" h="1511121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1408093"/>
                </a:lnTo>
                <a:cubicBezTo>
                  <a:pt x="5683876" y="1464994"/>
                  <a:pt x="5637749" y="1511121"/>
                  <a:pt x="5580848" y="1511121"/>
                </a:cubicBezTo>
                <a:lnTo>
                  <a:pt x="103028" y="1511121"/>
                </a:lnTo>
                <a:cubicBezTo>
                  <a:pt x="46127" y="1511121"/>
                  <a:pt x="0" y="1464994"/>
                  <a:pt x="0" y="1408093"/>
                </a:cubicBezTo>
                <a:lnTo>
                  <a:pt x="0" y="34344"/>
                </a:lnTo>
                <a:cubicBezTo>
                  <a:pt x="0" y="15389"/>
                  <a:pt x="15389" y="0"/>
                  <a:pt x="3434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8789" dist="858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66565" y="2837645"/>
            <a:ext cx="5683876" cy="34344"/>
          </a:xfrm>
          <a:custGeom>
            <a:avLst/>
            <a:gdLst/>
            <a:ahLst/>
            <a:cxnLst/>
            <a:rect l="l" t="t" r="r" b="b"/>
            <a:pathLst>
              <a:path w="5683876" h="34344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34344"/>
                </a:lnTo>
                <a:lnTo>
                  <a:pt x="0" y="34344"/>
                </a:ln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3" name="Shape 20"/>
          <p:cNvSpPr/>
          <p:nvPr/>
        </p:nvSpPr>
        <p:spPr>
          <a:xfrm>
            <a:off x="6338284" y="3026535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206062" y="0"/>
                </a:moveTo>
                <a:lnTo>
                  <a:pt x="206062" y="0"/>
                </a:lnTo>
                <a:cubicBezTo>
                  <a:pt x="319791" y="0"/>
                  <a:pt x="412124" y="92333"/>
                  <a:pt x="412124" y="206062"/>
                </a:cubicBezTo>
                <a:lnTo>
                  <a:pt x="412124" y="206062"/>
                </a:lnTo>
                <a:cubicBezTo>
                  <a:pt x="412124" y="319791"/>
                  <a:pt x="319791" y="412124"/>
                  <a:pt x="206062" y="412124"/>
                </a:cubicBezTo>
                <a:lnTo>
                  <a:pt x="206062" y="412124"/>
                </a:lnTo>
                <a:cubicBezTo>
                  <a:pt x="92333" y="412124"/>
                  <a:pt x="0" y="319791"/>
                  <a:pt x="0" y="206062"/>
                </a:cubicBezTo>
                <a:lnTo>
                  <a:pt x="0" y="206062"/>
                </a:lnTo>
                <a:cubicBezTo>
                  <a:pt x="0" y="92333"/>
                  <a:pt x="92333" y="0"/>
                  <a:pt x="206062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6458487" y="3146738"/>
            <a:ext cx="171718" cy="171718"/>
          </a:xfrm>
          <a:custGeom>
            <a:avLst/>
            <a:gdLst/>
            <a:ahLst/>
            <a:cxnLst/>
            <a:rect l="l" t="t" r="r" b="b"/>
            <a:pathLst>
              <a:path w="171718" h="171718">
                <a:moveTo>
                  <a:pt x="21465" y="21465"/>
                </a:moveTo>
                <a:cubicBezTo>
                  <a:pt x="21465" y="15528"/>
                  <a:pt x="16669" y="10732"/>
                  <a:pt x="10732" y="10732"/>
                </a:cubicBezTo>
                <a:cubicBezTo>
                  <a:pt x="4796" y="10732"/>
                  <a:pt x="0" y="15528"/>
                  <a:pt x="0" y="21465"/>
                </a:cubicBezTo>
                <a:lnTo>
                  <a:pt x="0" y="134155"/>
                </a:lnTo>
                <a:cubicBezTo>
                  <a:pt x="0" y="148979"/>
                  <a:pt x="12007" y="160986"/>
                  <a:pt x="26831" y="160986"/>
                </a:cubicBezTo>
                <a:lnTo>
                  <a:pt x="160986" y="160986"/>
                </a:lnTo>
                <a:cubicBezTo>
                  <a:pt x="166922" y="160986"/>
                  <a:pt x="171718" y="156190"/>
                  <a:pt x="171718" y="150254"/>
                </a:cubicBezTo>
                <a:cubicBezTo>
                  <a:pt x="171718" y="144317"/>
                  <a:pt x="166922" y="139521"/>
                  <a:pt x="160986" y="139521"/>
                </a:cubicBezTo>
                <a:lnTo>
                  <a:pt x="26831" y="139521"/>
                </a:lnTo>
                <a:cubicBezTo>
                  <a:pt x="23880" y="139521"/>
                  <a:pt x="21465" y="137106"/>
                  <a:pt x="21465" y="134155"/>
                </a:cubicBezTo>
                <a:lnTo>
                  <a:pt x="21465" y="21465"/>
                </a:lnTo>
                <a:close/>
                <a:moveTo>
                  <a:pt x="157833" y="50509"/>
                </a:moveTo>
                <a:cubicBezTo>
                  <a:pt x="162026" y="46317"/>
                  <a:pt x="162026" y="39509"/>
                  <a:pt x="157833" y="35316"/>
                </a:cubicBezTo>
                <a:cubicBezTo>
                  <a:pt x="153641" y="31124"/>
                  <a:pt x="146833" y="31124"/>
                  <a:pt x="142640" y="35316"/>
                </a:cubicBezTo>
                <a:lnTo>
                  <a:pt x="107324" y="70666"/>
                </a:lnTo>
                <a:lnTo>
                  <a:pt x="88073" y="51448"/>
                </a:lnTo>
                <a:cubicBezTo>
                  <a:pt x="83880" y="47256"/>
                  <a:pt x="77072" y="47256"/>
                  <a:pt x="72880" y="51448"/>
                </a:cubicBezTo>
                <a:lnTo>
                  <a:pt x="40682" y="83646"/>
                </a:lnTo>
                <a:cubicBezTo>
                  <a:pt x="36490" y="87838"/>
                  <a:pt x="36490" y="94646"/>
                  <a:pt x="40682" y="98839"/>
                </a:cubicBezTo>
                <a:cubicBezTo>
                  <a:pt x="44875" y="103031"/>
                  <a:pt x="51683" y="103031"/>
                  <a:pt x="55876" y="98839"/>
                </a:cubicBezTo>
                <a:lnTo>
                  <a:pt x="80493" y="74221"/>
                </a:lnTo>
                <a:lnTo>
                  <a:pt x="99744" y="93472"/>
                </a:lnTo>
                <a:cubicBezTo>
                  <a:pt x="103937" y="97665"/>
                  <a:pt x="110745" y="97665"/>
                  <a:pt x="114937" y="93472"/>
                </a:cubicBezTo>
                <a:lnTo>
                  <a:pt x="157867" y="50543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25" name="Text 22"/>
          <p:cNvSpPr/>
          <p:nvPr/>
        </p:nvSpPr>
        <p:spPr>
          <a:xfrm>
            <a:off x="6853439" y="3112394"/>
            <a:ext cx="772732" cy="240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成本降低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38284" y="3541690"/>
            <a:ext cx="781318" cy="3434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5" b="1" dirty="0">
                <a:solidFill>
                  <a:srgbClr val="5A718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034145" y="3653307"/>
            <a:ext cx="1167685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人工答疑成本降低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38284" y="3953814"/>
            <a:ext cx="5409127" cy="2232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社区人工答疑成本大幅降低,释放维护者核心开发精力,提升社区整体生产力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43437" y="4503313"/>
            <a:ext cx="5683876" cy="1511121"/>
          </a:xfrm>
          <a:custGeom>
            <a:avLst/>
            <a:gdLst/>
            <a:ahLst/>
            <a:cxnLst/>
            <a:rect l="l" t="t" r="r" b="b"/>
            <a:pathLst>
              <a:path w="5683876" h="1511121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1408093"/>
                </a:lnTo>
                <a:cubicBezTo>
                  <a:pt x="5683876" y="1464994"/>
                  <a:pt x="5637749" y="1511121"/>
                  <a:pt x="5580848" y="1511121"/>
                </a:cubicBezTo>
                <a:lnTo>
                  <a:pt x="103028" y="1511121"/>
                </a:lnTo>
                <a:cubicBezTo>
                  <a:pt x="46127" y="1511121"/>
                  <a:pt x="0" y="1464994"/>
                  <a:pt x="0" y="1408093"/>
                </a:cubicBezTo>
                <a:lnTo>
                  <a:pt x="0" y="34344"/>
                </a:lnTo>
                <a:cubicBezTo>
                  <a:pt x="0" y="15389"/>
                  <a:pt x="15389" y="0"/>
                  <a:pt x="3434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8789" dist="858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43437" y="4503313"/>
            <a:ext cx="5683876" cy="34344"/>
          </a:xfrm>
          <a:custGeom>
            <a:avLst/>
            <a:gdLst/>
            <a:ahLst/>
            <a:cxnLst/>
            <a:rect l="l" t="t" r="r" b="b"/>
            <a:pathLst>
              <a:path w="5683876" h="34344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34344"/>
                </a:lnTo>
                <a:lnTo>
                  <a:pt x="0" y="34344"/>
                </a:ln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1" name="Shape 28"/>
          <p:cNvSpPr/>
          <p:nvPr/>
        </p:nvSpPr>
        <p:spPr>
          <a:xfrm>
            <a:off x="515155" y="4692203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206062" y="0"/>
                </a:moveTo>
                <a:lnTo>
                  <a:pt x="206062" y="0"/>
                </a:lnTo>
                <a:cubicBezTo>
                  <a:pt x="319791" y="0"/>
                  <a:pt x="412124" y="92333"/>
                  <a:pt x="412124" y="206062"/>
                </a:cubicBezTo>
                <a:lnTo>
                  <a:pt x="412124" y="206062"/>
                </a:lnTo>
                <a:cubicBezTo>
                  <a:pt x="412124" y="319791"/>
                  <a:pt x="319791" y="412124"/>
                  <a:pt x="206062" y="412124"/>
                </a:cubicBezTo>
                <a:lnTo>
                  <a:pt x="206062" y="412124"/>
                </a:lnTo>
                <a:cubicBezTo>
                  <a:pt x="92333" y="412124"/>
                  <a:pt x="0" y="319791"/>
                  <a:pt x="0" y="206062"/>
                </a:cubicBezTo>
                <a:lnTo>
                  <a:pt x="0" y="206062"/>
                </a:lnTo>
                <a:cubicBezTo>
                  <a:pt x="0" y="92333"/>
                  <a:pt x="92333" y="0"/>
                  <a:pt x="206062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624625" y="4812406"/>
            <a:ext cx="193183" cy="171718"/>
          </a:xfrm>
          <a:custGeom>
            <a:avLst/>
            <a:gdLst/>
            <a:ahLst/>
            <a:cxnLst/>
            <a:rect l="l" t="t" r="r" b="b"/>
            <a:pathLst>
              <a:path w="193183" h="171718">
                <a:moveTo>
                  <a:pt x="103802" y="-6339"/>
                </a:moveTo>
                <a:cubicBezTo>
                  <a:pt x="102427" y="-9022"/>
                  <a:pt x="99644" y="-10732"/>
                  <a:pt x="96625" y="-10732"/>
                </a:cubicBezTo>
                <a:cubicBezTo>
                  <a:pt x="93607" y="-10732"/>
                  <a:pt x="90823" y="-9022"/>
                  <a:pt x="89448" y="-6339"/>
                </a:cubicBezTo>
                <a:lnTo>
                  <a:pt x="64763" y="42024"/>
                </a:lnTo>
                <a:lnTo>
                  <a:pt x="11135" y="50543"/>
                </a:lnTo>
                <a:cubicBezTo>
                  <a:pt x="8150" y="51012"/>
                  <a:pt x="5668" y="53125"/>
                  <a:pt x="4729" y="56010"/>
                </a:cubicBezTo>
                <a:cubicBezTo>
                  <a:pt x="3790" y="58894"/>
                  <a:pt x="4561" y="62047"/>
                  <a:pt x="6674" y="64193"/>
                </a:cubicBezTo>
                <a:lnTo>
                  <a:pt x="45043" y="102595"/>
                </a:lnTo>
                <a:lnTo>
                  <a:pt x="36591" y="156223"/>
                </a:lnTo>
                <a:cubicBezTo>
                  <a:pt x="36121" y="159208"/>
                  <a:pt x="37362" y="162227"/>
                  <a:pt x="39810" y="164004"/>
                </a:cubicBezTo>
                <a:cubicBezTo>
                  <a:pt x="42259" y="165782"/>
                  <a:pt x="45479" y="166050"/>
                  <a:pt x="48195" y="164675"/>
                </a:cubicBezTo>
                <a:lnTo>
                  <a:pt x="96625" y="140058"/>
                </a:lnTo>
                <a:lnTo>
                  <a:pt x="145021" y="164675"/>
                </a:lnTo>
                <a:cubicBezTo>
                  <a:pt x="147705" y="166050"/>
                  <a:pt x="150958" y="165782"/>
                  <a:pt x="153406" y="164004"/>
                </a:cubicBezTo>
                <a:cubicBezTo>
                  <a:pt x="155854" y="162227"/>
                  <a:pt x="157095" y="159242"/>
                  <a:pt x="156626" y="156223"/>
                </a:cubicBezTo>
                <a:lnTo>
                  <a:pt x="148141" y="102595"/>
                </a:lnTo>
                <a:lnTo>
                  <a:pt x="186509" y="64193"/>
                </a:lnTo>
                <a:cubicBezTo>
                  <a:pt x="188655" y="62047"/>
                  <a:pt x="189393" y="58894"/>
                  <a:pt x="188454" y="56010"/>
                </a:cubicBezTo>
                <a:cubicBezTo>
                  <a:pt x="187515" y="53125"/>
                  <a:pt x="185067" y="51012"/>
                  <a:pt x="182048" y="50543"/>
                </a:cubicBezTo>
                <a:lnTo>
                  <a:pt x="128453" y="42024"/>
                </a:lnTo>
                <a:lnTo>
                  <a:pt x="103802" y="-6339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33" name="Text 30"/>
          <p:cNvSpPr/>
          <p:nvPr/>
        </p:nvSpPr>
        <p:spPr>
          <a:xfrm>
            <a:off x="1030310" y="4778062"/>
            <a:ext cx="772732" cy="240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体验优化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5155" y="5207358"/>
            <a:ext cx="781318" cy="3434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5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11017" y="5318975"/>
            <a:ext cx="1167685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复杂问题匹配精度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5155" y="5619482"/>
            <a:ext cx="5409127" cy="2232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复杂问题匹配精度提升至90%,答非所问率降至</a:t>
            </a: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5%以下</a:t>
            </a: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,大幅提升问答质量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166565" y="4503313"/>
            <a:ext cx="5683876" cy="1511121"/>
          </a:xfrm>
          <a:custGeom>
            <a:avLst/>
            <a:gdLst/>
            <a:ahLst/>
            <a:cxnLst/>
            <a:rect l="l" t="t" r="r" b="b"/>
            <a:pathLst>
              <a:path w="5683876" h="1511121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1408093"/>
                </a:lnTo>
                <a:cubicBezTo>
                  <a:pt x="5683876" y="1464994"/>
                  <a:pt x="5637749" y="1511121"/>
                  <a:pt x="5580848" y="1511121"/>
                </a:cubicBezTo>
                <a:lnTo>
                  <a:pt x="103028" y="1511121"/>
                </a:lnTo>
                <a:cubicBezTo>
                  <a:pt x="46127" y="1511121"/>
                  <a:pt x="0" y="1464994"/>
                  <a:pt x="0" y="1408093"/>
                </a:cubicBezTo>
                <a:lnTo>
                  <a:pt x="0" y="34344"/>
                </a:lnTo>
                <a:cubicBezTo>
                  <a:pt x="0" y="15389"/>
                  <a:pt x="15389" y="0"/>
                  <a:pt x="3434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8789" dist="8585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166565" y="4503313"/>
            <a:ext cx="5683876" cy="34344"/>
          </a:xfrm>
          <a:custGeom>
            <a:avLst/>
            <a:gdLst/>
            <a:ahLst/>
            <a:cxnLst/>
            <a:rect l="l" t="t" r="r" b="b"/>
            <a:pathLst>
              <a:path w="5683876" h="34344">
                <a:moveTo>
                  <a:pt x="34344" y="0"/>
                </a:moveTo>
                <a:lnTo>
                  <a:pt x="5649532" y="0"/>
                </a:lnTo>
                <a:cubicBezTo>
                  <a:pt x="5668500" y="0"/>
                  <a:pt x="5683876" y="15376"/>
                  <a:pt x="5683876" y="34344"/>
                </a:cubicBezTo>
                <a:lnTo>
                  <a:pt x="5683876" y="34344"/>
                </a:lnTo>
                <a:lnTo>
                  <a:pt x="0" y="34344"/>
                </a:ln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9" name="Shape 36"/>
          <p:cNvSpPr/>
          <p:nvPr/>
        </p:nvSpPr>
        <p:spPr>
          <a:xfrm>
            <a:off x="6338284" y="4692203"/>
            <a:ext cx="412124" cy="412124"/>
          </a:xfrm>
          <a:custGeom>
            <a:avLst/>
            <a:gdLst/>
            <a:ahLst/>
            <a:cxnLst/>
            <a:rect l="l" t="t" r="r" b="b"/>
            <a:pathLst>
              <a:path w="412124" h="412124">
                <a:moveTo>
                  <a:pt x="206062" y="0"/>
                </a:moveTo>
                <a:lnTo>
                  <a:pt x="206062" y="0"/>
                </a:lnTo>
                <a:cubicBezTo>
                  <a:pt x="319791" y="0"/>
                  <a:pt x="412124" y="92333"/>
                  <a:pt x="412124" y="206062"/>
                </a:cubicBezTo>
                <a:lnTo>
                  <a:pt x="412124" y="206062"/>
                </a:lnTo>
                <a:cubicBezTo>
                  <a:pt x="412124" y="319791"/>
                  <a:pt x="319791" y="412124"/>
                  <a:pt x="206062" y="412124"/>
                </a:cubicBezTo>
                <a:lnTo>
                  <a:pt x="206062" y="412124"/>
                </a:lnTo>
                <a:cubicBezTo>
                  <a:pt x="92333" y="412124"/>
                  <a:pt x="0" y="319791"/>
                  <a:pt x="0" y="206062"/>
                </a:cubicBezTo>
                <a:lnTo>
                  <a:pt x="0" y="206062"/>
                </a:lnTo>
                <a:cubicBezTo>
                  <a:pt x="0" y="92333"/>
                  <a:pt x="92333" y="0"/>
                  <a:pt x="206062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40" name="Shape 37"/>
          <p:cNvSpPr/>
          <p:nvPr/>
        </p:nvSpPr>
        <p:spPr>
          <a:xfrm>
            <a:off x="6458487" y="4812406"/>
            <a:ext cx="171718" cy="171718"/>
          </a:xfrm>
          <a:custGeom>
            <a:avLst/>
            <a:gdLst/>
            <a:ahLst/>
            <a:cxnLst/>
            <a:rect l="l" t="t" r="r" b="b"/>
            <a:pathLst>
              <a:path w="171718" h="171718">
                <a:moveTo>
                  <a:pt x="51079" y="20123"/>
                </a:moveTo>
                <a:cubicBezTo>
                  <a:pt x="66574" y="-6708"/>
                  <a:pt x="105312" y="-6708"/>
                  <a:pt x="120807" y="20123"/>
                </a:cubicBezTo>
                <a:lnTo>
                  <a:pt x="133316" y="41789"/>
                </a:lnTo>
                <a:lnTo>
                  <a:pt x="142607" y="36423"/>
                </a:lnTo>
                <a:cubicBezTo>
                  <a:pt x="145424" y="34780"/>
                  <a:pt x="148946" y="35014"/>
                  <a:pt x="151528" y="36993"/>
                </a:cubicBezTo>
                <a:cubicBezTo>
                  <a:pt x="154110" y="38972"/>
                  <a:pt x="155251" y="42326"/>
                  <a:pt x="154412" y="45479"/>
                </a:cubicBezTo>
                <a:lnTo>
                  <a:pt x="146531" y="74791"/>
                </a:lnTo>
                <a:cubicBezTo>
                  <a:pt x="145390" y="79084"/>
                  <a:pt x="140963" y="81633"/>
                  <a:pt x="136670" y="80493"/>
                </a:cubicBezTo>
                <a:lnTo>
                  <a:pt x="107357" y="72645"/>
                </a:lnTo>
                <a:cubicBezTo>
                  <a:pt x="104205" y="71806"/>
                  <a:pt x="101891" y="69157"/>
                  <a:pt x="101455" y="65937"/>
                </a:cubicBezTo>
                <a:cubicBezTo>
                  <a:pt x="101019" y="62717"/>
                  <a:pt x="102595" y="59531"/>
                  <a:pt x="105412" y="57921"/>
                </a:cubicBezTo>
                <a:lnTo>
                  <a:pt x="114702" y="52555"/>
                </a:lnTo>
                <a:lnTo>
                  <a:pt x="102193" y="30889"/>
                </a:lnTo>
                <a:cubicBezTo>
                  <a:pt x="94948" y="18379"/>
                  <a:pt x="76904" y="18379"/>
                  <a:pt x="69660" y="30889"/>
                </a:cubicBezTo>
                <a:lnTo>
                  <a:pt x="67882" y="33941"/>
                </a:lnTo>
                <a:cubicBezTo>
                  <a:pt x="64931" y="39073"/>
                  <a:pt x="58357" y="40817"/>
                  <a:pt x="53226" y="37865"/>
                </a:cubicBezTo>
                <a:cubicBezTo>
                  <a:pt x="48095" y="34914"/>
                  <a:pt x="46351" y="28340"/>
                  <a:pt x="49302" y="23175"/>
                </a:cubicBezTo>
                <a:lnTo>
                  <a:pt x="51079" y="20123"/>
                </a:lnTo>
                <a:close/>
                <a:moveTo>
                  <a:pt x="150824" y="93607"/>
                </a:moveTo>
                <a:cubicBezTo>
                  <a:pt x="155955" y="90655"/>
                  <a:pt x="162529" y="92399"/>
                  <a:pt x="165480" y="97531"/>
                </a:cubicBezTo>
                <a:lnTo>
                  <a:pt x="167258" y="100583"/>
                </a:lnTo>
                <a:cubicBezTo>
                  <a:pt x="182753" y="127414"/>
                  <a:pt x="163401" y="160952"/>
                  <a:pt x="132411" y="160952"/>
                </a:cubicBezTo>
                <a:lnTo>
                  <a:pt x="107391" y="160952"/>
                </a:lnTo>
                <a:lnTo>
                  <a:pt x="107391" y="171685"/>
                </a:lnTo>
                <a:cubicBezTo>
                  <a:pt x="107391" y="174938"/>
                  <a:pt x="105446" y="177889"/>
                  <a:pt x="102427" y="179130"/>
                </a:cubicBezTo>
                <a:cubicBezTo>
                  <a:pt x="99409" y="180371"/>
                  <a:pt x="95954" y="179701"/>
                  <a:pt x="93640" y="177386"/>
                </a:cubicBezTo>
                <a:lnTo>
                  <a:pt x="72175" y="155922"/>
                </a:lnTo>
                <a:cubicBezTo>
                  <a:pt x="69023" y="152769"/>
                  <a:pt x="69023" y="147671"/>
                  <a:pt x="72175" y="144552"/>
                </a:cubicBezTo>
                <a:lnTo>
                  <a:pt x="93640" y="123087"/>
                </a:lnTo>
                <a:cubicBezTo>
                  <a:pt x="95954" y="120773"/>
                  <a:pt x="99409" y="120102"/>
                  <a:pt x="102427" y="121343"/>
                </a:cubicBezTo>
                <a:cubicBezTo>
                  <a:pt x="105446" y="122584"/>
                  <a:pt x="107391" y="125535"/>
                  <a:pt x="107391" y="128789"/>
                </a:cubicBezTo>
                <a:lnTo>
                  <a:pt x="107391" y="139521"/>
                </a:lnTo>
                <a:lnTo>
                  <a:pt x="132411" y="139521"/>
                </a:lnTo>
                <a:cubicBezTo>
                  <a:pt x="146866" y="139521"/>
                  <a:pt x="155922" y="123859"/>
                  <a:pt x="148677" y="111349"/>
                </a:cubicBezTo>
                <a:lnTo>
                  <a:pt x="146900" y="108297"/>
                </a:lnTo>
                <a:cubicBezTo>
                  <a:pt x="143948" y="103165"/>
                  <a:pt x="145692" y="96592"/>
                  <a:pt x="150824" y="93640"/>
                </a:cubicBezTo>
                <a:close/>
                <a:moveTo>
                  <a:pt x="17105" y="78950"/>
                </a:moveTo>
                <a:lnTo>
                  <a:pt x="7815" y="73584"/>
                </a:lnTo>
                <a:cubicBezTo>
                  <a:pt x="4997" y="71941"/>
                  <a:pt x="3421" y="68788"/>
                  <a:pt x="3857" y="65568"/>
                </a:cubicBezTo>
                <a:cubicBezTo>
                  <a:pt x="4293" y="62349"/>
                  <a:pt x="6607" y="59699"/>
                  <a:pt x="9760" y="58860"/>
                </a:cubicBezTo>
                <a:lnTo>
                  <a:pt x="39073" y="50979"/>
                </a:lnTo>
                <a:cubicBezTo>
                  <a:pt x="43366" y="49839"/>
                  <a:pt x="47793" y="52388"/>
                  <a:pt x="48933" y="56680"/>
                </a:cubicBezTo>
                <a:lnTo>
                  <a:pt x="56781" y="85993"/>
                </a:lnTo>
                <a:cubicBezTo>
                  <a:pt x="57620" y="89146"/>
                  <a:pt x="56479" y="92466"/>
                  <a:pt x="53897" y="94479"/>
                </a:cubicBezTo>
                <a:cubicBezTo>
                  <a:pt x="51314" y="96491"/>
                  <a:pt x="47793" y="96692"/>
                  <a:pt x="44975" y="95049"/>
                </a:cubicBezTo>
                <a:lnTo>
                  <a:pt x="35685" y="89683"/>
                </a:lnTo>
                <a:lnTo>
                  <a:pt x="23175" y="111349"/>
                </a:lnTo>
                <a:cubicBezTo>
                  <a:pt x="15931" y="123859"/>
                  <a:pt x="24986" y="139521"/>
                  <a:pt x="39442" y="139521"/>
                </a:cubicBezTo>
                <a:lnTo>
                  <a:pt x="42997" y="139521"/>
                </a:lnTo>
                <a:cubicBezTo>
                  <a:pt x="48933" y="139521"/>
                  <a:pt x="53729" y="144317"/>
                  <a:pt x="53729" y="150254"/>
                </a:cubicBezTo>
                <a:cubicBezTo>
                  <a:pt x="53729" y="156190"/>
                  <a:pt x="48933" y="160986"/>
                  <a:pt x="42997" y="160986"/>
                </a:cubicBezTo>
                <a:lnTo>
                  <a:pt x="39442" y="160986"/>
                </a:lnTo>
                <a:cubicBezTo>
                  <a:pt x="8485" y="160986"/>
                  <a:pt x="-10867" y="127447"/>
                  <a:pt x="4628" y="100616"/>
                </a:cubicBezTo>
                <a:lnTo>
                  <a:pt x="17105" y="78950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41" name="Text 38"/>
          <p:cNvSpPr/>
          <p:nvPr/>
        </p:nvSpPr>
        <p:spPr>
          <a:xfrm>
            <a:off x="6853439" y="4778062"/>
            <a:ext cx="772732" cy="2404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生态赋能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338284" y="5207358"/>
            <a:ext cx="772732" cy="3434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5" b="1" dirty="0">
                <a:solidFill>
                  <a:srgbClr val="5A71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025157" y="5318975"/>
            <a:ext cx="892935" cy="206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知识生态构建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38284" y="5619482"/>
            <a:ext cx="5409127" cy="2232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沉淀结构化知识,形成</a:t>
            </a: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"提问-解答-复用"</a:t>
            </a:r>
            <a:r>
              <a:rPr lang="en-US" sz="10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的良性知识循环,持续增值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4901" y="318954"/>
            <a:ext cx="1857905" cy="255163"/>
          </a:xfrm>
          <a:custGeom>
            <a:avLst/>
            <a:gdLst/>
            <a:ahLst/>
            <a:cxnLst/>
            <a:rect l="l" t="t" r="r" b="b"/>
            <a:pathLst>
              <a:path w="1857905" h="255163">
                <a:moveTo>
                  <a:pt x="0" y="0"/>
                </a:moveTo>
                <a:lnTo>
                  <a:pt x="1857905" y="0"/>
                </a:lnTo>
                <a:lnTo>
                  <a:pt x="1857905" y="255163"/>
                </a:lnTo>
                <a:lnTo>
                  <a:pt x="0" y="255163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34901" y="318954"/>
            <a:ext cx="31895" cy="255163"/>
          </a:xfrm>
          <a:custGeom>
            <a:avLst/>
            <a:gdLst/>
            <a:ahLst/>
            <a:cxnLst/>
            <a:rect l="l" t="t" r="r" b="b"/>
            <a:pathLst>
              <a:path w="31895" h="255163">
                <a:moveTo>
                  <a:pt x="0" y="0"/>
                </a:moveTo>
                <a:lnTo>
                  <a:pt x="31895" y="0"/>
                </a:lnTo>
                <a:lnTo>
                  <a:pt x="31895" y="255163"/>
                </a:lnTo>
                <a:lnTo>
                  <a:pt x="0" y="255163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78155" y="362585"/>
            <a:ext cx="2040255" cy="191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5" b="1" kern="0" spc="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18954" y="637907"/>
            <a:ext cx="11697622" cy="318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系统架构总览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8954" y="1020651"/>
            <a:ext cx="637907" cy="31895"/>
          </a:xfrm>
          <a:custGeom>
            <a:avLst/>
            <a:gdLst/>
            <a:ahLst/>
            <a:cxnLst/>
            <a:rect l="l" t="t" r="r" b="b"/>
            <a:pathLst>
              <a:path w="637907" h="31895">
                <a:moveTo>
                  <a:pt x="0" y="0"/>
                </a:moveTo>
                <a:lnTo>
                  <a:pt x="637907" y="0"/>
                </a:lnTo>
                <a:lnTo>
                  <a:pt x="637907" y="31895"/>
                </a:lnTo>
                <a:lnTo>
                  <a:pt x="0" y="31895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18954" y="1180128"/>
            <a:ext cx="6267438" cy="5358420"/>
          </a:xfrm>
          <a:custGeom>
            <a:avLst/>
            <a:gdLst/>
            <a:ahLst/>
            <a:cxnLst/>
            <a:rect l="l" t="t" r="r" b="b"/>
            <a:pathLst>
              <a:path w="6267438" h="5358420">
                <a:moveTo>
                  <a:pt x="95701" y="0"/>
                </a:moveTo>
                <a:lnTo>
                  <a:pt x="6171736" y="0"/>
                </a:lnTo>
                <a:cubicBezTo>
                  <a:pt x="6224591" y="0"/>
                  <a:pt x="6267438" y="42847"/>
                  <a:pt x="6267438" y="95701"/>
                </a:cubicBezTo>
                <a:lnTo>
                  <a:pt x="6267438" y="5262719"/>
                </a:lnTo>
                <a:cubicBezTo>
                  <a:pt x="6267438" y="5315573"/>
                  <a:pt x="6224591" y="5358420"/>
                  <a:pt x="6171736" y="5358420"/>
                </a:cubicBezTo>
                <a:lnTo>
                  <a:pt x="95701" y="5358420"/>
                </a:lnTo>
                <a:cubicBezTo>
                  <a:pt x="42847" y="5358420"/>
                  <a:pt x="0" y="5315573"/>
                  <a:pt x="0" y="5262719"/>
                </a:cubicBezTo>
                <a:lnTo>
                  <a:pt x="0" y="95701"/>
                </a:lnTo>
                <a:cubicBezTo>
                  <a:pt x="0" y="42847"/>
                  <a:pt x="42847" y="0"/>
                  <a:pt x="9570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608" dist="79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457" y="1371500"/>
            <a:ext cx="5964432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系统架构图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0326" y="1722349"/>
            <a:ext cx="5884693" cy="606012"/>
          </a:xfrm>
          <a:custGeom>
            <a:avLst/>
            <a:gdLst/>
            <a:ahLst/>
            <a:cxnLst/>
            <a:rect l="l" t="t" r="r" b="b"/>
            <a:pathLst>
              <a:path w="5884693" h="606012">
                <a:moveTo>
                  <a:pt x="63789" y="0"/>
                </a:moveTo>
                <a:lnTo>
                  <a:pt x="5820904" y="0"/>
                </a:lnTo>
                <a:cubicBezTo>
                  <a:pt x="5856134" y="0"/>
                  <a:pt x="5884693" y="28559"/>
                  <a:pt x="5884693" y="63789"/>
                </a:cubicBezTo>
                <a:lnTo>
                  <a:pt x="5884693" y="542223"/>
                </a:lnTo>
                <a:cubicBezTo>
                  <a:pt x="5884693" y="577453"/>
                  <a:pt x="5856134" y="606012"/>
                  <a:pt x="5820904" y="606012"/>
                </a:cubicBezTo>
                <a:lnTo>
                  <a:pt x="63789" y="606012"/>
                </a:lnTo>
                <a:cubicBezTo>
                  <a:pt x="28559" y="606012"/>
                  <a:pt x="0" y="577453"/>
                  <a:pt x="0" y="542223"/>
                </a:cubicBezTo>
                <a:lnTo>
                  <a:pt x="0" y="63789"/>
                </a:lnTo>
                <a:cubicBezTo>
                  <a:pt x="0" y="28559"/>
                  <a:pt x="28559" y="0"/>
                  <a:pt x="637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/>
              </a:gs>
              <a:gs pos="100000">
                <a:srgbClr val="00E5FF">
                  <a:alpha val="80000"/>
                </a:srgbClr>
              </a:gs>
            </a:gsLst>
            <a:lin ang="0" scaled="1"/>
          </a:gradFill>
          <a:effectLst>
            <a:outerShdw blurRad="47843" dist="318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91685" y="1857905"/>
            <a:ext cx="143529" cy="143529"/>
          </a:xfrm>
          <a:custGeom>
            <a:avLst/>
            <a:gdLst/>
            <a:ahLst/>
            <a:cxnLst/>
            <a:rect l="l" t="t" r="r" b="b"/>
            <a:pathLst>
              <a:path w="143529" h="143529">
                <a:moveTo>
                  <a:pt x="17941" y="17941"/>
                </a:moveTo>
                <a:cubicBezTo>
                  <a:pt x="17941" y="12979"/>
                  <a:pt x="13932" y="8971"/>
                  <a:pt x="8971" y="8971"/>
                </a:cubicBezTo>
                <a:cubicBezTo>
                  <a:pt x="4009" y="8971"/>
                  <a:pt x="0" y="12979"/>
                  <a:pt x="0" y="17941"/>
                </a:cubicBezTo>
                <a:lnTo>
                  <a:pt x="0" y="112132"/>
                </a:lnTo>
                <a:cubicBezTo>
                  <a:pt x="0" y="124523"/>
                  <a:pt x="10036" y="134559"/>
                  <a:pt x="22426" y="134559"/>
                </a:cubicBezTo>
                <a:lnTo>
                  <a:pt x="134559" y="134559"/>
                </a:lnTo>
                <a:cubicBezTo>
                  <a:pt x="139520" y="134559"/>
                  <a:pt x="143529" y="130550"/>
                  <a:pt x="143529" y="125588"/>
                </a:cubicBezTo>
                <a:cubicBezTo>
                  <a:pt x="143529" y="120626"/>
                  <a:pt x="139520" y="116617"/>
                  <a:pt x="134559" y="116617"/>
                </a:cubicBezTo>
                <a:lnTo>
                  <a:pt x="22426" y="116617"/>
                </a:lnTo>
                <a:cubicBezTo>
                  <a:pt x="19960" y="116617"/>
                  <a:pt x="17941" y="114599"/>
                  <a:pt x="17941" y="112132"/>
                </a:cubicBezTo>
                <a:lnTo>
                  <a:pt x="17941" y="17941"/>
                </a:lnTo>
                <a:close/>
                <a:moveTo>
                  <a:pt x="131923" y="42218"/>
                </a:moveTo>
                <a:cubicBezTo>
                  <a:pt x="135428" y="38714"/>
                  <a:pt x="135428" y="33023"/>
                  <a:pt x="131923" y="29519"/>
                </a:cubicBezTo>
                <a:cubicBezTo>
                  <a:pt x="128419" y="26015"/>
                  <a:pt x="122729" y="26015"/>
                  <a:pt x="119224" y="29519"/>
                </a:cubicBezTo>
                <a:lnTo>
                  <a:pt x="89706" y="59066"/>
                </a:lnTo>
                <a:lnTo>
                  <a:pt x="73615" y="43003"/>
                </a:lnTo>
                <a:cubicBezTo>
                  <a:pt x="70111" y="39499"/>
                  <a:pt x="64420" y="39499"/>
                  <a:pt x="60916" y="43003"/>
                </a:cubicBezTo>
                <a:lnTo>
                  <a:pt x="34004" y="69914"/>
                </a:lnTo>
                <a:cubicBezTo>
                  <a:pt x="30500" y="73419"/>
                  <a:pt x="30500" y="79109"/>
                  <a:pt x="34004" y="82613"/>
                </a:cubicBezTo>
                <a:cubicBezTo>
                  <a:pt x="37508" y="86117"/>
                  <a:pt x="43199" y="86117"/>
                  <a:pt x="46703" y="82613"/>
                </a:cubicBezTo>
                <a:lnTo>
                  <a:pt x="67279" y="62037"/>
                </a:lnTo>
                <a:lnTo>
                  <a:pt x="83370" y="78128"/>
                </a:lnTo>
                <a:cubicBezTo>
                  <a:pt x="86874" y="81632"/>
                  <a:pt x="92565" y="81632"/>
                  <a:pt x="96069" y="78128"/>
                </a:cubicBezTo>
                <a:lnTo>
                  <a:pt x="131951" y="4224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3179070" y="1818035"/>
            <a:ext cx="789410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运维监控层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8103" y="2073198"/>
            <a:ext cx="5749138" cy="159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指标监控 · 日志分析 · 效果评估 · 告警通知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80409" y="2424047"/>
            <a:ext cx="143529" cy="191372"/>
          </a:xfrm>
          <a:custGeom>
            <a:avLst/>
            <a:gdLst/>
            <a:ahLst/>
            <a:cxnLst/>
            <a:rect l="l" t="t" r="r" b="b"/>
            <a:pathLst>
              <a:path w="143529" h="191372">
                <a:moveTo>
                  <a:pt x="63317" y="187859"/>
                </a:moveTo>
                <a:cubicBezTo>
                  <a:pt x="67989" y="192531"/>
                  <a:pt x="75577" y="192531"/>
                  <a:pt x="80249" y="187859"/>
                </a:cubicBezTo>
                <a:lnTo>
                  <a:pt x="140053" y="128055"/>
                </a:lnTo>
                <a:cubicBezTo>
                  <a:pt x="144725" y="123383"/>
                  <a:pt x="144725" y="115795"/>
                  <a:pt x="140053" y="111123"/>
                </a:cubicBezTo>
                <a:cubicBezTo>
                  <a:pt x="135381" y="106451"/>
                  <a:pt x="127793" y="106451"/>
                  <a:pt x="123121" y="111123"/>
                </a:cubicBezTo>
                <a:lnTo>
                  <a:pt x="83725" y="150519"/>
                </a:lnTo>
                <a:lnTo>
                  <a:pt x="83725" y="11961"/>
                </a:lnTo>
                <a:cubicBezTo>
                  <a:pt x="83725" y="5345"/>
                  <a:pt x="78380" y="0"/>
                  <a:pt x="71765" y="0"/>
                </a:cubicBezTo>
                <a:cubicBezTo>
                  <a:pt x="65149" y="0"/>
                  <a:pt x="59804" y="5345"/>
                  <a:pt x="59804" y="11961"/>
                </a:cubicBezTo>
                <a:lnTo>
                  <a:pt x="59804" y="150519"/>
                </a:lnTo>
                <a:lnTo>
                  <a:pt x="20408" y="111123"/>
                </a:lnTo>
                <a:cubicBezTo>
                  <a:pt x="15736" y="106451"/>
                  <a:pt x="8148" y="106451"/>
                  <a:pt x="3476" y="111123"/>
                </a:cubicBezTo>
                <a:cubicBezTo>
                  <a:pt x="-1196" y="115795"/>
                  <a:pt x="-1196" y="123383"/>
                  <a:pt x="3476" y="128055"/>
                </a:cubicBezTo>
                <a:lnTo>
                  <a:pt x="63280" y="187859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15" name="Shape 12"/>
          <p:cNvSpPr/>
          <p:nvPr/>
        </p:nvSpPr>
        <p:spPr>
          <a:xfrm>
            <a:off x="510326" y="2711105"/>
            <a:ext cx="5884693" cy="606012"/>
          </a:xfrm>
          <a:custGeom>
            <a:avLst/>
            <a:gdLst/>
            <a:ahLst/>
            <a:cxnLst/>
            <a:rect l="l" t="t" r="r" b="b"/>
            <a:pathLst>
              <a:path w="5884693" h="606012">
                <a:moveTo>
                  <a:pt x="63789" y="0"/>
                </a:moveTo>
                <a:lnTo>
                  <a:pt x="5820904" y="0"/>
                </a:lnTo>
                <a:cubicBezTo>
                  <a:pt x="5856134" y="0"/>
                  <a:pt x="5884693" y="28559"/>
                  <a:pt x="5884693" y="63789"/>
                </a:cubicBezTo>
                <a:lnTo>
                  <a:pt x="5884693" y="542223"/>
                </a:lnTo>
                <a:cubicBezTo>
                  <a:pt x="5884693" y="577453"/>
                  <a:pt x="5856134" y="606012"/>
                  <a:pt x="5820904" y="606012"/>
                </a:cubicBezTo>
                <a:lnTo>
                  <a:pt x="63789" y="606012"/>
                </a:lnTo>
                <a:cubicBezTo>
                  <a:pt x="28559" y="606012"/>
                  <a:pt x="0" y="577453"/>
                  <a:pt x="0" y="542223"/>
                </a:cubicBezTo>
                <a:lnTo>
                  <a:pt x="0" y="63789"/>
                </a:lnTo>
                <a:cubicBezTo>
                  <a:pt x="0" y="28559"/>
                  <a:pt x="28559" y="0"/>
                  <a:pt x="63789" y="0"/>
                </a:cubicBezTo>
                <a:close/>
              </a:path>
            </a:pathLst>
          </a:custGeom>
          <a:solidFill>
            <a:srgbClr val="0A2540"/>
          </a:solidFill>
          <a:effectLst>
            <a:outerShdw blurRad="47843" dist="318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35214" y="2846661"/>
            <a:ext cx="143529" cy="143529"/>
          </a:xfrm>
          <a:custGeom>
            <a:avLst/>
            <a:gdLst/>
            <a:ahLst/>
            <a:cxnLst/>
            <a:rect l="l" t="t" r="r" b="b"/>
            <a:pathLst>
              <a:path w="143529" h="143529">
                <a:moveTo>
                  <a:pt x="17941" y="8971"/>
                </a:moveTo>
                <a:cubicBezTo>
                  <a:pt x="8045" y="8971"/>
                  <a:pt x="0" y="17016"/>
                  <a:pt x="0" y="26912"/>
                </a:cubicBezTo>
                <a:lnTo>
                  <a:pt x="0" y="98676"/>
                </a:lnTo>
                <a:cubicBezTo>
                  <a:pt x="0" y="108572"/>
                  <a:pt x="8045" y="116617"/>
                  <a:pt x="17941" y="116617"/>
                </a:cubicBezTo>
                <a:lnTo>
                  <a:pt x="58309" y="116617"/>
                </a:lnTo>
                <a:lnTo>
                  <a:pt x="53823" y="130073"/>
                </a:lnTo>
                <a:lnTo>
                  <a:pt x="33640" y="130073"/>
                </a:lnTo>
                <a:cubicBezTo>
                  <a:pt x="29911" y="130073"/>
                  <a:pt x="26912" y="133073"/>
                  <a:pt x="26912" y="136801"/>
                </a:cubicBezTo>
                <a:cubicBezTo>
                  <a:pt x="26912" y="140530"/>
                  <a:pt x="29911" y="143529"/>
                  <a:pt x="33640" y="143529"/>
                </a:cubicBezTo>
                <a:lnTo>
                  <a:pt x="109889" y="143529"/>
                </a:lnTo>
                <a:cubicBezTo>
                  <a:pt x="113618" y="143529"/>
                  <a:pt x="116617" y="140530"/>
                  <a:pt x="116617" y="136801"/>
                </a:cubicBezTo>
                <a:cubicBezTo>
                  <a:pt x="116617" y="133073"/>
                  <a:pt x="113618" y="130073"/>
                  <a:pt x="109889" y="130073"/>
                </a:cubicBezTo>
                <a:lnTo>
                  <a:pt x="89706" y="130073"/>
                </a:lnTo>
                <a:lnTo>
                  <a:pt x="85220" y="116617"/>
                </a:lnTo>
                <a:lnTo>
                  <a:pt x="125588" y="116617"/>
                </a:lnTo>
                <a:cubicBezTo>
                  <a:pt x="135484" y="116617"/>
                  <a:pt x="143529" y="108572"/>
                  <a:pt x="143529" y="98676"/>
                </a:cubicBezTo>
                <a:lnTo>
                  <a:pt x="143529" y="26912"/>
                </a:lnTo>
                <a:cubicBezTo>
                  <a:pt x="143529" y="17016"/>
                  <a:pt x="135484" y="8971"/>
                  <a:pt x="125588" y="8971"/>
                </a:cubicBezTo>
                <a:lnTo>
                  <a:pt x="17941" y="8971"/>
                </a:lnTo>
                <a:close/>
                <a:moveTo>
                  <a:pt x="26912" y="26912"/>
                </a:moveTo>
                <a:lnTo>
                  <a:pt x="116617" y="26912"/>
                </a:lnTo>
                <a:cubicBezTo>
                  <a:pt x="121579" y="26912"/>
                  <a:pt x="125588" y="30920"/>
                  <a:pt x="125588" y="35882"/>
                </a:cubicBezTo>
                <a:lnTo>
                  <a:pt x="125588" y="80735"/>
                </a:lnTo>
                <a:cubicBezTo>
                  <a:pt x="125588" y="85697"/>
                  <a:pt x="121579" y="89706"/>
                  <a:pt x="116617" y="89706"/>
                </a:cubicBezTo>
                <a:lnTo>
                  <a:pt x="26912" y="89706"/>
                </a:lnTo>
                <a:cubicBezTo>
                  <a:pt x="21950" y="89706"/>
                  <a:pt x="17941" y="85697"/>
                  <a:pt x="17941" y="80735"/>
                </a:cubicBezTo>
                <a:lnTo>
                  <a:pt x="17941" y="35882"/>
                </a:lnTo>
                <a:cubicBezTo>
                  <a:pt x="17941" y="30920"/>
                  <a:pt x="21950" y="26912"/>
                  <a:pt x="26912" y="2691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3322599" y="2806791"/>
            <a:ext cx="502352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交互层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8103" y="3061954"/>
            <a:ext cx="5749138" cy="159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Web端 · 社群机器人 · GitHub集成 · API接口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380409" y="3412803"/>
            <a:ext cx="143529" cy="191372"/>
          </a:xfrm>
          <a:custGeom>
            <a:avLst/>
            <a:gdLst/>
            <a:ahLst/>
            <a:cxnLst/>
            <a:rect l="l" t="t" r="r" b="b"/>
            <a:pathLst>
              <a:path w="143529" h="191372">
                <a:moveTo>
                  <a:pt x="63317" y="187859"/>
                </a:moveTo>
                <a:cubicBezTo>
                  <a:pt x="67989" y="192531"/>
                  <a:pt x="75577" y="192531"/>
                  <a:pt x="80249" y="187859"/>
                </a:cubicBezTo>
                <a:lnTo>
                  <a:pt x="140053" y="128055"/>
                </a:lnTo>
                <a:cubicBezTo>
                  <a:pt x="144725" y="123383"/>
                  <a:pt x="144725" y="115795"/>
                  <a:pt x="140053" y="111123"/>
                </a:cubicBezTo>
                <a:cubicBezTo>
                  <a:pt x="135381" y="106451"/>
                  <a:pt x="127793" y="106451"/>
                  <a:pt x="123121" y="111123"/>
                </a:cubicBezTo>
                <a:lnTo>
                  <a:pt x="83725" y="150519"/>
                </a:lnTo>
                <a:lnTo>
                  <a:pt x="83725" y="11961"/>
                </a:lnTo>
                <a:cubicBezTo>
                  <a:pt x="83725" y="5345"/>
                  <a:pt x="78380" y="0"/>
                  <a:pt x="71765" y="0"/>
                </a:cubicBezTo>
                <a:cubicBezTo>
                  <a:pt x="65149" y="0"/>
                  <a:pt x="59804" y="5345"/>
                  <a:pt x="59804" y="11961"/>
                </a:cubicBezTo>
                <a:lnTo>
                  <a:pt x="59804" y="150519"/>
                </a:lnTo>
                <a:lnTo>
                  <a:pt x="20408" y="111123"/>
                </a:lnTo>
                <a:cubicBezTo>
                  <a:pt x="15736" y="106451"/>
                  <a:pt x="8148" y="106451"/>
                  <a:pt x="3476" y="111123"/>
                </a:cubicBezTo>
                <a:cubicBezTo>
                  <a:pt x="-1196" y="115795"/>
                  <a:pt x="-1196" y="123383"/>
                  <a:pt x="3476" y="128055"/>
                </a:cubicBezTo>
                <a:lnTo>
                  <a:pt x="63280" y="187859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20" name="Shape 17"/>
          <p:cNvSpPr/>
          <p:nvPr/>
        </p:nvSpPr>
        <p:spPr>
          <a:xfrm>
            <a:off x="510326" y="3699861"/>
            <a:ext cx="5884693" cy="606012"/>
          </a:xfrm>
          <a:custGeom>
            <a:avLst/>
            <a:gdLst/>
            <a:ahLst/>
            <a:cxnLst/>
            <a:rect l="l" t="t" r="r" b="b"/>
            <a:pathLst>
              <a:path w="5884693" h="606012">
                <a:moveTo>
                  <a:pt x="63789" y="0"/>
                </a:moveTo>
                <a:lnTo>
                  <a:pt x="5820904" y="0"/>
                </a:lnTo>
                <a:cubicBezTo>
                  <a:pt x="5856134" y="0"/>
                  <a:pt x="5884693" y="28559"/>
                  <a:pt x="5884693" y="63789"/>
                </a:cubicBezTo>
                <a:lnTo>
                  <a:pt x="5884693" y="542223"/>
                </a:lnTo>
                <a:cubicBezTo>
                  <a:pt x="5884693" y="577453"/>
                  <a:pt x="5856134" y="606012"/>
                  <a:pt x="5820904" y="606012"/>
                </a:cubicBezTo>
                <a:lnTo>
                  <a:pt x="63789" y="606012"/>
                </a:lnTo>
                <a:cubicBezTo>
                  <a:pt x="28559" y="606012"/>
                  <a:pt x="0" y="577453"/>
                  <a:pt x="0" y="542223"/>
                </a:cubicBezTo>
                <a:lnTo>
                  <a:pt x="0" y="63789"/>
                </a:lnTo>
                <a:cubicBezTo>
                  <a:pt x="0" y="28559"/>
                  <a:pt x="28559" y="0"/>
                  <a:pt x="63789" y="0"/>
                </a:cubicBezTo>
                <a:close/>
              </a:path>
            </a:pathLst>
          </a:custGeom>
          <a:solidFill>
            <a:srgbClr val="5A7184"/>
          </a:solidFill>
          <a:effectLst>
            <a:outerShdw blurRad="47843" dist="318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973744" y="3835417"/>
            <a:ext cx="179411" cy="143529"/>
          </a:xfrm>
          <a:custGeom>
            <a:avLst/>
            <a:gdLst/>
            <a:ahLst/>
            <a:cxnLst/>
            <a:rect l="l" t="t" r="r" b="b"/>
            <a:pathLst>
              <a:path w="179411" h="143529">
                <a:moveTo>
                  <a:pt x="116589" y="59010"/>
                </a:moveTo>
                <a:cubicBezTo>
                  <a:pt x="120009" y="58084"/>
                  <a:pt x="123598" y="59710"/>
                  <a:pt x="125139" y="62878"/>
                </a:cubicBezTo>
                <a:lnTo>
                  <a:pt x="130354" y="73419"/>
                </a:lnTo>
                <a:cubicBezTo>
                  <a:pt x="133241" y="73811"/>
                  <a:pt x="136072" y="74596"/>
                  <a:pt x="138735" y="75689"/>
                </a:cubicBezTo>
                <a:lnTo>
                  <a:pt x="148547" y="69157"/>
                </a:lnTo>
                <a:cubicBezTo>
                  <a:pt x="151490" y="67195"/>
                  <a:pt x="155387" y="67588"/>
                  <a:pt x="157882" y="70083"/>
                </a:cubicBezTo>
                <a:lnTo>
                  <a:pt x="163264" y="75465"/>
                </a:lnTo>
                <a:cubicBezTo>
                  <a:pt x="165759" y="77960"/>
                  <a:pt x="166152" y="81884"/>
                  <a:pt x="164189" y="84800"/>
                </a:cubicBezTo>
                <a:lnTo>
                  <a:pt x="157658" y="94583"/>
                </a:lnTo>
                <a:cubicBezTo>
                  <a:pt x="158190" y="95901"/>
                  <a:pt x="158667" y="97275"/>
                  <a:pt x="159059" y="98704"/>
                </a:cubicBezTo>
                <a:cubicBezTo>
                  <a:pt x="159452" y="100134"/>
                  <a:pt x="159704" y="101536"/>
                  <a:pt x="159900" y="102965"/>
                </a:cubicBezTo>
                <a:lnTo>
                  <a:pt x="170469" y="108179"/>
                </a:lnTo>
                <a:cubicBezTo>
                  <a:pt x="173637" y="109749"/>
                  <a:pt x="175262" y="113338"/>
                  <a:pt x="174337" y="116730"/>
                </a:cubicBezTo>
                <a:lnTo>
                  <a:pt x="172375" y="124074"/>
                </a:lnTo>
                <a:cubicBezTo>
                  <a:pt x="171450" y="127466"/>
                  <a:pt x="168282" y="129765"/>
                  <a:pt x="164750" y="129541"/>
                </a:cubicBezTo>
                <a:lnTo>
                  <a:pt x="152976" y="128784"/>
                </a:lnTo>
                <a:cubicBezTo>
                  <a:pt x="151210" y="131054"/>
                  <a:pt x="149164" y="133157"/>
                  <a:pt x="146837" y="134951"/>
                </a:cubicBezTo>
                <a:lnTo>
                  <a:pt x="147594" y="146697"/>
                </a:lnTo>
                <a:cubicBezTo>
                  <a:pt x="147818" y="150229"/>
                  <a:pt x="145519" y="153425"/>
                  <a:pt x="142127" y="154322"/>
                </a:cubicBezTo>
                <a:lnTo>
                  <a:pt x="134783" y="156284"/>
                </a:lnTo>
                <a:cubicBezTo>
                  <a:pt x="131363" y="157209"/>
                  <a:pt x="127803" y="155583"/>
                  <a:pt x="126233" y="152416"/>
                </a:cubicBezTo>
                <a:lnTo>
                  <a:pt x="121019" y="141875"/>
                </a:lnTo>
                <a:cubicBezTo>
                  <a:pt x="118131" y="141483"/>
                  <a:pt x="115300" y="140698"/>
                  <a:pt x="112637" y="139604"/>
                </a:cubicBezTo>
                <a:lnTo>
                  <a:pt x="102825" y="146136"/>
                </a:lnTo>
                <a:cubicBezTo>
                  <a:pt x="99882" y="148098"/>
                  <a:pt x="95985" y="147706"/>
                  <a:pt x="93490" y="145211"/>
                </a:cubicBezTo>
                <a:lnTo>
                  <a:pt x="88108" y="139829"/>
                </a:lnTo>
                <a:cubicBezTo>
                  <a:pt x="85613" y="137334"/>
                  <a:pt x="85220" y="133437"/>
                  <a:pt x="87183" y="130494"/>
                </a:cubicBezTo>
                <a:lnTo>
                  <a:pt x="93714" y="120682"/>
                </a:lnTo>
                <a:cubicBezTo>
                  <a:pt x="93182" y="119365"/>
                  <a:pt x="92705" y="117991"/>
                  <a:pt x="92313" y="116561"/>
                </a:cubicBezTo>
                <a:cubicBezTo>
                  <a:pt x="91920" y="115132"/>
                  <a:pt x="91668" y="113702"/>
                  <a:pt x="91472" y="112300"/>
                </a:cubicBezTo>
                <a:lnTo>
                  <a:pt x="80903" y="107086"/>
                </a:lnTo>
                <a:cubicBezTo>
                  <a:pt x="77736" y="105516"/>
                  <a:pt x="76138" y="101928"/>
                  <a:pt x="77035" y="98536"/>
                </a:cubicBezTo>
                <a:lnTo>
                  <a:pt x="78997" y="91191"/>
                </a:lnTo>
                <a:cubicBezTo>
                  <a:pt x="79922" y="87799"/>
                  <a:pt x="83090" y="85501"/>
                  <a:pt x="86622" y="85725"/>
                </a:cubicBezTo>
                <a:lnTo>
                  <a:pt x="98368" y="86482"/>
                </a:lnTo>
                <a:cubicBezTo>
                  <a:pt x="100134" y="84211"/>
                  <a:pt x="102180" y="82109"/>
                  <a:pt x="104507" y="80315"/>
                </a:cubicBezTo>
                <a:lnTo>
                  <a:pt x="103750" y="68597"/>
                </a:lnTo>
                <a:cubicBezTo>
                  <a:pt x="103526" y="65065"/>
                  <a:pt x="105825" y="61869"/>
                  <a:pt x="109217" y="60972"/>
                </a:cubicBezTo>
                <a:lnTo>
                  <a:pt x="116561" y="59010"/>
                </a:lnTo>
                <a:close/>
                <a:moveTo>
                  <a:pt x="125700" y="95312"/>
                </a:moveTo>
                <a:cubicBezTo>
                  <a:pt x="118892" y="95320"/>
                  <a:pt x="113372" y="100853"/>
                  <a:pt x="113380" y="107661"/>
                </a:cubicBezTo>
                <a:cubicBezTo>
                  <a:pt x="113387" y="114468"/>
                  <a:pt x="118921" y="119989"/>
                  <a:pt x="125728" y="119981"/>
                </a:cubicBezTo>
                <a:cubicBezTo>
                  <a:pt x="132536" y="119974"/>
                  <a:pt x="138056" y="114440"/>
                  <a:pt x="138049" y="107633"/>
                </a:cubicBezTo>
                <a:cubicBezTo>
                  <a:pt x="138041" y="100825"/>
                  <a:pt x="132508" y="95305"/>
                  <a:pt x="125700" y="95312"/>
                </a:cubicBezTo>
                <a:close/>
                <a:moveTo>
                  <a:pt x="63046" y="-12755"/>
                </a:moveTo>
                <a:lnTo>
                  <a:pt x="70391" y="-10793"/>
                </a:lnTo>
                <a:cubicBezTo>
                  <a:pt x="73783" y="-9868"/>
                  <a:pt x="76082" y="-6672"/>
                  <a:pt x="75857" y="-3168"/>
                </a:cubicBezTo>
                <a:lnTo>
                  <a:pt x="75100" y="8550"/>
                </a:lnTo>
                <a:cubicBezTo>
                  <a:pt x="77427" y="10344"/>
                  <a:pt x="79474" y="12419"/>
                  <a:pt x="81240" y="14717"/>
                </a:cubicBezTo>
                <a:lnTo>
                  <a:pt x="93014" y="13960"/>
                </a:lnTo>
                <a:cubicBezTo>
                  <a:pt x="96518" y="13736"/>
                  <a:pt x="99713" y="16035"/>
                  <a:pt x="100639" y="19427"/>
                </a:cubicBezTo>
                <a:lnTo>
                  <a:pt x="102601" y="26772"/>
                </a:lnTo>
                <a:cubicBezTo>
                  <a:pt x="103498" y="30164"/>
                  <a:pt x="101900" y="33752"/>
                  <a:pt x="98732" y="35322"/>
                </a:cubicBezTo>
                <a:lnTo>
                  <a:pt x="88164" y="40536"/>
                </a:lnTo>
                <a:cubicBezTo>
                  <a:pt x="87968" y="41965"/>
                  <a:pt x="87687" y="43395"/>
                  <a:pt x="87323" y="44797"/>
                </a:cubicBezTo>
                <a:cubicBezTo>
                  <a:pt x="86958" y="46198"/>
                  <a:pt x="86454" y="47600"/>
                  <a:pt x="85921" y="48918"/>
                </a:cubicBezTo>
                <a:lnTo>
                  <a:pt x="92453" y="58729"/>
                </a:lnTo>
                <a:cubicBezTo>
                  <a:pt x="94415" y="61673"/>
                  <a:pt x="94023" y="65569"/>
                  <a:pt x="91528" y="68064"/>
                </a:cubicBezTo>
                <a:lnTo>
                  <a:pt x="86145" y="73447"/>
                </a:lnTo>
                <a:cubicBezTo>
                  <a:pt x="83651" y="75941"/>
                  <a:pt x="79754" y="76334"/>
                  <a:pt x="76810" y="74372"/>
                </a:cubicBezTo>
                <a:lnTo>
                  <a:pt x="66999" y="67840"/>
                </a:lnTo>
                <a:cubicBezTo>
                  <a:pt x="64336" y="68933"/>
                  <a:pt x="61504" y="69718"/>
                  <a:pt x="58617" y="70111"/>
                </a:cubicBezTo>
                <a:lnTo>
                  <a:pt x="53403" y="80651"/>
                </a:lnTo>
                <a:cubicBezTo>
                  <a:pt x="51833" y="83819"/>
                  <a:pt x="48245" y="85417"/>
                  <a:pt x="44853" y="84520"/>
                </a:cubicBezTo>
                <a:lnTo>
                  <a:pt x="37508" y="82557"/>
                </a:lnTo>
                <a:cubicBezTo>
                  <a:pt x="34088" y="81632"/>
                  <a:pt x="31817" y="78436"/>
                  <a:pt x="32042" y="74932"/>
                </a:cubicBezTo>
                <a:lnTo>
                  <a:pt x="32799" y="63186"/>
                </a:lnTo>
                <a:cubicBezTo>
                  <a:pt x="30472" y="61392"/>
                  <a:pt x="28425" y="59318"/>
                  <a:pt x="26659" y="57019"/>
                </a:cubicBezTo>
                <a:lnTo>
                  <a:pt x="14886" y="57776"/>
                </a:lnTo>
                <a:cubicBezTo>
                  <a:pt x="11381" y="58000"/>
                  <a:pt x="8186" y="55702"/>
                  <a:pt x="7261" y="52310"/>
                </a:cubicBezTo>
                <a:lnTo>
                  <a:pt x="5298" y="44965"/>
                </a:lnTo>
                <a:cubicBezTo>
                  <a:pt x="4401" y="41573"/>
                  <a:pt x="5999" y="37985"/>
                  <a:pt x="9167" y="36415"/>
                </a:cubicBezTo>
                <a:lnTo>
                  <a:pt x="19735" y="31201"/>
                </a:lnTo>
                <a:cubicBezTo>
                  <a:pt x="19931" y="29771"/>
                  <a:pt x="20212" y="28369"/>
                  <a:pt x="20576" y="26940"/>
                </a:cubicBezTo>
                <a:cubicBezTo>
                  <a:pt x="20969" y="25510"/>
                  <a:pt x="21417" y="24136"/>
                  <a:pt x="21978" y="22819"/>
                </a:cubicBezTo>
                <a:lnTo>
                  <a:pt x="15446" y="13035"/>
                </a:lnTo>
                <a:cubicBezTo>
                  <a:pt x="13484" y="10092"/>
                  <a:pt x="13876" y="6195"/>
                  <a:pt x="16371" y="3700"/>
                </a:cubicBezTo>
                <a:lnTo>
                  <a:pt x="21754" y="-1682"/>
                </a:lnTo>
                <a:cubicBezTo>
                  <a:pt x="24249" y="-4177"/>
                  <a:pt x="28145" y="-4569"/>
                  <a:pt x="31089" y="-2607"/>
                </a:cubicBezTo>
                <a:lnTo>
                  <a:pt x="40900" y="3925"/>
                </a:lnTo>
                <a:cubicBezTo>
                  <a:pt x="43563" y="2831"/>
                  <a:pt x="46395" y="2046"/>
                  <a:pt x="49282" y="1654"/>
                </a:cubicBezTo>
                <a:lnTo>
                  <a:pt x="54496" y="-8886"/>
                </a:lnTo>
                <a:cubicBezTo>
                  <a:pt x="56066" y="-12054"/>
                  <a:pt x="59626" y="-13652"/>
                  <a:pt x="63046" y="-12755"/>
                </a:cubicBezTo>
                <a:close/>
                <a:moveTo>
                  <a:pt x="53936" y="23548"/>
                </a:moveTo>
                <a:cubicBezTo>
                  <a:pt x="47128" y="23548"/>
                  <a:pt x="41601" y="29075"/>
                  <a:pt x="41601" y="35882"/>
                </a:cubicBezTo>
                <a:cubicBezTo>
                  <a:pt x="41601" y="42690"/>
                  <a:pt x="47128" y="48217"/>
                  <a:pt x="53936" y="48217"/>
                </a:cubicBezTo>
                <a:cubicBezTo>
                  <a:pt x="60743" y="48217"/>
                  <a:pt x="66270" y="42690"/>
                  <a:pt x="66270" y="35882"/>
                </a:cubicBezTo>
                <a:cubicBezTo>
                  <a:pt x="66270" y="29075"/>
                  <a:pt x="60743" y="23548"/>
                  <a:pt x="53936" y="2354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3179070" y="3795547"/>
            <a:ext cx="789410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业务逻辑层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8103" y="4050710"/>
            <a:ext cx="5749138" cy="159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问题理解 · 权限控制 · 反馈处理 · 规则封装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380409" y="4401559"/>
            <a:ext cx="143529" cy="191372"/>
          </a:xfrm>
          <a:custGeom>
            <a:avLst/>
            <a:gdLst/>
            <a:ahLst/>
            <a:cxnLst/>
            <a:rect l="l" t="t" r="r" b="b"/>
            <a:pathLst>
              <a:path w="143529" h="191372">
                <a:moveTo>
                  <a:pt x="63317" y="187859"/>
                </a:moveTo>
                <a:cubicBezTo>
                  <a:pt x="67989" y="192531"/>
                  <a:pt x="75577" y="192531"/>
                  <a:pt x="80249" y="187859"/>
                </a:cubicBezTo>
                <a:lnTo>
                  <a:pt x="140053" y="128055"/>
                </a:lnTo>
                <a:cubicBezTo>
                  <a:pt x="144725" y="123383"/>
                  <a:pt x="144725" y="115795"/>
                  <a:pt x="140053" y="111123"/>
                </a:cubicBezTo>
                <a:cubicBezTo>
                  <a:pt x="135381" y="106451"/>
                  <a:pt x="127793" y="106451"/>
                  <a:pt x="123121" y="111123"/>
                </a:cubicBezTo>
                <a:lnTo>
                  <a:pt x="83725" y="150519"/>
                </a:lnTo>
                <a:lnTo>
                  <a:pt x="83725" y="11961"/>
                </a:lnTo>
                <a:cubicBezTo>
                  <a:pt x="83725" y="5345"/>
                  <a:pt x="78380" y="0"/>
                  <a:pt x="71765" y="0"/>
                </a:cubicBezTo>
                <a:cubicBezTo>
                  <a:pt x="65149" y="0"/>
                  <a:pt x="59804" y="5345"/>
                  <a:pt x="59804" y="11961"/>
                </a:cubicBezTo>
                <a:lnTo>
                  <a:pt x="59804" y="150519"/>
                </a:lnTo>
                <a:lnTo>
                  <a:pt x="20408" y="111123"/>
                </a:lnTo>
                <a:cubicBezTo>
                  <a:pt x="15736" y="106451"/>
                  <a:pt x="8148" y="106451"/>
                  <a:pt x="3476" y="111123"/>
                </a:cubicBezTo>
                <a:cubicBezTo>
                  <a:pt x="-1196" y="115795"/>
                  <a:pt x="-1196" y="123383"/>
                  <a:pt x="3476" y="128055"/>
                </a:cubicBezTo>
                <a:lnTo>
                  <a:pt x="63280" y="187859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25" name="Shape 22"/>
          <p:cNvSpPr/>
          <p:nvPr/>
        </p:nvSpPr>
        <p:spPr>
          <a:xfrm>
            <a:off x="518300" y="4696591"/>
            <a:ext cx="5868746" cy="621959"/>
          </a:xfrm>
          <a:custGeom>
            <a:avLst/>
            <a:gdLst/>
            <a:ahLst/>
            <a:cxnLst/>
            <a:rect l="l" t="t" r="r" b="b"/>
            <a:pathLst>
              <a:path w="5868746" h="621959">
                <a:moveTo>
                  <a:pt x="63788" y="0"/>
                </a:moveTo>
                <a:lnTo>
                  <a:pt x="5804957" y="0"/>
                </a:lnTo>
                <a:cubicBezTo>
                  <a:pt x="5840187" y="0"/>
                  <a:pt x="5868746" y="28559"/>
                  <a:pt x="5868746" y="63788"/>
                </a:cubicBezTo>
                <a:lnTo>
                  <a:pt x="5868746" y="558171"/>
                </a:lnTo>
                <a:cubicBezTo>
                  <a:pt x="5868746" y="593401"/>
                  <a:pt x="5840187" y="621959"/>
                  <a:pt x="5804957" y="621959"/>
                </a:cubicBezTo>
                <a:lnTo>
                  <a:pt x="63788" y="621959"/>
                </a:lnTo>
                <a:cubicBezTo>
                  <a:pt x="28559" y="621959"/>
                  <a:pt x="0" y="593401"/>
                  <a:pt x="0" y="558171"/>
                </a:cubicBezTo>
                <a:lnTo>
                  <a:pt x="0" y="63788"/>
                </a:lnTo>
                <a:cubicBezTo>
                  <a:pt x="0" y="28583"/>
                  <a:pt x="28583" y="0"/>
                  <a:pt x="6378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E5FF"/>
            </a:solidFill>
            <a:prstDash val="solid"/>
          </a:ln>
          <a:effectLst>
            <a:outerShdw blurRad="47843" dist="318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991685" y="4840120"/>
            <a:ext cx="143529" cy="143529"/>
          </a:xfrm>
          <a:custGeom>
            <a:avLst/>
            <a:gdLst/>
            <a:ahLst/>
            <a:cxnLst/>
            <a:rect l="l" t="t" r="r" b="b"/>
            <a:pathLst>
              <a:path w="143529" h="143529">
                <a:moveTo>
                  <a:pt x="33640" y="15698"/>
                </a:moveTo>
                <a:cubicBezTo>
                  <a:pt x="33640" y="7036"/>
                  <a:pt x="40676" y="0"/>
                  <a:pt x="49338" y="0"/>
                </a:cubicBezTo>
                <a:lnTo>
                  <a:pt x="56066" y="0"/>
                </a:lnTo>
                <a:cubicBezTo>
                  <a:pt x="61028" y="0"/>
                  <a:pt x="65037" y="4009"/>
                  <a:pt x="65037" y="8971"/>
                </a:cubicBezTo>
                <a:lnTo>
                  <a:pt x="65037" y="134559"/>
                </a:lnTo>
                <a:cubicBezTo>
                  <a:pt x="65037" y="139520"/>
                  <a:pt x="61028" y="143529"/>
                  <a:pt x="56066" y="143529"/>
                </a:cubicBezTo>
                <a:lnTo>
                  <a:pt x="47095" y="143529"/>
                </a:lnTo>
                <a:cubicBezTo>
                  <a:pt x="38742" y="143529"/>
                  <a:pt x="31705" y="137810"/>
                  <a:pt x="29715" y="130073"/>
                </a:cubicBezTo>
                <a:cubicBezTo>
                  <a:pt x="29519" y="130073"/>
                  <a:pt x="29351" y="130073"/>
                  <a:pt x="29154" y="130073"/>
                </a:cubicBezTo>
                <a:cubicBezTo>
                  <a:pt x="16764" y="130073"/>
                  <a:pt x="6728" y="120037"/>
                  <a:pt x="6728" y="107647"/>
                </a:cubicBezTo>
                <a:cubicBezTo>
                  <a:pt x="6728" y="102601"/>
                  <a:pt x="8410" y="97947"/>
                  <a:pt x="11213" y="94191"/>
                </a:cubicBezTo>
                <a:cubicBezTo>
                  <a:pt x="5775" y="90098"/>
                  <a:pt x="2243" y="83594"/>
                  <a:pt x="2243" y="76250"/>
                </a:cubicBezTo>
                <a:cubicBezTo>
                  <a:pt x="2243" y="67588"/>
                  <a:pt x="7176" y="60047"/>
                  <a:pt x="14353" y="56318"/>
                </a:cubicBezTo>
                <a:cubicBezTo>
                  <a:pt x="12363" y="52954"/>
                  <a:pt x="11213" y="49030"/>
                  <a:pt x="11213" y="44853"/>
                </a:cubicBezTo>
                <a:cubicBezTo>
                  <a:pt x="11213" y="32462"/>
                  <a:pt x="21249" y="22426"/>
                  <a:pt x="33640" y="22426"/>
                </a:cubicBezTo>
                <a:lnTo>
                  <a:pt x="33640" y="15698"/>
                </a:lnTo>
                <a:close/>
                <a:moveTo>
                  <a:pt x="109889" y="15698"/>
                </a:moveTo>
                <a:lnTo>
                  <a:pt x="109889" y="22426"/>
                </a:lnTo>
                <a:cubicBezTo>
                  <a:pt x="122280" y="22426"/>
                  <a:pt x="132316" y="32462"/>
                  <a:pt x="132316" y="44853"/>
                </a:cubicBezTo>
                <a:cubicBezTo>
                  <a:pt x="132316" y="49058"/>
                  <a:pt x="131167" y="52982"/>
                  <a:pt x="129176" y="56318"/>
                </a:cubicBezTo>
                <a:cubicBezTo>
                  <a:pt x="136381" y="60047"/>
                  <a:pt x="141286" y="67560"/>
                  <a:pt x="141286" y="76250"/>
                </a:cubicBezTo>
                <a:cubicBezTo>
                  <a:pt x="141286" y="83594"/>
                  <a:pt x="137754" y="90098"/>
                  <a:pt x="132316" y="94191"/>
                </a:cubicBezTo>
                <a:cubicBezTo>
                  <a:pt x="135119" y="97947"/>
                  <a:pt x="136801" y="102601"/>
                  <a:pt x="136801" y="107647"/>
                </a:cubicBezTo>
                <a:cubicBezTo>
                  <a:pt x="136801" y="120037"/>
                  <a:pt x="126765" y="130073"/>
                  <a:pt x="114375" y="130073"/>
                </a:cubicBezTo>
                <a:cubicBezTo>
                  <a:pt x="114179" y="130073"/>
                  <a:pt x="114010" y="130073"/>
                  <a:pt x="113814" y="130073"/>
                </a:cubicBezTo>
                <a:cubicBezTo>
                  <a:pt x="111824" y="137810"/>
                  <a:pt x="104787" y="143529"/>
                  <a:pt x="96434" y="143529"/>
                </a:cubicBezTo>
                <a:lnTo>
                  <a:pt x="87463" y="143529"/>
                </a:lnTo>
                <a:cubicBezTo>
                  <a:pt x="82501" y="143529"/>
                  <a:pt x="78492" y="139520"/>
                  <a:pt x="78492" y="134559"/>
                </a:cubicBezTo>
                <a:lnTo>
                  <a:pt x="78492" y="8971"/>
                </a:lnTo>
                <a:cubicBezTo>
                  <a:pt x="78492" y="4009"/>
                  <a:pt x="82501" y="0"/>
                  <a:pt x="87463" y="0"/>
                </a:cubicBezTo>
                <a:lnTo>
                  <a:pt x="94191" y="0"/>
                </a:lnTo>
                <a:cubicBezTo>
                  <a:pt x="102853" y="0"/>
                  <a:pt x="109889" y="7036"/>
                  <a:pt x="109889" y="1569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7" name="Text 24"/>
          <p:cNvSpPr/>
          <p:nvPr/>
        </p:nvSpPr>
        <p:spPr>
          <a:xfrm>
            <a:off x="3179070" y="4800251"/>
            <a:ext cx="789410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核心能力层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94051" y="5055414"/>
            <a:ext cx="5717243" cy="159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检索模块 · 生成模块 · 工具调用 · 上下文管理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380409" y="5422211"/>
            <a:ext cx="143529" cy="191372"/>
          </a:xfrm>
          <a:custGeom>
            <a:avLst/>
            <a:gdLst/>
            <a:ahLst/>
            <a:cxnLst/>
            <a:rect l="l" t="t" r="r" b="b"/>
            <a:pathLst>
              <a:path w="143529" h="191372">
                <a:moveTo>
                  <a:pt x="63317" y="187859"/>
                </a:moveTo>
                <a:cubicBezTo>
                  <a:pt x="67989" y="192531"/>
                  <a:pt x="75577" y="192531"/>
                  <a:pt x="80249" y="187859"/>
                </a:cubicBezTo>
                <a:lnTo>
                  <a:pt x="140053" y="128055"/>
                </a:lnTo>
                <a:cubicBezTo>
                  <a:pt x="144725" y="123383"/>
                  <a:pt x="144725" y="115795"/>
                  <a:pt x="140053" y="111123"/>
                </a:cubicBezTo>
                <a:cubicBezTo>
                  <a:pt x="135381" y="106451"/>
                  <a:pt x="127793" y="106451"/>
                  <a:pt x="123121" y="111123"/>
                </a:cubicBezTo>
                <a:lnTo>
                  <a:pt x="83725" y="150519"/>
                </a:lnTo>
                <a:lnTo>
                  <a:pt x="83725" y="11961"/>
                </a:lnTo>
                <a:cubicBezTo>
                  <a:pt x="83725" y="5345"/>
                  <a:pt x="78380" y="0"/>
                  <a:pt x="71765" y="0"/>
                </a:cubicBezTo>
                <a:cubicBezTo>
                  <a:pt x="65149" y="0"/>
                  <a:pt x="59804" y="5345"/>
                  <a:pt x="59804" y="11961"/>
                </a:cubicBezTo>
                <a:lnTo>
                  <a:pt x="59804" y="150519"/>
                </a:lnTo>
                <a:lnTo>
                  <a:pt x="20408" y="111123"/>
                </a:lnTo>
                <a:cubicBezTo>
                  <a:pt x="15736" y="106451"/>
                  <a:pt x="8148" y="106451"/>
                  <a:pt x="3476" y="111123"/>
                </a:cubicBezTo>
                <a:cubicBezTo>
                  <a:pt x="-1196" y="115795"/>
                  <a:pt x="-1196" y="123383"/>
                  <a:pt x="3476" y="128055"/>
                </a:cubicBezTo>
                <a:lnTo>
                  <a:pt x="63280" y="187859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30" name="Shape 27"/>
          <p:cNvSpPr/>
          <p:nvPr/>
        </p:nvSpPr>
        <p:spPr>
          <a:xfrm>
            <a:off x="518300" y="5717243"/>
            <a:ext cx="5868746" cy="621959"/>
          </a:xfrm>
          <a:custGeom>
            <a:avLst/>
            <a:gdLst/>
            <a:ahLst/>
            <a:cxnLst/>
            <a:rect l="l" t="t" r="r" b="b"/>
            <a:pathLst>
              <a:path w="5868746" h="621959">
                <a:moveTo>
                  <a:pt x="63788" y="0"/>
                </a:moveTo>
                <a:lnTo>
                  <a:pt x="5804957" y="0"/>
                </a:lnTo>
                <a:cubicBezTo>
                  <a:pt x="5840187" y="0"/>
                  <a:pt x="5868746" y="28559"/>
                  <a:pt x="5868746" y="63788"/>
                </a:cubicBezTo>
                <a:lnTo>
                  <a:pt x="5868746" y="558171"/>
                </a:lnTo>
                <a:cubicBezTo>
                  <a:pt x="5868746" y="593401"/>
                  <a:pt x="5840187" y="621959"/>
                  <a:pt x="5804957" y="621959"/>
                </a:cubicBezTo>
                <a:lnTo>
                  <a:pt x="63788" y="621959"/>
                </a:lnTo>
                <a:cubicBezTo>
                  <a:pt x="28559" y="621959"/>
                  <a:pt x="0" y="593401"/>
                  <a:pt x="0" y="558171"/>
                </a:cubicBezTo>
                <a:lnTo>
                  <a:pt x="0" y="63788"/>
                </a:lnTo>
                <a:cubicBezTo>
                  <a:pt x="0" y="28583"/>
                  <a:pt x="28583" y="0"/>
                  <a:pt x="63788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  <a:ln w="25400">
            <a:solidFill>
              <a:srgbClr val="00E5FF"/>
            </a:solidFill>
            <a:prstDash val="solid"/>
          </a:ln>
          <a:effectLst>
            <a:outerShdw blurRad="47843" dist="3189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144184" y="5860772"/>
            <a:ext cx="125588" cy="143529"/>
          </a:xfrm>
          <a:custGeom>
            <a:avLst/>
            <a:gdLst/>
            <a:ahLst/>
            <a:cxnLst/>
            <a:rect l="l" t="t" r="r" b="b"/>
            <a:pathLst>
              <a:path w="125588" h="143529">
                <a:moveTo>
                  <a:pt x="125588" y="57692"/>
                </a:moveTo>
                <a:cubicBezTo>
                  <a:pt x="121439" y="60439"/>
                  <a:pt x="116673" y="62654"/>
                  <a:pt x="111712" y="64420"/>
                </a:cubicBezTo>
                <a:cubicBezTo>
                  <a:pt x="98536" y="69129"/>
                  <a:pt x="81240" y="71765"/>
                  <a:pt x="62794" y="71765"/>
                </a:cubicBezTo>
                <a:cubicBezTo>
                  <a:pt x="44348" y="71765"/>
                  <a:pt x="27024" y="69101"/>
                  <a:pt x="13876" y="64420"/>
                </a:cubicBezTo>
                <a:cubicBezTo>
                  <a:pt x="8943" y="62654"/>
                  <a:pt x="4149" y="60439"/>
                  <a:pt x="0" y="57692"/>
                </a:cubicBezTo>
                <a:lnTo>
                  <a:pt x="0" y="80735"/>
                </a:lnTo>
                <a:cubicBezTo>
                  <a:pt x="0" y="93126"/>
                  <a:pt x="28117" y="103162"/>
                  <a:pt x="62794" y="103162"/>
                </a:cubicBezTo>
                <a:cubicBezTo>
                  <a:pt x="97471" y="103162"/>
                  <a:pt x="125588" y="93126"/>
                  <a:pt x="125588" y="80735"/>
                </a:cubicBezTo>
                <a:lnTo>
                  <a:pt x="125588" y="57692"/>
                </a:lnTo>
                <a:close/>
                <a:moveTo>
                  <a:pt x="125588" y="35882"/>
                </a:moveTo>
                <a:lnTo>
                  <a:pt x="125588" y="22426"/>
                </a:lnTo>
                <a:cubicBezTo>
                  <a:pt x="125588" y="10036"/>
                  <a:pt x="97471" y="0"/>
                  <a:pt x="62794" y="0"/>
                </a:cubicBezTo>
                <a:cubicBezTo>
                  <a:pt x="28117" y="0"/>
                  <a:pt x="0" y="10036"/>
                  <a:pt x="0" y="22426"/>
                </a:cubicBezTo>
                <a:lnTo>
                  <a:pt x="0" y="35882"/>
                </a:lnTo>
                <a:cubicBezTo>
                  <a:pt x="0" y="48273"/>
                  <a:pt x="28117" y="58309"/>
                  <a:pt x="62794" y="58309"/>
                </a:cubicBezTo>
                <a:cubicBezTo>
                  <a:pt x="97471" y="58309"/>
                  <a:pt x="125588" y="48273"/>
                  <a:pt x="125588" y="35882"/>
                </a:cubicBezTo>
                <a:close/>
                <a:moveTo>
                  <a:pt x="111712" y="109273"/>
                </a:moveTo>
                <a:cubicBezTo>
                  <a:pt x="98564" y="113954"/>
                  <a:pt x="81268" y="116617"/>
                  <a:pt x="62794" y="116617"/>
                </a:cubicBezTo>
                <a:cubicBezTo>
                  <a:pt x="44320" y="116617"/>
                  <a:pt x="27024" y="113954"/>
                  <a:pt x="13876" y="109273"/>
                </a:cubicBezTo>
                <a:cubicBezTo>
                  <a:pt x="8943" y="107507"/>
                  <a:pt x="4149" y="105292"/>
                  <a:pt x="0" y="102545"/>
                </a:cubicBezTo>
                <a:lnTo>
                  <a:pt x="0" y="121103"/>
                </a:lnTo>
                <a:cubicBezTo>
                  <a:pt x="0" y="133493"/>
                  <a:pt x="28117" y="143529"/>
                  <a:pt x="62794" y="143529"/>
                </a:cubicBezTo>
                <a:cubicBezTo>
                  <a:pt x="97471" y="143529"/>
                  <a:pt x="125588" y="133493"/>
                  <a:pt x="125588" y="121103"/>
                </a:cubicBezTo>
                <a:lnTo>
                  <a:pt x="125588" y="102545"/>
                </a:lnTo>
                <a:cubicBezTo>
                  <a:pt x="121439" y="105292"/>
                  <a:pt x="116673" y="107507"/>
                  <a:pt x="111712" y="109273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2" name="Text 29"/>
          <p:cNvSpPr/>
          <p:nvPr/>
        </p:nvSpPr>
        <p:spPr>
          <a:xfrm>
            <a:off x="3322599" y="5820903"/>
            <a:ext cx="502352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94051" y="6076065"/>
            <a:ext cx="5717243" cy="159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多源接入 · 预处理 · 向量数据库 · 关系数据库 · 缓存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744933" y="1959571"/>
            <a:ext cx="5127179" cy="1235945"/>
          </a:xfrm>
          <a:custGeom>
            <a:avLst/>
            <a:gdLst/>
            <a:ahLst/>
            <a:cxnLst/>
            <a:rect l="l" t="t" r="r" b="b"/>
            <a:pathLst>
              <a:path w="5127179" h="1235945">
                <a:moveTo>
                  <a:pt x="95687" y="0"/>
                </a:moveTo>
                <a:lnTo>
                  <a:pt x="5031492" y="0"/>
                </a:lnTo>
                <a:cubicBezTo>
                  <a:pt x="5084338" y="0"/>
                  <a:pt x="5127179" y="42840"/>
                  <a:pt x="5127179" y="95687"/>
                </a:cubicBezTo>
                <a:lnTo>
                  <a:pt x="5127179" y="1140258"/>
                </a:lnTo>
                <a:cubicBezTo>
                  <a:pt x="5127179" y="1193105"/>
                  <a:pt x="5084338" y="1235945"/>
                  <a:pt x="5031492" y="1235945"/>
                </a:cubicBezTo>
                <a:lnTo>
                  <a:pt x="95687" y="1235945"/>
                </a:lnTo>
                <a:cubicBezTo>
                  <a:pt x="42840" y="1235945"/>
                  <a:pt x="0" y="1193105"/>
                  <a:pt x="0" y="1140258"/>
                </a:cubicBezTo>
                <a:lnTo>
                  <a:pt x="0" y="95687"/>
                </a:lnTo>
                <a:cubicBezTo>
                  <a:pt x="0" y="42876"/>
                  <a:pt x="42876" y="0"/>
                  <a:pt x="95687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2700000" scaled="1"/>
          </a:gradFill>
          <a:effectLst>
            <a:outerShdw blurRad="119608" dist="79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968201" y="2158917"/>
            <a:ext cx="239215" cy="239215"/>
          </a:xfrm>
          <a:custGeom>
            <a:avLst/>
            <a:gdLst/>
            <a:ahLst/>
            <a:cxnLst/>
            <a:rect l="l" t="t" r="r" b="b"/>
            <a:pathLst>
              <a:path w="239215" h="239215">
                <a:moveTo>
                  <a:pt x="119608" y="239215"/>
                </a:moveTo>
                <a:cubicBezTo>
                  <a:pt x="185621" y="239215"/>
                  <a:pt x="239215" y="185621"/>
                  <a:pt x="239215" y="119608"/>
                </a:cubicBezTo>
                <a:cubicBezTo>
                  <a:pt x="239215" y="53594"/>
                  <a:pt x="185621" y="0"/>
                  <a:pt x="119608" y="0"/>
                </a:cubicBezTo>
                <a:cubicBezTo>
                  <a:pt x="53594" y="0"/>
                  <a:pt x="0" y="53594"/>
                  <a:pt x="0" y="119608"/>
                </a:cubicBezTo>
                <a:cubicBezTo>
                  <a:pt x="0" y="185621"/>
                  <a:pt x="53594" y="239215"/>
                  <a:pt x="119608" y="239215"/>
                </a:cubicBezTo>
                <a:close/>
                <a:moveTo>
                  <a:pt x="159041" y="99377"/>
                </a:moveTo>
                <a:lnTo>
                  <a:pt x="121663" y="159181"/>
                </a:lnTo>
                <a:cubicBezTo>
                  <a:pt x="119701" y="162311"/>
                  <a:pt x="116337" y="164274"/>
                  <a:pt x="112646" y="164460"/>
                </a:cubicBezTo>
                <a:cubicBezTo>
                  <a:pt x="108955" y="164647"/>
                  <a:pt x="105404" y="162965"/>
                  <a:pt x="103208" y="159975"/>
                </a:cubicBezTo>
                <a:lnTo>
                  <a:pt x="80782" y="130073"/>
                </a:lnTo>
                <a:cubicBezTo>
                  <a:pt x="77044" y="125121"/>
                  <a:pt x="78072" y="118112"/>
                  <a:pt x="83024" y="114375"/>
                </a:cubicBezTo>
                <a:cubicBezTo>
                  <a:pt x="87977" y="110637"/>
                  <a:pt x="94985" y="111665"/>
                  <a:pt x="98723" y="116617"/>
                </a:cubicBezTo>
                <a:lnTo>
                  <a:pt x="111338" y="133437"/>
                </a:lnTo>
                <a:lnTo>
                  <a:pt x="140025" y="87510"/>
                </a:lnTo>
                <a:cubicBezTo>
                  <a:pt x="143295" y="82277"/>
                  <a:pt x="150210" y="80642"/>
                  <a:pt x="155490" y="83959"/>
                </a:cubicBezTo>
                <a:cubicBezTo>
                  <a:pt x="160769" y="87276"/>
                  <a:pt x="162358" y="94144"/>
                  <a:pt x="159041" y="99424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6" name="Text 33"/>
          <p:cNvSpPr/>
          <p:nvPr/>
        </p:nvSpPr>
        <p:spPr>
          <a:xfrm>
            <a:off x="7331011" y="2150943"/>
            <a:ext cx="861175" cy="255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核心设计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936306" y="2533687"/>
            <a:ext cx="4816199" cy="4704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13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分层解耦架构</a:t>
            </a:r>
            <a:r>
              <a:rPr lang="en-US" sz="11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,各层级职责清晰,相互独立,保障系统的高扩展性与可维护性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760881" y="3319111"/>
            <a:ext cx="5111231" cy="749541"/>
          </a:xfrm>
          <a:custGeom>
            <a:avLst/>
            <a:gdLst/>
            <a:ahLst/>
            <a:cxnLst/>
            <a:rect l="l" t="t" r="r" b="b"/>
            <a:pathLst>
              <a:path w="5111231" h="749541">
                <a:moveTo>
                  <a:pt x="31895" y="0"/>
                </a:moveTo>
                <a:lnTo>
                  <a:pt x="5047437" y="0"/>
                </a:lnTo>
                <a:cubicBezTo>
                  <a:pt x="5082670" y="0"/>
                  <a:pt x="5111231" y="28561"/>
                  <a:pt x="5111231" y="63793"/>
                </a:cubicBezTo>
                <a:lnTo>
                  <a:pt x="5111231" y="685747"/>
                </a:lnTo>
                <a:cubicBezTo>
                  <a:pt x="5111231" y="720980"/>
                  <a:pt x="5082670" y="749541"/>
                  <a:pt x="5047437" y="749541"/>
                </a:cubicBezTo>
                <a:lnTo>
                  <a:pt x="31895" y="749541"/>
                </a:lnTo>
                <a:cubicBezTo>
                  <a:pt x="14280" y="749541"/>
                  <a:pt x="0" y="735261"/>
                  <a:pt x="0" y="71764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760881" y="3319111"/>
            <a:ext cx="31895" cy="749541"/>
          </a:xfrm>
          <a:custGeom>
            <a:avLst/>
            <a:gdLst/>
            <a:ahLst/>
            <a:cxnLst/>
            <a:rect l="l" t="t" r="r" b="b"/>
            <a:pathLst>
              <a:path w="31895" h="749541">
                <a:moveTo>
                  <a:pt x="31895" y="0"/>
                </a:moveTo>
                <a:lnTo>
                  <a:pt x="31895" y="0"/>
                </a:lnTo>
                <a:lnTo>
                  <a:pt x="31895" y="749541"/>
                </a:lnTo>
                <a:lnTo>
                  <a:pt x="31895" y="749541"/>
                </a:lnTo>
                <a:cubicBezTo>
                  <a:pt x="14280" y="749541"/>
                  <a:pt x="0" y="735261"/>
                  <a:pt x="0" y="71764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0" name="Shape 37"/>
          <p:cNvSpPr/>
          <p:nvPr/>
        </p:nvSpPr>
        <p:spPr>
          <a:xfrm>
            <a:off x="6924345" y="3486561"/>
            <a:ext cx="143529" cy="143529"/>
          </a:xfrm>
          <a:custGeom>
            <a:avLst/>
            <a:gdLst/>
            <a:ahLst/>
            <a:cxnLst/>
            <a:rect l="l" t="t" r="r" b="b"/>
            <a:pathLst>
              <a:path w="143529" h="143529">
                <a:moveTo>
                  <a:pt x="65177" y="1458"/>
                </a:moveTo>
                <a:cubicBezTo>
                  <a:pt x="69354" y="-477"/>
                  <a:pt x="74175" y="-477"/>
                  <a:pt x="78352" y="1458"/>
                </a:cubicBezTo>
                <a:lnTo>
                  <a:pt x="139633" y="29771"/>
                </a:lnTo>
                <a:cubicBezTo>
                  <a:pt x="142015" y="30864"/>
                  <a:pt x="143529" y="33247"/>
                  <a:pt x="143529" y="35882"/>
                </a:cubicBezTo>
                <a:cubicBezTo>
                  <a:pt x="143529" y="38517"/>
                  <a:pt x="142015" y="40900"/>
                  <a:pt x="139633" y="41993"/>
                </a:cubicBezTo>
                <a:lnTo>
                  <a:pt x="78352" y="70307"/>
                </a:lnTo>
                <a:cubicBezTo>
                  <a:pt x="74175" y="72241"/>
                  <a:pt x="69354" y="72241"/>
                  <a:pt x="65177" y="70307"/>
                </a:cubicBezTo>
                <a:lnTo>
                  <a:pt x="3897" y="41993"/>
                </a:lnTo>
                <a:cubicBezTo>
                  <a:pt x="1514" y="40872"/>
                  <a:pt x="0" y="38489"/>
                  <a:pt x="0" y="35882"/>
                </a:cubicBezTo>
                <a:cubicBezTo>
                  <a:pt x="0" y="33275"/>
                  <a:pt x="1514" y="30864"/>
                  <a:pt x="3897" y="29771"/>
                </a:cubicBezTo>
                <a:lnTo>
                  <a:pt x="65177" y="1458"/>
                </a:lnTo>
                <a:close/>
                <a:moveTo>
                  <a:pt x="13484" y="61224"/>
                </a:moveTo>
                <a:lnTo>
                  <a:pt x="59542" y="82501"/>
                </a:lnTo>
                <a:cubicBezTo>
                  <a:pt x="67307" y="86089"/>
                  <a:pt x="76250" y="86089"/>
                  <a:pt x="84015" y="82501"/>
                </a:cubicBezTo>
                <a:lnTo>
                  <a:pt x="130073" y="61224"/>
                </a:lnTo>
                <a:lnTo>
                  <a:pt x="139633" y="65653"/>
                </a:lnTo>
                <a:cubicBezTo>
                  <a:pt x="142015" y="66747"/>
                  <a:pt x="143529" y="69129"/>
                  <a:pt x="143529" y="71765"/>
                </a:cubicBezTo>
                <a:cubicBezTo>
                  <a:pt x="143529" y="74400"/>
                  <a:pt x="142015" y="76782"/>
                  <a:pt x="139633" y="77876"/>
                </a:cubicBezTo>
                <a:lnTo>
                  <a:pt x="78352" y="106189"/>
                </a:lnTo>
                <a:cubicBezTo>
                  <a:pt x="74175" y="108123"/>
                  <a:pt x="69354" y="108123"/>
                  <a:pt x="65177" y="106189"/>
                </a:cubicBezTo>
                <a:lnTo>
                  <a:pt x="3897" y="77876"/>
                </a:lnTo>
                <a:cubicBezTo>
                  <a:pt x="1514" y="76754"/>
                  <a:pt x="0" y="74372"/>
                  <a:pt x="0" y="71765"/>
                </a:cubicBezTo>
                <a:cubicBezTo>
                  <a:pt x="0" y="69157"/>
                  <a:pt x="1514" y="66747"/>
                  <a:pt x="3897" y="65653"/>
                </a:cubicBezTo>
                <a:lnTo>
                  <a:pt x="13456" y="61224"/>
                </a:lnTo>
                <a:close/>
                <a:moveTo>
                  <a:pt x="3897" y="101536"/>
                </a:moveTo>
                <a:lnTo>
                  <a:pt x="13456" y="97106"/>
                </a:lnTo>
                <a:lnTo>
                  <a:pt x="59514" y="118383"/>
                </a:lnTo>
                <a:cubicBezTo>
                  <a:pt x="67279" y="121972"/>
                  <a:pt x="76222" y="121972"/>
                  <a:pt x="83987" y="118383"/>
                </a:cubicBezTo>
                <a:lnTo>
                  <a:pt x="130045" y="97106"/>
                </a:lnTo>
                <a:lnTo>
                  <a:pt x="139604" y="101536"/>
                </a:lnTo>
                <a:cubicBezTo>
                  <a:pt x="141987" y="102629"/>
                  <a:pt x="143501" y="105012"/>
                  <a:pt x="143501" y="107647"/>
                </a:cubicBezTo>
                <a:cubicBezTo>
                  <a:pt x="143501" y="110282"/>
                  <a:pt x="141987" y="112665"/>
                  <a:pt x="139604" y="113758"/>
                </a:cubicBezTo>
                <a:lnTo>
                  <a:pt x="78324" y="142071"/>
                </a:lnTo>
                <a:cubicBezTo>
                  <a:pt x="74147" y="144006"/>
                  <a:pt x="69326" y="144006"/>
                  <a:pt x="65149" y="142071"/>
                </a:cubicBezTo>
                <a:lnTo>
                  <a:pt x="3897" y="113758"/>
                </a:lnTo>
                <a:cubicBezTo>
                  <a:pt x="1514" y="112637"/>
                  <a:pt x="0" y="110254"/>
                  <a:pt x="0" y="107647"/>
                </a:cubicBezTo>
                <a:cubicBezTo>
                  <a:pt x="0" y="105040"/>
                  <a:pt x="1514" y="102629"/>
                  <a:pt x="3897" y="10153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1" name="Text 38"/>
          <p:cNvSpPr/>
          <p:nvPr/>
        </p:nvSpPr>
        <p:spPr>
          <a:xfrm>
            <a:off x="7147612" y="3446692"/>
            <a:ext cx="645881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分层解耦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904410" y="3733750"/>
            <a:ext cx="4903911" cy="20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各层独立演进,互不影响,支持快速迭代与功能扩展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760881" y="4164337"/>
            <a:ext cx="5111231" cy="749541"/>
          </a:xfrm>
          <a:custGeom>
            <a:avLst/>
            <a:gdLst/>
            <a:ahLst/>
            <a:cxnLst/>
            <a:rect l="l" t="t" r="r" b="b"/>
            <a:pathLst>
              <a:path w="5111231" h="749541">
                <a:moveTo>
                  <a:pt x="31895" y="0"/>
                </a:moveTo>
                <a:lnTo>
                  <a:pt x="5047437" y="0"/>
                </a:lnTo>
                <a:cubicBezTo>
                  <a:pt x="5082670" y="0"/>
                  <a:pt x="5111231" y="28561"/>
                  <a:pt x="5111231" y="63793"/>
                </a:cubicBezTo>
                <a:lnTo>
                  <a:pt x="5111231" y="685747"/>
                </a:lnTo>
                <a:cubicBezTo>
                  <a:pt x="5111231" y="720980"/>
                  <a:pt x="5082670" y="749541"/>
                  <a:pt x="5047437" y="749541"/>
                </a:cubicBezTo>
                <a:lnTo>
                  <a:pt x="31895" y="749541"/>
                </a:lnTo>
                <a:cubicBezTo>
                  <a:pt x="14280" y="749541"/>
                  <a:pt x="0" y="735261"/>
                  <a:pt x="0" y="71764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760881" y="4164337"/>
            <a:ext cx="31895" cy="749541"/>
          </a:xfrm>
          <a:custGeom>
            <a:avLst/>
            <a:gdLst/>
            <a:ahLst/>
            <a:cxnLst/>
            <a:rect l="l" t="t" r="r" b="b"/>
            <a:pathLst>
              <a:path w="31895" h="749541">
                <a:moveTo>
                  <a:pt x="31895" y="0"/>
                </a:moveTo>
                <a:lnTo>
                  <a:pt x="31895" y="0"/>
                </a:lnTo>
                <a:lnTo>
                  <a:pt x="31895" y="749541"/>
                </a:lnTo>
                <a:lnTo>
                  <a:pt x="31895" y="749541"/>
                </a:lnTo>
                <a:cubicBezTo>
                  <a:pt x="14280" y="749541"/>
                  <a:pt x="0" y="735261"/>
                  <a:pt x="0" y="71764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5" name="Shape 42"/>
          <p:cNvSpPr/>
          <p:nvPr/>
        </p:nvSpPr>
        <p:spPr>
          <a:xfrm>
            <a:off x="6933315" y="4331788"/>
            <a:ext cx="125588" cy="143529"/>
          </a:xfrm>
          <a:custGeom>
            <a:avLst/>
            <a:gdLst/>
            <a:ahLst/>
            <a:cxnLst/>
            <a:rect l="l" t="t" r="r" b="b"/>
            <a:pathLst>
              <a:path w="125588" h="143529">
                <a:moveTo>
                  <a:pt x="47095" y="8971"/>
                </a:moveTo>
                <a:lnTo>
                  <a:pt x="6728" y="8971"/>
                </a:lnTo>
                <a:cubicBezTo>
                  <a:pt x="3000" y="8971"/>
                  <a:pt x="0" y="11970"/>
                  <a:pt x="0" y="15698"/>
                </a:cubicBezTo>
                <a:lnTo>
                  <a:pt x="0" y="56066"/>
                </a:lnTo>
                <a:cubicBezTo>
                  <a:pt x="0" y="58785"/>
                  <a:pt x="1626" y="61252"/>
                  <a:pt x="4149" y="62289"/>
                </a:cubicBezTo>
                <a:cubicBezTo>
                  <a:pt x="6672" y="63327"/>
                  <a:pt x="9559" y="62738"/>
                  <a:pt x="11494" y="60832"/>
                </a:cubicBezTo>
                <a:lnTo>
                  <a:pt x="22707" y="49618"/>
                </a:lnTo>
                <a:lnTo>
                  <a:pt x="44853" y="71765"/>
                </a:lnTo>
                <a:lnTo>
                  <a:pt x="22707" y="93911"/>
                </a:lnTo>
                <a:lnTo>
                  <a:pt x="11494" y="82697"/>
                </a:lnTo>
                <a:cubicBezTo>
                  <a:pt x="9559" y="80763"/>
                  <a:pt x="6672" y="80202"/>
                  <a:pt x="4149" y="81240"/>
                </a:cubicBezTo>
                <a:cubicBezTo>
                  <a:pt x="1626" y="82277"/>
                  <a:pt x="0" y="84744"/>
                  <a:pt x="0" y="87463"/>
                </a:cubicBezTo>
                <a:lnTo>
                  <a:pt x="0" y="127831"/>
                </a:lnTo>
                <a:cubicBezTo>
                  <a:pt x="0" y="131559"/>
                  <a:pt x="3000" y="134559"/>
                  <a:pt x="6728" y="134559"/>
                </a:cubicBezTo>
                <a:lnTo>
                  <a:pt x="47095" y="134559"/>
                </a:lnTo>
                <a:cubicBezTo>
                  <a:pt x="49815" y="134559"/>
                  <a:pt x="52282" y="132933"/>
                  <a:pt x="53319" y="130410"/>
                </a:cubicBezTo>
                <a:cubicBezTo>
                  <a:pt x="54356" y="127887"/>
                  <a:pt x="53795" y="124999"/>
                  <a:pt x="51861" y="123065"/>
                </a:cubicBezTo>
                <a:lnTo>
                  <a:pt x="40648" y="111852"/>
                </a:lnTo>
                <a:lnTo>
                  <a:pt x="62794" y="89706"/>
                </a:lnTo>
                <a:lnTo>
                  <a:pt x="84940" y="111852"/>
                </a:lnTo>
                <a:lnTo>
                  <a:pt x="73727" y="123065"/>
                </a:lnTo>
                <a:cubicBezTo>
                  <a:pt x="71793" y="124999"/>
                  <a:pt x="71232" y="127887"/>
                  <a:pt x="72269" y="130410"/>
                </a:cubicBezTo>
                <a:cubicBezTo>
                  <a:pt x="73306" y="132933"/>
                  <a:pt x="75773" y="134559"/>
                  <a:pt x="78492" y="134559"/>
                </a:cubicBezTo>
                <a:lnTo>
                  <a:pt x="118860" y="134559"/>
                </a:lnTo>
                <a:cubicBezTo>
                  <a:pt x="122588" y="134559"/>
                  <a:pt x="125588" y="131559"/>
                  <a:pt x="125588" y="127831"/>
                </a:cubicBezTo>
                <a:lnTo>
                  <a:pt x="125588" y="87463"/>
                </a:lnTo>
                <a:cubicBezTo>
                  <a:pt x="125588" y="84744"/>
                  <a:pt x="123962" y="82277"/>
                  <a:pt x="121439" y="81240"/>
                </a:cubicBezTo>
                <a:cubicBezTo>
                  <a:pt x="118916" y="80202"/>
                  <a:pt x="116029" y="80763"/>
                  <a:pt x="114094" y="82697"/>
                </a:cubicBezTo>
                <a:lnTo>
                  <a:pt x="102881" y="93911"/>
                </a:lnTo>
                <a:lnTo>
                  <a:pt x="80735" y="71765"/>
                </a:lnTo>
                <a:lnTo>
                  <a:pt x="102881" y="49618"/>
                </a:lnTo>
                <a:lnTo>
                  <a:pt x="114094" y="60832"/>
                </a:lnTo>
                <a:cubicBezTo>
                  <a:pt x="116029" y="62766"/>
                  <a:pt x="118916" y="63327"/>
                  <a:pt x="121439" y="62289"/>
                </a:cubicBezTo>
                <a:cubicBezTo>
                  <a:pt x="123962" y="61252"/>
                  <a:pt x="125588" y="58785"/>
                  <a:pt x="125588" y="56066"/>
                </a:cubicBezTo>
                <a:lnTo>
                  <a:pt x="125588" y="15698"/>
                </a:lnTo>
                <a:cubicBezTo>
                  <a:pt x="125588" y="11970"/>
                  <a:pt x="122588" y="8971"/>
                  <a:pt x="118860" y="8971"/>
                </a:cubicBezTo>
                <a:lnTo>
                  <a:pt x="78492" y="8971"/>
                </a:lnTo>
                <a:cubicBezTo>
                  <a:pt x="75773" y="8971"/>
                  <a:pt x="73306" y="10596"/>
                  <a:pt x="72269" y="13119"/>
                </a:cubicBezTo>
                <a:cubicBezTo>
                  <a:pt x="71232" y="15642"/>
                  <a:pt x="71821" y="18530"/>
                  <a:pt x="73727" y="20464"/>
                </a:cubicBezTo>
                <a:lnTo>
                  <a:pt x="84940" y="31677"/>
                </a:lnTo>
                <a:lnTo>
                  <a:pt x="62794" y="53823"/>
                </a:lnTo>
                <a:lnTo>
                  <a:pt x="40648" y="31677"/>
                </a:lnTo>
                <a:lnTo>
                  <a:pt x="51861" y="20464"/>
                </a:lnTo>
                <a:cubicBezTo>
                  <a:pt x="53795" y="18530"/>
                  <a:pt x="54356" y="15642"/>
                  <a:pt x="53319" y="13119"/>
                </a:cubicBezTo>
                <a:cubicBezTo>
                  <a:pt x="52282" y="10596"/>
                  <a:pt x="49815" y="8971"/>
                  <a:pt x="47095" y="8971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6" name="Text 43"/>
          <p:cNvSpPr/>
          <p:nvPr/>
        </p:nvSpPr>
        <p:spPr>
          <a:xfrm>
            <a:off x="7147612" y="4291919"/>
            <a:ext cx="645881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高扩展性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904410" y="4578977"/>
            <a:ext cx="4903911" cy="20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模块化设计,支持插件式扩展,快速适配多场景需求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760881" y="5009564"/>
            <a:ext cx="5111231" cy="749541"/>
          </a:xfrm>
          <a:custGeom>
            <a:avLst/>
            <a:gdLst/>
            <a:ahLst/>
            <a:cxnLst/>
            <a:rect l="l" t="t" r="r" b="b"/>
            <a:pathLst>
              <a:path w="5111231" h="749541">
                <a:moveTo>
                  <a:pt x="31895" y="0"/>
                </a:moveTo>
                <a:lnTo>
                  <a:pt x="5047437" y="0"/>
                </a:lnTo>
                <a:cubicBezTo>
                  <a:pt x="5082670" y="0"/>
                  <a:pt x="5111231" y="28561"/>
                  <a:pt x="5111231" y="63793"/>
                </a:cubicBezTo>
                <a:lnTo>
                  <a:pt x="5111231" y="685747"/>
                </a:lnTo>
                <a:cubicBezTo>
                  <a:pt x="5111231" y="720980"/>
                  <a:pt x="5082670" y="749541"/>
                  <a:pt x="5047437" y="749541"/>
                </a:cubicBezTo>
                <a:lnTo>
                  <a:pt x="31895" y="749541"/>
                </a:lnTo>
                <a:cubicBezTo>
                  <a:pt x="14280" y="749541"/>
                  <a:pt x="0" y="735261"/>
                  <a:pt x="0" y="71764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3922" dist="79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760881" y="5009564"/>
            <a:ext cx="31895" cy="749541"/>
          </a:xfrm>
          <a:custGeom>
            <a:avLst/>
            <a:gdLst/>
            <a:ahLst/>
            <a:cxnLst/>
            <a:rect l="l" t="t" r="r" b="b"/>
            <a:pathLst>
              <a:path w="31895" h="749541">
                <a:moveTo>
                  <a:pt x="31895" y="0"/>
                </a:moveTo>
                <a:lnTo>
                  <a:pt x="31895" y="0"/>
                </a:lnTo>
                <a:lnTo>
                  <a:pt x="31895" y="749541"/>
                </a:lnTo>
                <a:lnTo>
                  <a:pt x="31895" y="749541"/>
                </a:lnTo>
                <a:cubicBezTo>
                  <a:pt x="14280" y="749541"/>
                  <a:pt x="0" y="735261"/>
                  <a:pt x="0" y="717646"/>
                </a:cubicBezTo>
                <a:lnTo>
                  <a:pt x="0" y="31895"/>
                </a:lnTo>
                <a:cubicBezTo>
                  <a:pt x="0" y="14280"/>
                  <a:pt x="14280" y="0"/>
                  <a:pt x="3189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0" name="Shape 47"/>
          <p:cNvSpPr/>
          <p:nvPr/>
        </p:nvSpPr>
        <p:spPr>
          <a:xfrm>
            <a:off x="6915374" y="5177015"/>
            <a:ext cx="161470" cy="143529"/>
          </a:xfrm>
          <a:custGeom>
            <a:avLst/>
            <a:gdLst/>
            <a:ahLst/>
            <a:cxnLst/>
            <a:rect l="l" t="t" r="r" b="b"/>
            <a:pathLst>
              <a:path w="161470" h="143529">
                <a:moveTo>
                  <a:pt x="62822" y="27220"/>
                </a:moveTo>
                <a:lnTo>
                  <a:pt x="62822" y="41124"/>
                </a:lnTo>
                <a:lnTo>
                  <a:pt x="62962" y="41265"/>
                </a:lnTo>
                <a:cubicBezTo>
                  <a:pt x="64784" y="18165"/>
                  <a:pt x="84099" y="0"/>
                  <a:pt x="107675" y="0"/>
                </a:cubicBezTo>
                <a:cubicBezTo>
                  <a:pt x="113309" y="0"/>
                  <a:pt x="118720" y="1037"/>
                  <a:pt x="123682" y="2943"/>
                </a:cubicBezTo>
                <a:cubicBezTo>
                  <a:pt x="126485" y="4009"/>
                  <a:pt x="126990" y="7569"/>
                  <a:pt x="124887" y="9699"/>
                </a:cubicBezTo>
                <a:lnTo>
                  <a:pt x="100022" y="34565"/>
                </a:lnTo>
                <a:cubicBezTo>
                  <a:pt x="99181" y="35406"/>
                  <a:pt x="98704" y="36555"/>
                  <a:pt x="98704" y="37732"/>
                </a:cubicBezTo>
                <a:lnTo>
                  <a:pt x="98704" y="49338"/>
                </a:lnTo>
                <a:cubicBezTo>
                  <a:pt x="98704" y="51805"/>
                  <a:pt x="100723" y="53823"/>
                  <a:pt x="103190" y="53823"/>
                </a:cubicBezTo>
                <a:lnTo>
                  <a:pt x="114795" y="53823"/>
                </a:lnTo>
                <a:cubicBezTo>
                  <a:pt x="115973" y="53823"/>
                  <a:pt x="117122" y="53347"/>
                  <a:pt x="117963" y="52506"/>
                </a:cubicBezTo>
                <a:lnTo>
                  <a:pt x="142828" y="27641"/>
                </a:lnTo>
                <a:cubicBezTo>
                  <a:pt x="144959" y="25510"/>
                  <a:pt x="148519" y="26043"/>
                  <a:pt x="149584" y="28846"/>
                </a:cubicBezTo>
                <a:cubicBezTo>
                  <a:pt x="151490" y="33808"/>
                  <a:pt x="152528" y="39218"/>
                  <a:pt x="152528" y="44853"/>
                </a:cubicBezTo>
                <a:cubicBezTo>
                  <a:pt x="152528" y="61841"/>
                  <a:pt x="143081" y="76642"/>
                  <a:pt x="129120" y="84239"/>
                </a:cubicBezTo>
                <a:lnTo>
                  <a:pt x="151967" y="107086"/>
                </a:lnTo>
                <a:cubicBezTo>
                  <a:pt x="157209" y="112328"/>
                  <a:pt x="157209" y="120850"/>
                  <a:pt x="151967" y="126121"/>
                </a:cubicBezTo>
                <a:lnTo>
                  <a:pt x="135119" y="142968"/>
                </a:lnTo>
                <a:cubicBezTo>
                  <a:pt x="129877" y="148211"/>
                  <a:pt x="121355" y="148211"/>
                  <a:pt x="116085" y="142968"/>
                </a:cubicBezTo>
                <a:lnTo>
                  <a:pt x="80763" y="107647"/>
                </a:lnTo>
                <a:cubicBezTo>
                  <a:pt x="73082" y="99966"/>
                  <a:pt x="71344" y="88612"/>
                  <a:pt x="75577" y="79249"/>
                </a:cubicBezTo>
                <a:lnTo>
                  <a:pt x="50151" y="53823"/>
                </a:lnTo>
                <a:lnTo>
                  <a:pt x="36247" y="53823"/>
                </a:lnTo>
                <a:cubicBezTo>
                  <a:pt x="33247" y="53823"/>
                  <a:pt x="30444" y="52338"/>
                  <a:pt x="28790" y="49843"/>
                </a:cubicBezTo>
                <a:lnTo>
                  <a:pt x="6560" y="16511"/>
                </a:lnTo>
                <a:cubicBezTo>
                  <a:pt x="5382" y="14745"/>
                  <a:pt x="5607" y="12363"/>
                  <a:pt x="7120" y="10849"/>
                </a:cubicBezTo>
                <a:lnTo>
                  <a:pt x="19847" y="-1878"/>
                </a:lnTo>
                <a:cubicBezTo>
                  <a:pt x="21361" y="-3392"/>
                  <a:pt x="23716" y="-3616"/>
                  <a:pt x="25510" y="-2439"/>
                </a:cubicBezTo>
                <a:lnTo>
                  <a:pt x="58841" y="19763"/>
                </a:lnTo>
                <a:cubicBezTo>
                  <a:pt x="61336" y="21417"/>
                  <a:pt x="62822" y="24221"/>
                  <a:pt x="62822" y="27220"/>
                </a:cubicBezTo>
                <a:close/>
                <a:moveTo>
                  <a:pt x="60439" y="83146"/>
                </a:moveTo>
                <a:cubicBezTo>
                  <a:pt x="58673" y="93518"/>
                  <a:pt x="61112" y="104479"/>
                  <a:pt x="67840" y="113253"/>
                </a:cubicBezTo>
                <a:lnTo>
                  <a:pt x="41209" y="139857"/>
                </a:lnTo>
                <a:cubicBezTo>
                  <a:pt x="33331" y="147734"/>
                  <a:pt x="20548" y="147734"/>
                  <a:pt x="12671" y="139857"/>
                </a:cubicBezTo>
                <a:cubicBezTo>
                  <a:pt x="4794" y="131979"/>
                  <a:pt x="4794" y="119196"/>
                  <a:pt x="12671" y="111319"/>
                </a:cubicBezTo>
                <a:lnTo>
                  <a:pt x="50628" y="73362"/>
                </a:lnTo>
                <a:lnTo>
                  <a:pt x="60439" y="83174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1" name="Text 48"/>
          <p:cNvSpPr/>
          <p:nvPr/>
        </p:nvSpPr>
        <p:spPr>
          <a:xfrm>
            <a:off x="7147612" y="5137146"/>
            <a:ext cx="645881" cy="22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可维护性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904410" y="5424204"/>
            <a:ext cx="4903911" cy="20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清晰的层级边界,降低维护成本,提升开发效率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499" y="348094"/>
            <a:ext cx="1958030" cy="278475"/>
          </a:xfrm>
          <a:custGeom>
            <a:avLst/>
            <a:gdLst/>
            <a:ahLst/>
            <a:cxnLst/>
            <a:rect l="l" t="t" r="r" b="b"/>
            <a:pathLst>
              <a:path w="1958030" h="278475">
                <a:moveTo>
                  <a:pt x="0" y="0"/>
                </a:moveTo>
                <a:lnTo>
                  <a:pt x="1958030" y="0"/>
                </a:lnTo>
                <a:lnTo>
                  <a:pt x="1958030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65499" y="348094"/>
            <a:ext cx="34809" cy="278475"/>
          </a:xfrm>
          <a:custGeom>
            <a:avLst/>
            <a:gdLst/>
            <a:ahLst/>
            <a:cxnLst/>
            <a:rect l="l" t="t" r="r" b="b"/>
            <a:pathLst>
              <a:path w="34809" h="278475">
                <a:moveTo>
                  <a:pt x="0" y="0"/>
                </a:moveTo>
                <a:lnTo>
                  <a:pt x="34809" y="0"/>
                </a:lnTo>
                <a:lnTo>
                  <a:pt x="34809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21970" y="396240"/>
            <a:ext cx="2121535" cy="208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kern="0" spc="5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DETAIL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8094" y="696188"/>
            <a:ext cx="11652454" cy="348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系统架构：数据层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8094" y="1113901"/>
            <a:ext cx="696188" cy="34809"/>
          </a:xfrm>
          <a:custGeom>
            <a:avLst/>
            <a:gdLst/>
            <a:ahLst/>
            <a:cxnLst/>
            <a:rect l="l" t="t" r="r" b="b"/>
            <a:pathLst>
              <a:path w="696188" h="34809">
                <a:moveTo>
                  <a:pt x="0" y="0"/>
                </a:moveTo>
                <a:lnTo>
                  <a:pt x="696188" y="0"/>
                </a:lnTo>
                <a:lnTo>
                  <a:pt x="696188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65499" y="1322758"/>
            <a:ext cx="11478407" cy="522141"/>
          </a:xfrm>
          <a:custGeom>
            <a:avLst/>
            <a:gdLst/>
            <a:ahLst/>
            <a:cxnLst/>
            <a:rect l="l" t="t" r="r" b="b"/>
            <a:pathLst>
              <a:path w="11478407" h="522141">
                <a:moveTo>
                  <a:pt x="34809" y="0"/>
                </a:moveTo>
                <a:lnTo>
                  <a:pt x="11408790" y="0"/>
                </a:lnTo>
                <a:cubicBezTo>
                  <a:pt x="11447238" y="0"/>
                  <a:pt x="11478407" y="31169"/>
                  <a:pt x="11478407" y="69617"/>
                </a:cubicBezTo>
                <a:lnTo>
                  <a:pt x="11478407" y="452524"/>
                </a:lnTo>
                <a:cubicBezTo>
                  <a:pt x="11478407" y="490973"/>
                  <a:pt x="11447238" y="522141"/>
                  <a:pt x="11408790" y="522141"/>
                </a:cubicBezTo>
                <a:lnTo>
                  <a:pt x="34809" y="522141"/>
                </a:lnTo>
                <a:cubicBezTo>
                  <a:pt x="15598" y="522141"/>
                  <a:pt x="0" y="506544"/>
                  <a:pt x="0" y="487332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>
                  <a:alpha val="10000"/>
                </a:srgbClr>
              </a:gs>
              <a:gs pos="100000">
                <a:srgbClr val="00E5FF">
                  <a:alpha val="5000"/>
                </a:srgbClr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365499" y="1322758"/>
            <a:ext cx="34809" cy="522141"/>
          </a:xfrm>
          <a:custGeom>
            <a:avLst/>
            <a:gdLst/>
            <a:ahLst/>
            <a:cxnLst/>
            <a:rect l="l" t="t" r="r" b="b"/>
            <a:pathLst>
              <a:path w="34809" h="522141">
                <a:moveTo>
                  <a:pt x="34809" y="0"/>
                </a:moveTo>
                <a:lnTo>
                  <a:pt x="34809" y="0"/>
                </a:lnTo>
                <a:lnTo>
                  <a:pt x="34809" y="522141"/>
                </a:lnTo>
                <a:lnTo>
                  <a:pt x="34809" y="522141"/>
                </a:lnTo>
                <a:cubicBezTo>
                  <a:pt x="15598" y="522141"/>
                  <a:pt x="0" y="506544"/>
                  <a:pt x="0" y="487332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561302" y="1479400"/>
            <a:ext cx="182749" cy="208857"/>
          </a:xfrm>
          <a:custGeom>
            <a:avLst/>
            <a:gdLst/>
            <a:ahLst/>
            <a:cxnLst/>
            <a:rect l="l" t="t" r="r" b="b"/>
            <a:pathLst>
              <a:path w="182749" h="208857">
                <a:moveTo>
                  <a:pt x="182749" y="83951"/>
                </a:moveTo>
                <a:cubicBezTo>
                  <a:pt x="176712" y="87948"/>
                  <a:pt x="169778" y="91171"/>
                  <a:pt x="162557" y="93741"/>
                </a:cubicBezTo>
                <a:cubicBezTo>
                  <a:pt x="143385" y="100594"/>
                  <a:pt x="118216" y="104428"/>
                  <a:pt x="91375" y="104428"/>
                </a:cubicBezTo>
                <a:cubicBezTo>
                  <a:pt x="64533" y="104428"/>
                  <a:pt x="39324" y="100553"/>
                  <a:pt x="20192" y="93741"/>
                </a:cubicBezTo>
                <a:cubicBezTo>
                  <a:pt x="13013" y="91171"/>
                  <a:pt x="6037" y="87948"/>
                  <a:pt x="0" y="83951"/>
                </a:cubicBezTo>
                <a:lnTo>
                  <a:pt x="0" y="117482"/>
                </a:lnTo>
                <a:cubicBezTo>
                  <a:pt x="0" y="135512"/>
                  <a:pt x="40915" y="150116"/>
                  <a:pt x="91375" y="150116"/>
                </a:cubicBezTo>
                <a:cubicBezTo>
                  <a:pt x="141835" y="150116"/>
                  <a:pt x="182749" y="135512"/>
                  <a:pt x="182749" y="117482"/>
                </a:cubicBezTo>
                <a:lnTo>
                  <a:pt x="182749" y="83951"/>
                </a:lnTo>
                <a:close/>
                <a:moveTo>
                  <a:pt x="182749" y="52214"/>
                </a:moveTo>
                <a:lnTo>
                  <a:pt x="182749" y="32634"/>
                </a:lnTo>
                <a:cubicBezTo>
                  <a:pt x="182749" y="14604"/>
                  <a:pt x="141835" y="0"/>
                  <a:pt x="91375" y="0"/>
                </a:cubicBezTo>
                <a:cubicBezTo>
                  <a:pt x="40915" y="0"/>
                  <a:pt x="0" y="14604"/>
                  <a:pt x="0" y="32634"/>
                </a:cubicBezTo>
                <a:lnTo>
                  <a:pt x="0" y="52214"/>
                </a:lnTo>
                <a:cubicBezTo>
                  <a:pt x="0" y="70244"/>
                  <a:pt x="40915" y="84848"/>
                  <a:pt x="91375" y="84848"/>
                </a:cubicBezTo>
                <a:cubicBezTo>
                  <a:pt x="141835" y="84848"/>
                  <a:pt x="182749" y="70244"/>
                  <a:pt x="182749" y="52214"/>
                </a:cubicBezTo>
                <a:close/>
                <a:moveTo>
                  <a:pt x="162557" y="159008"/>
                </a:moveTo>
                <a:cubicBezTo>
                  <a:pt x="143426" y="165821"/>
                  <a:pt x="118257" y="169696"/>
                  <a:pt x="91375" y="169696"/>
                </a:cubicBezTo>
                <a:cubicBezTo>
                  <a:pt x="64493" y="169696"/>
                  <a:pt x="39324" y="165821"/>
                  <a:pt x="20192" y="159008"/>
                </a:cubicBezTo>
                <a:cubicBezTo>
                  <a:pt x="13013" y="156438"/>
                  <a:pt x="6037" y="153216"/>
                  <a:pt x="0" y="149218"/>
                </a:cubicBezTo>
                <a:lnTo>
                  <a:pt x="0" y="176223"/>
                </a:lnTo>
                <a:cubicBezTo>
                  <a:pt x="0" y="194253"/>
                  <a:pt x="40915" y="208857"/>
                  <a:pt x="91375" y="208857"/>
                </a:cubicBezTo>
                <a:cubicBezTo>
                  <a:pt x="141835" y="208857"/>
                  <a:pt x="182749" y="194253"/>
                  <a:pt x="182749" y="176223"/>
                </a:cubicBezTo>
                <a:lnTo>
                  <a:pt x="182749" y="149218"/>
                </a:lnTo>
                <a:cubicBezTo>
                  <a:pt x="176712" y="153216"/>
                  <a:pt x="169778" y="156438"/>
                  <a:pt x="162557" y="15900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Text 8"/>
          <p:cNvSpPr/>
          <p:nvPr/>
        </p:nvSpPr>
        <p:spPr>
          <a:xfrm>
            <a:off x="887640" y="1461996"/>
            <a:ext cx="4742784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核心职责:</a:t>
            </a:r>
            <a:r>
              <a:rPr lang="en-US" sz="123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多源数据接入、预处理与存储,为上层提供高质量数据支撑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8094" y="2001542"/>
            <a:ext cx="3742013" cy="3219872"/>
          </a:xfrm>
          <a:custGeom>
            <a:avLst/>
            <a:gdLst/>
            <a:ahLst/>
            <a:cxnLst/>
            <a:rect l="l" t="t" r="r" b="b"/>
            <a:pathLst>
              <a:path w="3742013" h="3219872">
                <a:moveTo>
                  <a:pt x="34809" y="0"/>
                </a:moveTo>
                <a:lnTo>
                  <a:pt x="3707203" y="0"/>
                </a:lnTo>
                <a:cubicBezTo>
                  <a:pt x="3726428" y="0"/>
                  <a:pt x="3742013" y="15585"/>
                  <a:pt x="3742013" y="34809"/>
                </a:cubicBezTo>
                <a:lnTo>
                  <a:pt x="3742013" y="3115451"/>
                </a:lnTo>
                <a:cubicBezTo>
                  <a:pt x="3742013" y="3173121"/>
                  <a:pt x="3695262" y="3219872"/>
                  <a:pt x="3637592" y="3219872"/>
                </a:cubicBezTo>
                <a:lnTo>
                  <a:pt x="104420" y="3219872"/>
                </a:lnTo>
                <a:cubicBezTo>
                  <a:pt x="46751" y="3219872"/>
                  <a:pt x="0" y="3173121"/>
                  <a:pt x="0" y="3115451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8094" y="2001542"/>
            <a:ext cx="3742013" cy="34809"/>
          </a:xfrm>
          <a:custGeom>
            <a:avLst/>
            <a:gdLst/>
            <a:ahLst/>
            <a:cxnLst/>
            <a:rect l="l" t="t" r="r" b="b"/>
            <a:pathLst>
              <a:path w="3742013" h="34809">
                <a:moveTo>
                  <a:pt x="34809" y="0"/>
                </a:moveTo>
                <a:lnTo>
                  <a:pt x="3707203" y="0"/>
                </a:lnTo>
                <a:cubicBezTo>
                  <a:pt x="3726428" y="0"/>
                  <a:pt x="3742013" y="15585"/>
                  <a:pt x="3742013" y="34809"/>
                </a:cubicBezTo>
                <a:lnTo>
                  <a:pt x="3742013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4" name="Shape 11"/>
          <p:cNvSpPr/>
          <p:nvPr/>
        </p:nvSpPr>
        <p:spPr>
          <a:xfrm>
            <a:off x="522141" y="2192994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654852" y="2314827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43512" y="-10878"/>
                </a:moveTo>
                <a:cubicBezTo>
                  <a:pt x="49529" y="-10878"/>
                  <a:pt x="54390" y="-6017"/>
                  <a:pt x="54390" y="0"/>
                </a:cubicBezTo>
                <a:lnTo>
                  <a:pt x="54390" y="32634"/>
                </a:lnTo>
                <a:lnTo>
                  <a:pt x="97901" y="32634"/>
                </a:lnTo>
                <a:lnTo>
                  <a:pt x="97901" y="0"/>
                </a:lnTo>
                <a:cubicBezTo>
                  <a:pt x="97901" y="-6017"/>
                  <a:pt x="102763" y="-10878"/>
                  <a:pt x="108779" y="-10878"/>
                </a:cubicBezTo>
                <a:cubicBezTo>
                  <a:pt x="114796" y="-10878"/>
                  <a:pt x="119657" y="-6017"/>
                  <a:pt x="119657" y="0"/>
                </a:cubicBezTo>
                <a:lnTo>
                  <a:pt x="119657" y="32634"/>
                </a:lnTo>
                <a:lnTo>
                  <a:pt x="141413" y="32634"/>
                </a:lnTo>
                <a:cubicBezTo>
                  <a:pt x="147430" y="32634"/>
                  <a:pt x="152291" y="37495"/>
                  <a:pt x="152291" y="43512"/>
                </a:cubicBezTo>
                <a:cubicBezTo>
                  <a:pt x="152291" y="49529"/>
                  <a:pt x="147430" y="54390"/>
                  <a:pt x="141413" y="54390"/>
                </a:cubicBezTo>
                <a:lnTo>
                  <a:pt x="141413" y="76146"/>
                </a:lnTo>
                <a:cubicBezTo>
                  <a:pt x="141413" y="108474"/>
                  <a:pt x="117890" y="135328"/>
                  <a:pt x="87024" y="140495"/>
                </a:cubicBezTo>
                <a:lnTo>
                  <a:pt x="87024" y="163169"/>
                </a:lnTo>
                <a:cubicBezTo>
                  <a:pt x="87024" y="169186"/>
                  <a:pt x="82162" y="174047"/>
                  <a:pt x="76146" y="174047"/>
                </a:cubicBezTo>
                <a:cubicBezTo>
                  <a:pt x="70129" y="174047"/>
                  <a:pt x="65268" y="169186"/>
                  <a:pt x="65268" y="163169"/>
                </a:cubicBezTo>
                <a:lnTo>
                  <a:pt x="65268" y="140495"/>
                </a:lnTo>
                <a:cubicBezTo>
                  <a:pt x="34401" y="135328"/>
                  <a:pt x="10878" y="108474"/>
                  <a:pt x="10878" y="76146"/>
                </a:cubicBezTo>
                <a:lnTo>
                  <a:pt x="10878" y="54390"/>
                </a:lnTo>
                <a:cubicBezTo>
                  <a:pt x="4861" y="54390"/>
                  <a:pt x="0" y="49529"/>
                  <a:pt x="0" y="43512"/>
                </a:cubicBezTo>
                <a:cubicBezTo>
                  <a:pt x="0" y="37495"/>
                  <a:pt x="4861" y="32634"/>
                  <a:pt x="10878" y="32634"/>
                </a:cubicBezTo>
                <a:lnTo>
                  <a:pt x="32634" y="32634"/>
                </a:lnTo>
                <a:lnTo>
                  <a:pt x="32634" y="0"/>
                </a:lnTo>
                <a:cubicBezTo>
                  <a:pt x="32634" y="-6017"/>
                  <a:pt x="37495" y="-10878"/>
                  <a:pt x="43512" y="-1087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6" name="Text 13"/>
          <p:cNvSpPr/>
          <p:nvPr/>
        </p:nvSpPr>
        <p:spPr>
          <a:xfrm>
            <a:off x="1044283" y="2280017"/>
            <a:ext cx="1131306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多源数据接入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6951" y="2784754"/>
            <a:ext cx="104428" cy="139238"/>
          </a:xfrm>
          <a:custGeom>
            <a:avLst/>
            <a:gdLst/>
            <a:ahLst/>
            <a:cxnLst/>
            <a:rect l="l" t="t" r="r" b="b"/>
            <a:pathLst>
              <a:path w="104428" h="139238">
                <a:moveTo>
                  <a:pt x="0" y="17405"/>
                </a:moveTo>
                <a:cubicBezTo>
                  <a:pt x="0" y="7805"/>
                  <a:pt x="7805" y="0"/>
                  <a:pt x="17405" y="0"/>
                </a:cubicBezTo>
                <a:lnTo>
                  <a:pt x="58061" y="0"/>
                </a:lnTo>
                <a:cubicBezTo>
                  <a:pt x="62684" y="0"/>
                  <a:pt x="67117" y="1822"/>
                  <a:pt x="70380" y="5085"/>
                </a:cubicBezTo>
                <a:lnTo>
                  <a:pt x="99343" y="34075"/>
                </a:lnTo>
                <a:cubicBezTo>
                  <a:pt x="102606" y="37339"/>
                  <a:pt x="104428" y="41771"/>
                  <a:pt x="104428" y="46394"/>
                </a:cubicBezTo>
                <a:lnTo>
                  <a:pt x="104428" y="121833"/>
                </a:lnTo>
                <a:cubicBezTo>
                  <a:pt x="104428" y="131433"/>
                  <a:pt x="96623" y="139238"/>
                  <a:pt x="87024" y="139238"/>
                </a:cubicBezTo>
                <a:lnTo>
                  <a:pt x="17405" y="139238"/>
                </a:lnTo>
                <a:cubicBezTo>
                  <a:pt x="7805" y="139238"/>
                  <a:pt x="0" y="131433"/>
                  <a:pt x="0" y="121833"/>
                </a:cubicBezTo>
                <a:lnTo>
                  <a:pt x="0" y="17405"/>
                </a:lnTo>
                <a:close/>
                <a:moveTo>
                  <a:pt x="56565" y="15909"/>
                </a:moveTo>
                <a:lnTo>
                  <a:pt x="56565" y="41336"/>
                </a:lnTo>
                <a:cubicBezTo>
                  <a:pt x="56565" y="44953"/>
                  <a:pt x="59475" y="47863"/>
                  <a:pt x="63092" y="47863"/>
                </a:cubicBezTo>
                <a:lnTo>
                  <a:pt x="88519" y="47863"/>
                </a:lnTo>
                <a:lnTo>
                  <a:pt x="56565" y="15909"/>
                </a:lnTo>
                <a:close/>
                <a:moveTo>
                  <a:pt x="32634" y="69619"/>
                </a:moveTo>
                <a:cubicBezTo>
                  <a:pt x="29017" y="69619"/>
                  <a:pt x="26107" y="72529"/>
                  <a:pt x="26107" y="76146"/>
                </a:cubicBezTo>
                <a:cubicBezTo>
                  <a:pt x="26107" y="79763"/>
                  <a:pt x="29017" y="82672"/>
                  <a:pt x="32634" y="82672"/>
                </a:cubicBezTo>
                <a:lnTo>
                  <a:pt x="71794" y="82672"/>
                </a:lnTo>
                <a:cubicBezTo>
                  <a:pt x="75411" y="82672"/>
                  <a:pt x="78321" y="79763"/>
                  <a:pt x="78321" y="76146"/>
                </a:cubicBezTo>
                <a:cubicBezTo>
                  <a:pt x="78321" y="72529"/>
                  <a:pt x="75411" y="69619"/>
                  <a:pt x="71794" y="69619"/>
                </a:cubicBezTo>
                <a:lnTo>
                  <a:pt x="32634" y="69619"/>
                </a:lnTo>
                <a:close/>
                <a:moveTo>
                  <a:pt x="32634" y="95726"/>
                </a:moveTo>
                <a:cubicBezTo>
                  <a:pt x="29017" y="95726"/>
                  <a:pt x="26107" y="98636"/>
                  <a:pt x="26107" y="102253"/>
                </a:cubicBezTo>
                <a:cubicBezTo>
                  <a:pt x="26107" y="105870"/>
                  <a:pt x="29017" y="108779"/>
                  <a:pt x="32634" y="108779"/>
                </a:cubicBezTo>
                <a:lnTo>
                  <a:pt x="71794" y="108779"/>
                </a:lnTo>
                <a:cubicBezTo>
                  <a:pt x="75411" y="108779"/>
                  <a:pt x="78321" y="105870"/>
                  <a:pt x="78321" y="102253"/>
                </a:cubicBezTo>
                <a:cubicBezTo>
                  <a:pt x="78321" y="98636"/>
                  <a:pt x="75411" y="95726"/>
                  <a:pt x="71794" y="95726"/>
                </a:cubicBezTo>
                <a:lnTo>
                  <a:pt x="32634" y="95726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8" name="Text 15"/>
          <p:cNvSpPr/>
          <p:nvPr/>
        </p:nvSpPr>
        <p:spPr>
          <a:xfrm>
            <a:off x="765807" y="2749944"/>
            <a:ext cx="1427186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5807" y="2958801"/>
            <a:ext cx="1418484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Markdown / PDF / Word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0844" y="3272086"/>
            <a:ext cx="156642" cy="139238"/>
          </a:xfrm>
          <a:custGeom>
            <a:avLst/>
            <a:gdLst/>
            <a:ahLst/>
            <a:cxnLst/>
            <a:rect l="l" t="t" r="r" b="b"/>
            <a:pathLst>
              <a:path w="156642" h="139238">
                <a:moveTo>
                  <a:pt x="104428" y="39161"/>
                </a:moveTo>
                <a:cubicBezTo>
                  <a:pt x="104428" y="65594"/>
                  <a:pt x="81041" y="87024"/>
                  <a:pt x="52214" y="87024"/>
                </a:cubicBezTo>
                <a:cubicBezTo>
                  <a:pt x="44953" y="87024"/>
                  <a:pt x="38046" y="85664"/>
                  <a:pt x="31764" y="83216"/>
                </a:cubicBezTo>
                <a:lnTo>
                  <a:pt x="9573" y="94964"/>
                </a:lnTo>
                <a:cubicBezTo>
                  <a:pt x="7043" y="96297"/>
                  <a:pt x="3943" y="95835"/>
                  <a:pt x="1904" y="93822"/>
                </a:cubicBezTo>
                <a:cubicBezTo>
                  <a:pt x="-136" y="91810"/>
                  <a:pt x="-598" y="88682"/>
                  <a:pt x="761" y="86153"/>
                </a:cubicBezTo>
                <a:lnTo>
                  <a:pt x="10443" y="67878"/>
                </a:lnTo>
                <a:cubicBezTo>
                  <a:pt x="3889" y="59883"/>
                  <a:pt x="0" y="49930"/>
                  <a:pt x="0" y="39161"/>
                </a:cubicBezTo>
                <a:cubicBezTo>
                  <a:pt x="0" y="12727"/>
                  <a:pt x="23388" y="-8702"/>
                  <a:pt x="52214" y="-8702"/>
                </a:cubicBezTo>
                <a:cubicBezTo>
                  <a:pt x="81041" y="-8702"/>
                  <a:pt x="104428" y="12727"/>
                  <a:pt x="104428" y="39161"/>
                </a:cubicBezTo>
                <a:close/>
                <a:moveTo>
                  <a:pt x="104428" y="139238"/>
                </a:moveTo>
                <a:cubicBezTo>
                  <a:pt x="78838" y="139238"/>
                  <a:pt x="57544" y="122350"/>
                  <a:pt x="53084" y="100077"/>
                </a:cubicBezTo>
                <a:cubicBezTo>
                  <a:pt x="85718" y="99669"/>
                  <a:pt x="114082" y="76445"/>
                  <a:pt x="117210" y="44953"/>
                </a:cubicBezTo>
                <a:cubicBezTo>
                  <a:pt x="139863" y="50175"/>
                  <a:pt x="156642" y="68966"/>
                  <a:pt x="156642" y="91375"/>
                </a:cubicBezTo>
                <a:cubicBezTo>
                  <a:pt x="156642" y="102144"/>
                  <a:pt x="152754" y="112097"/>
                  <a:pt x="146200" y="120093"/>
                </a:cubicBezTo>
                <a:lnTo>
                  <a:pt x="155881" y="138367"/>
                </a:lnTo>
                <a:cubicBezTo>
                  <a:pt x="157213" y="140897"/>
                  <a:pt x="156751" y="143997"/>
                  <a:pt x="154739" y="146036"/>
                </a:cubicBezTo>
                <a:cubicBezTo>
                  <a:pt x="152726" y="148076"/>
                  <a:pt x="149599" y="148538"/>
                  <a:pt x="147070" y="147179"/>
                </a:cubicBezTo>
                <a:lnTo>
                  <a:pt x="124879" y="135430"/>
                </a:lnTo>
                <a:cubicBezTo>
                  <a:pt x="118597" y="137878"/>
                  <a:pt x="111689" y="139238"/>
                  <a:pt x="104428" y="13923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1" name="Text 18"/>
          <p:cNvSpPr/>
          <p:nvPr/>
        </p:nvSpPr>
        <p:spPr>
          <a:xfrm>
            <a:off x="765807" y="3237276"/>
            <a:ext cx="800617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历史问答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5807" y="3446133"/>
            <a:ext cx="791914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问答记录提取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9546" y="3759418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47292" y="108072"/>
                </a:moveTo>
                <a:cubicBezTo>
                  <a:pt x="47292" y="108616"/>
                  <a:pt x="46666" y="109051"/>
                  <a:pt x="45878" y="109051"/>
                </a:cubicBezTo>
                <a:cubicBezTo>
                  <a:pt x="44980" y="109133"/>
                  <a:pt x="44355" y="108698"/>
                  <a:pt x="44355" y="108072"/>
                </a:cubicBezTo>
                <a:cubicBezTo>
                  <a:pt x="44355" y="107528"/>
                  <a:pt x="44980" y="107093"/>
                  <a:pt x="45769" y="107093"/>
                </a:cubicBezTo>
                <a:cubicBezTo>
                  <a:pt x="46585" y="107012"/>
                  <a:pt x="47292" y="107447"/>
                  <a:pt x="47292" y="108072"/>
                </a:cubicBezTo>
                <a:close/>
                <a:moveTo>
                  <a:pt x="38834" y="106849"/>
                </a:moveTo>
                <a:cubicBezTo>
                  <a:pt x="38644" y="107393"/>
                  <a:pt x="39188" y="108018"/>
                  <a:pt x="40004" y="108181"/>
                </a:cubicBezTo>
                <a:cubicBezTo>
                  <a:pt x="40711" y="108453"/>
                  <a:pt x="41527" y="108181"/>
                  <a:pt x="41690" y="107637"/>
                </a:cubicBezTo>
                <a:cubicBezTo>
                  <a:pt x="41853" y="107093"/>
                  <a:pt x="41336" y="106468"/>
                  <a:pt x="40520" y="106223"/>
                </a:cubicBezTo>
                <a:cubicBezTo>
                  <a:pt x="39813" y="106033"/>
                  <a:pt x="39025" y="106305"/>
                  <a:pt x="38834" y="106849"/>
                </a:cubicBezTo>
                <a:close/>
                <a:moveTo>
                  <a:pt x="50854" y="106386"/>
                </a:moveTo>
                <a:cubicBezTo>
                  <a:pt x="50066" y="106577"/>
                  <a:pt x="49522" y="107093"/>
                  <a:pt x="49603" y="107719"/>
                </a:cubicBezTo>
                <a:cubicBezTo>
                  <a:pt x="49685" y="108263"/>
                  <a:pt x="50392" y="108616"/>
                  <a:pt x="51208" y="108426"/>
                </a:cubicBezTo>
                <a:cubicBezTo>
                  <a:pt x="51997" y="108236"/>
                  <a:pt x="52540" y="107719"/>
                  <a:pt x="52459" y="107175"/>
                </a:cubicBezTo>
                <a:cubicBezTo>
                  <a:pt x="52377" y="106658"/>
                  <a:pt x="51643" y="106305"/>
                  <a:pt x="50854" y="106386"/>
                </a:cubicBezTo>
                <a:close/>
                <a:moveTo>
                  <a:pt x="68749" y="2176"/>
                </a:moveTo>
                <a:cubicBezTo>
                  <a:pt x="31029" y="2176"/>
                  <a:pt x="2176" y="30812"/>
                  <a:pt x="2176" y="68531"/>
                </a:cubicBezTo>
                <a:cubicBezTo>
                  <a:pt x="2176" y="98690"/>
                  <a:pt x="21158" y="124498"/>
                  <a:pt x="48271" y="133581"/>
                </a:cubicBezTo>
                <a:cubicBezTo>
                  <a:pt x="51752" y="134207"/>
                  <a:pt x="52976" y="132058"/>
                  <a:pt x="52976" y="130291"/>
                </a:cubicBezTo>
                <a:cubicBezTo>
                  <a:pt x="52976" y="128604"/>
                  <a:pt x="52894" y="119304"/>
                  <a:pt x="52894" y="113593"/>
                </a:cubicBezTo>
                <a:cubicBezTo>
                  <a:pt x="52894" y="113593"/>
                  <a:pt x="33858" y="117672"/>
                  <a:pt x="29860" y="105489"/>
                </a:cubicBezTo>
                <a:cubicBezTo>
                  <a:pt x="29860" y="105489"/>
                  <a:pt x="26760" y="97575"/>
                  <a:pt x="22300" y="95536"/>
                </a:cubicBezTo>
                <a:cubicBezTo>
                  <a:pt x="22300" y="95536"/>
                  <a:pt x="16072" y="91266"/>
                  <a:pt x="22735" y="91348"/>
                </a:cubicBezTo>
                <a:cubicBezTo>
                  <a:pt x="22735" y="91348"/>
                  <a:pt x="29506" y="91891"/>
                  <a:pt x="33232" y="98364"/>
                </a:cubicBezTo>
                <a:cubicBezTo>
                  <a:pt x="39188" y="108861"/>
                  <a:pt x="49168" y="105842"/>
                  <a:pt x="53057" y="104048"/>
                </a:cubicBezTo>
                <a:cubicBezTo>
                  <a:pt x="53683" y="99696"/>
                  <a:pt x="55450" y="96678"/>
                  <a:pt x="57408" y="94883"/>
                </a:cubicBezTo>
                <a:cubicBezTo>
                  <a:pt x="42206" y="93197"/>
                  <a:pt x="26869" y="90994"/>
                  <a:pt x="26869" y="64833"/>
                </a:cubicBezTo>
                <a:cubicBezTo>
                  <a:pt x="26869" y="57354"/>
                  <a:pt x="28935" y="53601"/>
                  <a:pt x="33287" y="48815"/>
                </a:cubicBezTo>
                <a:cubicBezTo>
                  <a:pt x="32579" y="47047"/>
                  <a:pt x="30268" y="39759"/>
                  <a:pt x="33994" y="30349"/>
                </a:cubicBezTo>
                <a:cubicBezTo>
                  <a:pt x="39677" y="28582"/>
                  <a:pt x="52758" y="37692"/>
                  <a:pt x="52758" y="37692"/>
                </a:cubicBezTo>
                <a:cubicBezTo>
                  <a:pt x="58197" y="36169"/>
                  <a:pt x="64044" y="35381"/>
                  <a:pt x="69836" y="35381"/>
                </a:cubicBezTo>
                <a:cubicBezTo>
                  <a:pt x="75629" y="35381"/>
                  <a:pt x="81476" y="36169"/>
                  <a:pt x="86915" y="37692"/>
                </a:cubicBezTo>
                <a:cubicBezTo>
                  <a:pt x="86915" y="37692"/>
                  <a:pt x="99996" y="28555"/>
                  <a:pt x="105679" y="30349"/>
                </a:cubicBezTo>
                <a:cubicBezTo>
                  <a:pt x="109405" y="39786"/>
                  <a:pt x="107093" y="47047"/>
                  <a:pt x="106386" y="48815"/>
                </a:cubicBezTo>
                <a:cubicBezTo>
                  <a:pt x="110737" y="53628"/>
                  <a:pt x="113403" y="57381"/>
                  <a:pt x="113403" y="64833"/>
                </a:cubicBezTo>
                <a:cubicBezTo>
                  <a:pt x="113403" y="91076"/>
                  <a:pt x="97385" y="93170"/>
                  <a:pt x="82183" y="94883"/>
                </a:cubicBezTo>
                <a:cubicBezTo>
                  <a:pt x="84685" y="97031"/>
                  <a:pt x="86806" y="101110"/>
                  <a:pt x="86806" y="107501"/>
                </a:cubicBezTo>
                <a:cubicBezTo>
                  <a:pt x="86806" y="116666"/>
                  <a:pt x="86724" y="128006"/>
                  <a:pt x="86724" y="130236"/>
                </a:cubicBezTo>
                <a:cubicBezTo>
                  <a:pt x="86724" y="132004"/>
                  <a:pt x="87975" y="134152"/>
                  <a:pt x="91429" y="133527"/>
                </a:cubicBezTo>
                <a:cubicBezTo>
                  <a:pt x="118624" y="124498"/>
                  <a:pt x="137062" y="98690"/>
                  <a:pt x="137062" y="68531"/>
                </a:cubicBezTo>
                <a:cubicBezTo>
                  <a:pt x="137062" y="30812"/>
                  <a:pt x="106468" y="2176"/>
                  <a:pt x="68749" y="2176"/>
                </a:cubicBezTo>
                <a:close/>
                <a:moveTo>
                  <a:pt x="28609" y="95971"/>
                </a:moveTo>
                <a:cubicBezTo>
                  <a:pt x="28255" y="96243"/>
                  <a:pt x="28337" y="96868"/>
                  <a:pt x="28799" y="97385"/>
                </a:cubicBezTo>
                <a:cubicBezTo>
                  <a:pt x="29234" y="97820"/>
                  <a:pt x="29860" y="98010"/>
                  <a:pt x="30213" y="97657"/>
                </a:cubicBezTo>
                <a:cubicBezTo>
                  <a:pt x="30567" y="97385"/>
                  <a:pt x="30485" y="96759"/>
                  <a:pt x="30023" y="96243"/>
                </a:cubicBezTo>
                <a:cubicBezTo>
                  <a:pt x="29588" y="95807"/>
                  <a:pt x="28963" y="95617"/>
                  <a:pt x="28609" y="95971"/>
                </a:cubicBezTo>
                <a:close/>
                <a:moveTo>
                  <a:pt x="25672" y="93768"/>
                </a:moveTo>
                <a:cubicBezTo>
                  <a:pt x="25482" y="94121"/>
                  <a:pt x="25754" y="94557"/>
                  <a:pt x="26297" y="94828"/>
                </a:cubicBezTo>
                <a:cubicBezTo>
                  <a:pt x="26733" y="95100"/>
                  <a:pt x="27276" y="95019"/>
                  <a:pt x="27467" y="94638"/>
                </a:cubicBezTo>
                <a:cubicBezTo>
                  <a:pt x="27657" y="94285"/>
                  <a:pt x="27385" y="93849"/>
                  <a:pt x="26841" y="93578"/>
                </a:cubicBezTo>
                <a:cubicBezTo>
                  <a:pt x="26297" y="93414"/>
                  <a:pt x="25862" y="93496"/>
                  <a:pt x="25672" y="93768"/>
                </a:cubicBezTo>
                <a:close/>
                <a:moveTo>
                  <a:pt x="34483" y="103449"/>
                </a:moveTo>
                <a:cubicBezTo>
                  <a:pt x="34048" y="103803"/>
                  <a:pt x="34211" y="104619"/>
                  <a:pt x="34837" y="105135"/>
                </a:cubicBezTo>
                <a:cubicBezTo>
                  <a:pt x="35462" y="105761"/>
                  <a:pt x="36251" y="105842"/>
                  <a:pt x="36604" y="105407"/>
                </a:cubicBezTo>
                <a:cubicBezTo>
                  <a:pt x="36958" y="105054"/>
                  <a:pt x="36795" y="104238"/>
                  <a:pt x="36251" y="103721"/>
                </a:cubicBezTo>
                <a:cubicBezTo>
                  <a:pt x="35652" y="103096"/>
                  <a:pt x="34837" y="103014"/>
                  <a:pt x="34483" y="103449"/>
                </a:cubicBezTo>
                <a:close/>
                <a:moveTo>
                  <a:pt x="31383" y="99452"/>
                </a:moveTo>
                <a:cubicBezTo>
                  <a:pt x="30948" y="99724"/>
                  <a:pt x="30948" y="100431"/>
                  <a:pt x="31383" y="101056"/>
                </a:cubicBezTo>
                <a:cubicBezTo>
                  <a:pt x="31818" y="101682"/>
                  <a:pt x="32552" y="101954"/>
                  <a:pt x="32906" y="101682"/>
                </a:cubicBezTo>
                <a:cubicBezTo>
                  <a:pt x="33341" y="101328"/>
                  <a:pt x="33341" y="100621"/>
                  <a:pt x="32906" y="99996"/>
                </a:cubicBezTo>
                <a:cubicBezTo>
                  <a:pt x="32525" y="99370"/>
                  <a:pt x="31818" y="99098"/>
                  <a:pt x="31383" y="99452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4" name="Text 21"/>
          <p:cNvSpPr/>
          <p:nvPr/>
        </p:nvSpPr>
        <p:spPr>
          <a:xfrm>
            <a:off x="765810" y="3724910"/>
            <a:ext cx="1739265" cy="20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Issue/PR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5807" y="3933465"/>
            <a:ext cx="1096497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问题与解决方案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22141" y="4246749"/>
            <a:ext cx="174047" cy="139238"/>
          </a:xfrm>
          <a:custGeom>
            <a:avLst/>
            <a:gdLst/>
            <a:ahLst/>
            <a:cxnLst/>
            <a:rect l="l" t="t" r="r" b="b"/>
            <a:pathLst>
              <a:path w="174047" h="139238">
                <a:moveTo>
                  <a:pt x="87024" y="4351"/>
                </a:moveTo>
                <a:cubicBezTo>
                  <a:pt x="102633" y="4351"/>
                  <a:pt x="115306" y="17024"/>
                  <a:pt x="115306" y="32634"/>
                </a:cubicBezTo>
                <a:cubicBezTo>
                  <a:pt x="115306" y="48243"/>
                  <a:pt x="102633" y="60916"/>
                  <a:pt x="87024" y="60916"/>
                </a:cubicBezTo>
                <a:cubicBezTo>
                  <a:pt x="71414" y="60916"/>
                  <a:pt x="58741" y="48243"/>
                  <a:pt x="58741" y="32634"/>
                </a:cubicBezTo>
                <a:cubicBezTo>
                  <a:pt x="58741" y="17024"/>
                  <a:pt x="71414" y="4351"/>
                  <a:pt x="87024" y="4351"/>
                </a:cubicBezTo>
                <a:close/>
                <a:moveTo>
                  <a:pt x="26107" y="23931"/>
                </a:moveTo>
                <a:cubicBezTo>
                  <a:pt x="36914" y="23931"/>
                  <a:pt x="45687" y="32705"/>
                  <a:pt x="45687" y="43512"/>
                </a:cubicBezTo>
                <a:cubicBezTo>
                  <a:pt x="45687" y="54318"/>
                  <a:pt x="36914" y="63092"/>
                  <a:pt x="26107" y="63092"/>
                </a:cubicBezTo>
                <a:cubicBezTo>
                  <a:pt x="15300" y="63092"/>
                  <a:pt x="6527" y="54318"/>
                  <a:pt x="6527" y="43512"/>
                </a:cubicBezTo>
                <a:cubicBezTo>
                  <a:pt x="6527" y="32705"/>
                  <a:pt x="15300" y="23931"/>
                  <a:pt x="26107" y="23931"/>
                </a:cubicBezTo>
                <a:close/>
                <a:moveTo>
                  <a:pt x="0" y="113131"/>
                </a:moveTo>
                <a:cubicBezTo>
                  <a:pt x="0" y="93904"/>
                  <a:pt x="15583" y="78321"/>
                  <a:pt x="34809" y="78321"/>
                </a:cubicBezTo>
                <a:cubicBezTo>
                  <a:pt x="38290" y="78321"/>
                  <a:pt x="41663" y="78838"/>
                  <a:pt x="44844" y="79790"/>
                </a:cubicBezTo>
                <a:cubicBezTo>
                  <a:pt x="35897" y="89797"/>
                  <a:pt x="30458" y="103014"/>
                  <a:pt x="30458" y="117482"/>
                </a:cubicBezTo>
                <a:lnTo>
                  <a:pt x="30458" y="121833"/>
                </a:lnTo>
                <a:cubicBezTo>
                  <a:pt x="30458" y="124933"/>
                  <a:pt x="31111" y="127870"/>
                  <a:pt x="32280" y="130535"/>
                </a:cubicBezTo>
                <a:lnTo>
                  <a:pt x="8702" y="130535"/>
                </a:lnTo>
                <a:cubicBezTo>
                  <a:pt x="3889" y="130535"/>
                  <a:pt x="0" y="126646"/>
                  <a:pt x="0" y="121833"/>
                </a:cubicBezTo>
                <a:lnTo>
                  <a:pt x="0" y="113131"/>
                </a:lnTo>
                <a:close/>
                <a:moveTo>
                  <a:pt x="141767" y="130535"/>
                </a:moveTo>
                <a:cubicBezTo>
                  <a:pt x="142936" y="127870"/>
                  <a:pt x="143589" y="124933"/>
                  <a:pt x="143589" y="121833"/>
                </a:cubicBezTo>
                <a:lnTo>
                  <a:pt x="143589" y="117482"/>
                </a:lnTo>
                <a:cubicBezTo>
                  <a:pt x="143589" y="103014"/>
                  <a:pt x="138150" y="89797"/>
                  <a:pt x="129203" y="79790"/>
                </a:cubicBezTo>
                <a:cubicBezTo>
                  <a:pt x="132385" y="78838"/>
                  <a:pt x="135757" y="78321"/>
                  <a:pt x="139238" y="78321"/>
                </a:cubicBezTo>
                <a:cubicBezTo>
                  <a:pt x="158464" y="78321"/>
                  <a:pt x="174047" y="93904"/>
                  <a:pt x="174047" y="113131"/>
                </a:cubicBezTo>
                <a:lnTo>
                  <a:pt x="174047" y="121833"/>
                </a:lnTo>
                <a:cubicBezTo>
                  <a:pt x="174047" y="126646"/>
                  <a:pt x="170158" y="130535"/>
                  <a:pt x="165345" y="130535"/>
                </a:cubicBezTo>
                <a:lnTo>
                  <a:pt x="141767" y="130535"/>
                </a:lnTo>
                <a:close/>
                <a:moveTo>
                  <a:pt x="128360" y="43512"/>
                </a:moveTo>
                <a:cubicBezTo>
                  <a:pt x="128360" y="32705"/>
                  <a:pt x="137133" y="23931"/>
                  <a:pt x="147940" y="23931"/>
                </a:cubicBezTo>
                <a:cubicBezTo>
                  <a:pt x="158747" y="23931"/>
                  <a:pt x="167520" y="32705"/>
                  <a:pt x="167520" y="43512"/>
                </a:cubicBezTo>
                <a:cubicBezTo>
                  <a:pt x="167520" y="54318"/>
                  <a:pt x="158747" y="63092"/>
                  <a:pt x="147940" y="63092"/>
                </a:cubicBezTo>
                <a:cubicBezTo>
                  <a:pt x="137133" y="63092"/>
                  <a:pt x="128360" y="54318"/>
                  <a:pt x="128360" y="43512"/>
                </a:cubicBezTo>
                <a:close/>
                <a:moveTo>
                  <a:pt x="43512" y="117482"/>
                </a:moveTo>
                <a:cubicBezTo>
                  <a:pt x="43512" y="93442"/>
                  <a:pt x="62983" y="73970"/>
                  <a:pt x="87024" y="73970"/>
                </a:cubicBezTo>
                <a:cubicBezTo>
                  <a:pt x="111064" y="73970"/>
                  <a:pt x="130535" y="93442"/>
                  <a:pt x="130535" y="117482"/>
                </a:cubicBezTo>
                <a:lnTo>
                  <a:pt x="130535" y="121833"/>
                </a:lnTo>
                <a:cubicBezTo>
                  <a:pt x="130535" y="126646"/>
                  <a:pt x="126646" y="130535"/>
                  <a:pt x="121833" y="130535"/>
                </a:cubicBezTo>
                <a:lnTo>
                  <a:pt x="52214" y="130535"/>
                </a:lnTo>
                <a:cubicBezTo>
                  <a:pt x="47401" y="130535"/>
                  <a:pt x="43512" y="126646"/>
                  <a:pt x="43512" y="121833"/>
                </a:cubicBezTo>
                <a:lnTo>
                  <a:pt x="43512" y="117482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27" name="Text 24"/>
          <p:cNvSpPr/>
          <p:nvPr/>
        </p:nvSpPr>
        <p:spPr>
          <a:xfrm>
            <a:off x="765807" y="4211940"/>
            <a:ext cx="905045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社群聊天记录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5807" y="4420797"/>
            <a:ext cx="896343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聊天内容挖掘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226081" y="2001542"/>
            <a:ext cx="3742013" cy="3219872"/>
          </a:xfrm>
          <a:custGeom>
            <a:avLst/>
            <a:gdLst/>
            <a:ahLst/>
            <a:cxnLst/>
            <a:rect l="l" t="t" r="r" b="b"/>
            <a:pathLst>
              <a:path w="3742013" h="3219872">
                <a:moveTo>
                  <a:pt x="34809" y="0"/>
                </a:moveTo>
                <a:lnTo>
                  <a:pt x="3707203" y="0"/>
                </a:lnTo>
                <a:cubicBezTo>
                  <a:pt x="3726428" y="0"/>
                  <a:pt x="3742013" y="15585"/>
                  <a:pt x="3742013" y="34809"/>
                </a:cubicBezTo>
                <a:lnTo>
                  <a:pt x="3742013" y="3115451"/>
                </a:lnTo>
                <a:cubicBezTo>
                  <a:pt x="3742013" y="3173121"/>
                  <a:pt x="3695262" y="3219872"/>
                  <a:pt x="3637592" y="3219872"/>
                </a:cubicBezTo>
                <a:lnTo>
                  <a:pt x="104420" y="3219872"/>
                </a:lnTo>
                <a:cubicBezTo>
                  <a:pt x="46751" y="3219872"/>
                  <a:pt x="0" y="3173121"/>
                  <a:pt x="0" y="3115451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226081" y="2001542"/>
            <a:ext cx="3742013" cy="34809"/>
          </a:xfrm>
          <a:custGeom>
            <a:avLst/>
            <a:gdLst/>
            <a:ahLst/>
            <a:cxnLst/>
            <a:rect l="l" t="t" r="r" b="b"/>
            <a:pathLst>
              <a:path w="3742013" h="34809">
                <a:moveTo>
                  <a:pt x="34809" y="0"/>
                </a:moveTo>
                <a:lnTo>
                  <a:pt x="3707203" y="0"/>
                </a:lnTo>
                <a:cubicBezTo>
                  <a:pt x="3726428" y="0"/>
                  <a:pt x="3742013" y="15585"/>
                  <a:pt x="3742013" y="34809"/>
                </a:cubicBezTo>
                <a:lnTo>
                  <a:pt x="3742013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1" name="Shape 28"/>
          <p:cNvSpPr/>
          <p:nvPr/>
        </p:nvSpPr>
        <p:spPr>
          <a:xfrm>
            <a:off x="4400128" y="2192994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4500206" y="2314827"/>
            <a:ext cx="217559" cy="174047"/>
          </a:xfrm>
          <a:custGeom>
            <a:avLst/>
            <a:gdLst/>
            <a:ahLst/>
            <a:cxnLst/>
            <a:rect l="l" t="t" r="r" b="b"/>
            <a:pathLst>
              <a:path w="217559" h="174047">
                <a:moveTo>
                  <a:pt x="141379" y="71556"/>
                </a:moveTo>
                <a:cubicBezTo>
                  <a:pt x="145526" y="70435"/>
                  <a:pt x="149878" y="72406"/>
                  <a:pt x="151747" y="76248"/>
                </a:cubicBezTo>
                <a:lnTo>
                  <a:pt x="158070" y="89029"/>
                </a:lnTo>
                <a:cubicBezTo>
                  <a:pt x="161571" y="89505"/>
                  <a:pt x="165005" y="90457"/>
                  <a:pt x="168234" y="91783"/>
                </a:cubicBezTo>
                <a:lnTo>
                  <a:pt x="180132" y="83862"/>
                </a:lnTo>
                <a:cubicBezTo>
                  <a:pt x="183701" y="81483"/>
                  <a:pt x="188426" y="81959"/>
                  <a:pt x="191452" y="84984"/>
                </a:cubicBezTo>
                <a:lnTo>
                  <a:pt x="197979" y="91511"/>
                </a:lnTo>
                <a:cubicBezTo>
                  <a:pt x="201004" y="94536"/>
                  <a:pt x="201480" y="99295"/>
                  <a:pt x="199100" y="102831"/>
                </a:cubicBezTo>
                <a:lnTo>
                  <a:pt x="191180" y="114694"/>
                </a:lnTo>
                <a:cubicBezTo>
                  <a:pt x="191826" y="116292"/>
                  <a:pt x="192404" y="117958"/>
                  <a:pt x="192880" y="119691"/>
                </a:cubicBezTo>
                <a:cubicBezTo>
                  <a:pt x="193355" y="121425"/>
                  <a:pt x="193661" y="123125"/>
                  <a:pt x="193899" y="124858"/>
                </a:cubicBezTo>
                <a:lnTo>
                  <a:pt x="206715" y="131181"/>
                </a:lnTo>
                <a:cubicBezTo>
                  <a:pt x="210556" y="133085"/>
                  <a:pt x="212528" y="137436"/>
                  <a:pt x="211406" y="141549"/>
                </a:cubicBezTo>
                <a:lnTo>
                  <a:pt x="209026" y="150456"/>
                </a:lnTo>
                <a:cubicBezTo>
                  <a:pt x="207905" y="154569"/>
                  <a:pt x="204063" y="157356"/>
                  <a:pt x="199780" y="157084"/>
                </a:cubicBezTo>
                <a:lnTo>
                  <a:pt x="185503" y="156166"/>
                </a:lnTo>
                <a:cubicBezTo>
                  <a:pt x="183361" y="158920"/>
                  <a:pt x="180880" y="161469"/>
                  <a:pt x="178058" y="163645"/>
                </a:cubicBezTo>
                <a:lnTo>
                  <a:pt x="178976" y="177888"/>
                </a:lnTo>
                <a:cubicBezTo>
                  <a:pt x="179248" y="182172"/>
                  <a:pt x="176461" y="186047"/>
                  <a:pt x="172347" y="187135"/>
                </a:cubicBezTo>
                <a:lnTo>
                  <a:pt x="163441" y="189514"/>
                </a:lnTo>
                <a:cubicBezTo>
                  <a:pt x="159294" y="190636"/>
                  <a:pt x="154977" y="188664"/>
                  <a:pt x="153073" y="184823"/>
                </a:cubicBezTo>
                <a:lnTo>
                  <a:pt x="146750" y="172041"/>
                </a:lnTo>
                <a:cubicBezTo>
                  <a:pt x="143249" y="171566"/>
                  <a:pt x="139816" y="170614"/>
                  <a:pt x="136586" y="169288"/>
                </a:cubicBezTo>
                <a:lnTo>
                  <a:pt x="124688" y="177209"/>
                </a:lnTo>
                <a:cubicBezTo>
                  <a:pt x="121119" y="179588"/>
                  <a:pt x="116394" y="179112"/>
                  <a:pt x="113369" y="176087"/>
                </a:cubicBezTo>
                <a:lnTo>
                  <a:pt x="106842" y="169560"/>
                </a:lnTo>
                <a:cubicBezTo>
                  <a:pt x="103816" y="166535"/>
                  <a:pt x="103340" y="161809"/>
                  <a:pt x="105720" y="158240"/>
                </a:cubicBezTo>
                <a:lnTo>
                  <a:pt x="113641" y="146342"/>
                </a:lnTo>
                <a:cubicBezTo>
                  <a:pt x="112995" y="144745"/>
                  <a:pt x="112417" y="143079"/>
                  <a:pt x="111941" y="141345"/>
                </a:cubicBezTo>
                <a:cubicBezTo>
                  <a:pt x="111465" y="139612"/>
                  <a:pt x="111159" y="137878"/>
                  <a:pt x="110921" y="136178"/>
                </a:cubicBezTo>
                <a:lnTo>
                  <a:pt x="98105" y="129855"/>
                </a:lnTo>
                <a:cubicBezTo>
                  <a:pt x="94264" y="127952"/>
                  <a:pt x="92327" y="123601"/>
                  <a:pt x="93414" y="119487"/>
                </a:cubicBezTo>
                <a:lnTo>
                  <a:pt x="95794" y="110581"/>
                </a:lnTo>
                <a:cubicBezTo>
                  <a:pt x="96916" y="106468"/>
                  <a:pt x="100757" y="103680"/>
                  <a:pt x="105040" y="103952"/>
                </a:cubicBezTo>
                <a:lnTo>
                  <a:pt x="119283" y="104870"/>
                </a:lnTo>
                <a:cubicBezTo>
                  <a:pt x="121425" y="102117"/>
                  <a:pt x="123907" y="99567"/>
                  <a:pt x="126728" y="97392"/>
                </a:cubicBezTo>
                <a:lnTo>
                  <a:pt x="125810" y="83182"/>
                </a:lnTo>
                <a:cubicBezTo>
                  <a:pt x="125538" y="78899"/>
                  <a:pt x="128326" y="75024"/>
                  <a:pt x="132439" y="73936"/>
                </a:cubicBezTo>
                <a:lnTo>
                  <a:pt x="141345" y="71556"/>
                </a:lnTo>
                <a:close/>
                <a:moveTo>
                  <a:pt x="152427" y="115578"/>
                </a:moveTo>
                <a:cubicBezTo>
                  <a:pt x="144172" y="115588"/>
                  <a:pt x="137478" y="122297"/>
                  <a:pt x="137487" y="130552"/>
                </a:cubicBezTo>
                <a:cubicBezTo>
                  <a:pt x="137496" y="138807"/>
                  <a:pt x="144206" y="145502"/>
                  <a:pt x="152461" y="145493"/>
                </a:cubicBezTo>
                <a:cubicBezTo>
                  <a:pt x="160716" y="145483"/>
                  <a:pt x="167411" y="138773"/>
                  <a:pt x="167401" y="130518"/>
                </a:cubicBezTo>
                <a:cubicBezTo>
                  <a:pt x="167392" y="122263"/>
                  <a:pt x="160682" y="115569"/>
                  <a:pt x="152427" y="115578"/>
                </a:cubicBezTo>
                <a:close/>
                <a:moveTo>
                  <a:pt x="76452" y="-15467"/>
                </a:moveTo>
                <a:lnTo>
                  <a:pt x="85358" y="-13088"/>
                </a:lnTo>
                <a:cubicBezTo>
                  <a:pt x="89471" y="-11966"/>
                  <a:pt x="92259" y="-8090"/>
                  <a:pt x="91987" y="-3841"/>
                </a:cubicBezTo>
                <a:lnTo>
                  <a:pt x="91069" y="10368"/>
                </a:lnTo>
                <a:cubicBezTo>
                  <a:pt x="93890" y="12544"/>
                  <a:pt x="96372" y="15059"/>
                  <a:pt x="98513" y="17847"/>
                </a:cubicBezTo>
                <a:lnTo>
                  <a:pt x="112791" y="16929"/>
                </a:lnTo>
                <a:cubicBezTo>
                  <a:pt x="117040" y="16657"/>
                  <a:pt x="120915" y="19444"/>
                  <a:pt x="122037" y="23558"/>
                </a:cubicBezTo>
                <a:lnTo>
                  <a:pt x="124416" y="32464"/>
                </a:lnTo>
                <a:cubicBezTo>
                  <a:pt x="125504" y="36577"/>
                  <a:pt x="123567" y="40928"/>
                  <a:pt x="119725" y="42832"/>
                </a:cubicBezTo>
                <a:lnTo>
                  <a:pt x="106910" y="49155"/>
                </a:lnTo>
                <a:cubicBezTo>
                  <a:pt x="106672" y="50888"/>
                  <a:pt x="106332" y="52622"/>
                  <a:pt x="105890" y="54322"/>
                </a:cubicBezTo>
                <a:cubicBezTo>
                  <a:pt x="105448" y="56021"/>
                  <a:pt x="104836" y="57721"/>
                  <a:pt x="104190" y="59319"/>
                </a:cubicBezTo>
                <a:lnTo>
                  <a:pt x="112111" y="71217"/>
                </a:lnTo>
                <a:cubicBezTo>
                  <a:pt x="114490" y="74786"/>
                  <a:pt x="114014" y="79511"/>
                  <a:pt x="110989" y="82536"/>
                </a:cubicBezTo>
                <a:lnTo>
                  <a:pt x="104462" y="89063"/>
                </a:lnTo>
                <a:cubicBezTo>
                  <a:pt x="101437" y="92089"/>
                  <a:pt x="96712" y="92565"/>
                  <a:pt x="93142" y="90185"/>
                </a:cubicBezTo>
                <a:lnTo>
                  <a:pt x="81245" y="82264"/>
                </a:lnTo>
                <a:cubicBezTo>
                  <a:pt x="78015" y="83590"/>
                  <a:pt x="74582" y="84542"/>
                  <a:pt x="71081" y="85018"/>
                </a:cubicBezTo>
                <a:lnTo>
                  <a:pt x="64758" y="97800"/>
                </a:lnTo>
                <a:cubicBezTo>
                  <a:pt x="62854" y="101641"/>
                  <a:pt x="58503" y="103578"/>
                  <a:pt x="54390" y="102491"/>
                </a:cubicBezTo>
                <a:lnTo>
                  <a:pt x="45483" y="100111"/>
                </a:lnTo>
                <a:cubicBezTo>
                  <a:pt x="41336" y="98989"/>
                  <a:pt x="38583" y="95114"/>
                  <a:pt x="38855" y="90865"/>
                </a:cubicBezTo>
                <a:lnTo>
                  <a:pt x="39772" y="76622"/>
                </a:lnTo>
                <a:cubicBezTo>
                  <a:pt x="36951" y="74446"/>
                  <a:pt x="34469" y="71930"/>
                  <a:pt x="32328" y="69143"/>
                </a:cubicBezTo>
                <a:lnTo>
                  <a:pt x="18051" y="70061"/>
                </a:lnTo>
                <a:cubicBezTo>
                  <a:pt x="13801" y="70333"/>
                  <a:pt x="9926" y="67545"/>
                  <a:pt x="8804" y="63432"/>
                </a:cubicBezTo>
                <a:lnTo>
                  <a:pt x="6425" y="54526"/>
                </a:lnTo>
                <a:cubicBezTo>
                  <a:pt x="5337" y="50412"/>
                  <a:pt x="7275" y="46061"/>
                  <a:pt x="11116" y="44158"/>
                </a:cubicBezTo>
                <a:lnTo>
                  <a:pt x="23931" y="37835"/>
                </a:lnTo>
                <a:cubicBezTo>
                  <a:pt x="24169" y="36101"/>
                  <a:pt x="24509" y="34401"/>
                  <a:pt x="24951" y="32668"/>
                </a:cubicBezTo>
                <a:cubicBezTo>
                  <a:pt x="25427" y="30934"/>
                  <a:pt x="25971" y="29268"/>
                  <a:pt x="26651" y="27671"/>
                </a:cubicBezTo>
                <a:lnTo>
                  <a:pt x="18730" y="15807"/>
                </a:lnTo>
                <a:cubicBezTo>
                  <a:pt x="16351" y="12238"/>
                  <a:pt x="16827" y="7513"/>
                  <a:pt x="19852" y="4487"/>
                </a:cubicBezTo>
                <a:lnTo>
                  <a:pt x="26379" y="-2040"/>
                </a:lnTo>
                <a:cubicBezTo>
                  <a:pt x="29404" y="-5065"/>
                  <a:pt x="34130" y="-5541"/>
                  <a:pt x="37699" y="-3161"/>
                </a:cubicBezTo>
                <a:lnTo>
                  <a:pt x="49597" y="4759"/>
                </a:lnTo>
                <a:cubicBezTo>
                  <a:pt x="52826" y="3433"/>
                  <a:pt x="56259" y="2482"/>
                  <a:pt x="59761" y="2006"/>
                </a:cubicBezTo>
                <a:lnTo>
                  <a:pt x="66084" y="-10776"/>
                </a:lnTo>
                <a:cubicBezTo>
                  <a:pt x="67987" y="-14617"/>
                  <a:pt x="72304" y="-16555"/>
                  <a:pt x="76452" y="-15467"/>
                </a:cubicBezTo>
                <a:close/>
                <a:moveTo>
                  <a:pt x="65404" y="28555"/>
                </a:moveTo>
                <a:cubicBezTo>
                  <a:pt x="57149" y="28555"/>
                  <a:pt x="50446" y="35257"/>
                  <a:pt x="50446" y="43512"/>
                </a:cubicBezTo>
                <a:cubicBezTo>
                  <a:pt x="50446" y="51767"/>
                  <a:pt x="57149" y="58469"/>
                  <a:pt x="65404" y="58469"/>
                </a:cubicBezTo>
                <a:cubicBezTo>
                  <a:pt x="73659" y="58469"/>
                  <a:pt x="80361" y="51767"/>
                  <a:pt x="80361" y="43512"/>
                </a:cubicBezTo>
                <a:cubicBezTo>
                  <a:pt x="80361" y="35257"/>
                  <a:pt x="73659" y="28555"/>
                  <a:pt x="65404" y="28555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3" name="Text 30"/>
          <p:cNvSpPr/>
          <p:nvPr/>
        </p:nvSpPr>
        <p:spPr>
          <a:xfrm>
            <a:off x="4922270" y="2280017"/>
            <a:ext cx="957259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数据预处理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417533" y="2784754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52214" y="69619"/>
                </a:moveTo>
                <a:lnTo>
                  <a:pt x="41472" y="80361"/>
                </a:lnTo>
                <a:cubicBezTo>
                  <a:pt x="38046" y="79028"/>
                  <a:pt x="34347" y="78321"/>
                  <a:pt x="30458" y="78321"/>
                </a:cubicBezTo>
                <a:cubicBezTo>
                  <a:pt x="13625" y="78321"/>
                  <a:pt x="0" y="91946"/>
                  <a:pt x="0" y="108779"/>
                </a:cubicBezTo>
                <a:cubicBezTo>
                  <a:pt x="0" y="125613"/>
                  <a:pt x="13625" y="139238"/>
                  <a:pt x="30458" y="139238"/>
                </a:cubicBezTo>
                <a:cubicBezTo>
                  <a:pt x="47292" y="139238"/>
                  <a:pt x="60916" y="125613"/>
                  <a:pt x="60916" y="108779"/>
                </a:cubicBezTo>
                <a:cubicBezTo>
                  <a:pt x="60916" y="104891"/>
                  <a:pt x="60182" y="101192"/>
                  <a:pt x="58877" y="97766"/>
                </a:cubicBezTo>
                <a:lnTo>
                  <a:pt x="135757" y="20886"/>
                </a:lnTo>
                <a:cubicBezTo>
                  <a:pt x="137688" y="18955"/>
                  <a:pt x="137688" y="15855"/>
                  <a:pt x="135757" y="13924"/>
                </a:cubicBezTo>
                <a:cubicBezTo>
                  <a:pt x="128061" y="6228"/>
                  <a:pt x="115605" y="6228"/>
                  <a:pt x="107909" y="13924"/>
                </a:cubicBezTo>
                <a:lnTo>
                  <a:pt x="69619" y="52214"/>
                </a:lnTo>
                <a:lnTo>
                  <a:pt x="58877" y="41472"/>
                </a:lnTo>
                <a:cubicBezTo>
                  <a:pt x="60209" y="38046"/>
                  <a:pt x="60916" y="34347"/>
                  <a:pt x="60916" y="30458"/>
                </a:cubicBezTo>
                <a:cubicBezTo>
                  <a:pt x="60916" y="13625"/>
                  <a:pt x="47292" y="0"/>
                  <a:pt x="30458" y="0"/>
                </a:cubicBezTo>
                <a:cubicBezTo>
                  <a:pt x="13625" y="0"/>
                  <a:pt x="0" y="13625"/>
                  <a:pt x="0" y="30458"/>
                </a:cubicBezTo>
                <a:cubicBezTo>
                  <a:pt x="0" y="47292"/>
                  <a:pt x="13625" y="60916"/>
                  <a:pt x="30458" y="60916"/>
                </a:cubicBezTo>
                <a:cubicBezTo>
                  <a:pt x="34347" y="60916"/>
                  <a:pt x="38046" y="60182"/>
                  <a:pt x="41472" y="58877"/>
                </a:cubicBezTo>
                <a:lnTo>
                  <a:pt x="52214" y="69619"/>
                </a:lnTo>
                <a:close/>
                <a:moveTo>
                  <a:pt x="78838" y="96243"/>
                </a:moveTo>
                <a:lnTo>
                  <a:pt x="107909" y="125314"/>
                </a:lnTo>
                <a:cubicBezTo>
                  <a:pt x="115605" y="133010"/>
                  <a:pt x="128061" y="133010"/>
                  <a:pt x="135757" y="125314"/>
                </a:cubicBezTo>
                <a:cubicBezTo>
                  <a:pt x="137688" y="123383"/>
                  <a:pt x="137688" y="120283"/>
                  <a:pt x="135757" y="118352"/>
                </a:cubicBezTo>
                <a:lnTo>
                  <a:pt x="96243" y="78838"/>
                </a:lnTo>
                <a:lnTo>
                  <a:pt x="78838" y="96243"/>
                </a:lnTo>
                <a:close/>
                <a:moveTo>
                  <a:pt x="17405" y="30458"/>
                </a:moveTo>
                <a:cubicBezTo>
                  <a:pt x="17405" y="23254"/>
                  <a:pt x="23254" y="17405"/>
                  <a:pt x="30458" y="17405"/>
                </a:cubicBezTo>
                <a:cubicBezTo>
                  <a:pt x="37663" y="17405"/>
                  <a:pt x="43512" y="23254"/>
                  <a:pt x="43512" y="30458"/>
                </a:cubicBezTo>
                <a:cubicBezTo>
                  <a:pt x="43512" y="37663"/>
                  <a:pt x="37663" y="43512"/>
                  <a:pt x="30458" y="43512"/>
                </a:cubicBezTo>
                <a:cubicBezTo>
                  <a:pt x="23254" y="43512"/>
                  <a:pt x="17405" y="37663"/>
                  <a:pt x="17405" y="30458"/>
                </a:cubicBezTo>
                <a:close/>
                <a:moveTo>
                  <a:pt x="30458" y="95726"/>
                </a:moveTo>
                <a:cubicBezTo>
                  <a:pt x="37663" y="95726"/>
                  <a:pt x="43512" y="101575"/>
                  <a:pt x="43512" y="108779"/>
                </a:cubicBezTo>
                <a:cubicBezTo>
                  <a:pt x="43512" y="115984"/>
                  <a:pt x="37663" y="121833"/>
                  <a:pt x="30458" y="121833"/>
                </a:cubicBezTo>
                <a:cubicBezTo>
                  <a:pt x="23254" y="121833"/>
                  <a:pt x="17405" y="115984"/>
                  <a:pt x="17405" y="108779"/>
                </a:cubicBezTo>
                <a:cubicBezTo>
                  <a:pt x="17405" y="101575"/>
                  <a:pt x="23254" y="95726"/>
                  <a:pt x="30458" y="95726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5" name="Text 32"/>
          <p:cNvSpPr/>
          <p:nvPr/>
        </p:nvSpPr>
        <p:spPr>
          <a:xfrm>
            <a:off x="4643794" y="2749944"/>
            <a:ext cx="905045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智能文本分割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17533" y="3098039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136681" y="40955"/>
                </a:moveTo>
                <a:lnTo>
                  <a:pt x="110574" y="67063"/>
                </a:lnTo>
                <a:cubicBezTo>
                  <a:pt x="108072" y="69564"/>
                  <a:pt x="104347" y="70299"/>
                  <a:pt x="101083" y="68939"/>
                </a:cubicBezTo>
                <a:cubicBezTo>
                  <a:pt x="97820" y="67579"/>
                  <a:pt x="95726" y="64425"/>
                  <a:pt x="95726" y="60916"/>
                </a:cubicBezTo>
                <a:lnTo>
                  <a:pt x="95726" y="43512"/>
                </a:lnTo>
                <a:lnTo>
                  <a:pt x="8702" y="43512"/>
                </a:lnTo>
                <a:cubicBezTo>
                  <a:pt x="3889" y="43512"/>
                  <a:pt x="0" y="39623"/>
                  <a:pt x="0" y="34809"/>
                </a:cubicBezTo>
                <a:cubicBezTo>
                  <a:pt x="0" y="29996"/>
                  <a:pt x="3889" y="26107"/>
                  <a:pt x="8702" y="26107"/>
                </a:cubicBezTo>
                <a:lnTo>
                  <a:pt x="95726" y="26107"/>
                </a:lnTo>
                <a:lnTo>
                  <a:pt x="95726" y="8702"/>
                </a:lnTo>
                <a:cubicBezTo>
                  <a:pt x="95726" y="5194"/>
                  <a:pt x="97847" y="2012"/>
                  <a:pt x="101110" y="653"/>
                </a:cubicBezTo>
                <a:cubicBezTo>
                  <a:pt x="104374" y="-707"/>
                  <a:pt x="108100" y="54"/>
                  <a:pt x="110601" y="2529"/>
                </a:cubicBezTo>
                <a:lnTo>
                  <a:pt x="136709" y="28636"/>
                </a:lnTo>
                <a:cubicBezTo>
                  <a:pt x="140108" y="32036"/>
                  <a:pt x="140108" y="37556"/>
                  <a:pt x="136709" y="40955"/>
                </a:cubicBezTo>
                <a:close/>
                <a:moveTo>
                  <a:pt x="28636" y="136681"/>
                </a:moveTo>
                <a:lnTo>
                  <a:pt x="2529" y="110574"/>
                </a:lnTo>
                <a:cubicBezTo>
                  <a:pt x="-870" y="107175"/>
                  <a:pt x="-870" y="101654"/>
                  <a:pt x="2529" y="98255"/>
                </a:cubicBezTo>
                <a:lnTo>
                  <a:pt x="28636" y="72148"/>
                </a:lnTo>
                <a:cubicBezTo>
                  <a:pt x="31138" y="69646"/>
                  <a:pt x="34864" y="68912"/>
                  <a:pt x="38127" y="70272"/>
                </a:cubicBezTo>
                <a:cubicBezTo>
                  <a:pt x="41391" y="71631"/>
                  <a:pt x="43512" y="74813"/>
                  <a:pt x="43512" y="78321"/>
                </a:cubicBezTo>
                <a:lnTo>
                  <a:pt x="43512" y="95726"/>
                </a:lnTo>
                <a:lnTo>
                  <a:pt x="130535" y="95726"/>
                </a:lnTo>
                <a:cubicBezTo>
                  <a:pt x="135349" y="95726"/>
                  <a:pt x="139238" y="99615"/>
                  <a:pt x="139238" y="104428"/>
                </a:cubicBezTo>
                <a:cubicBezTo>
                  <a:pt x="139238" y="109242"/>
                  <a:pt x="135349" y="113131"/>
                  <a:pt x="130535" y="113131"/>
                </a:cubicBezTo>
                <a:lnTo>
                  <a:pt x="43512" y="113131"/>
                </a:lnTo>
                <a:lnTo>
                  <a:pt x="43512" y="130535"/>
                </a:lnTo>
                <a:cubicBezTo>
                  <a:pt x="43512" y="134043"/>
                  <a:pt x="41391" y="137225"/>
                  <a:pt x="38127" y="138585"/>
                </a:cubicBezTo>
                <a:cubicBezTo>
                  <a:pt x="34864" y="139945"/>
                  <a:pt x="31138" y="139183"/>
                  <a:pt x="28636" y="136709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7" name="Text 34"/>
          <p:cNvSpPr/>
          <p:nvPr/>
        </p:nvSpPr>
        <p:spPr>
          <a:xfrm>
            <a:off x="4643794" y="3063229"/>
            <a:ext cx="62657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格式转换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417533" y="3411323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8702" y="17405"/>
                </a:moveTo>
                <a:cubicBezTo>
                  <a:pt x="5194" y="17405"/>
                  <a:pt x="2012" y="19526"/>
                  <a:pt x="653" y="22789"/>
                </a:cubicBezTo>
                <a:cubicBezTo>
                  <a:pt x="-707" y="26053"/>
                  <a:pt x="54" y="29778"/>
                  <a:pt x="2556" y="32253"/>
                </a:cubicBezTo>
                <a:lnTo>
                  <a:pt x="52214" y="81938"/>
                </a:lnTo>
                <a:lnTo>
                  <a:pt x="52214" y="113131"/>
                </a:lnTo>
                <a:cubicBezTo>
                  <a:pt x="52214" y="115442"/>
                  <a:pt x="53139" y="117645"/>
                  <a:pt x="54770" y="119277"/>
                </a:cubicBezTo>
                <a:lnTo>
                  <a:pt x="72175" y="136681"/>
                </a:lnTo>
                <a:cubicBezTo>
                  <a:pt x="74677" y="139183"/>
                  <a:pt x="78403" y="139918"/>
                  <a:pt x="81666" y="138558"/>
                </a:cubicBezTo>
                <a:cubicBezTo>
                  <a:pt x="84930" y="137198"/>
                  <a:pt x="87024" y="134043"/>
                  <a:pt x="87024" y="130535"/>
                </a:cubicBezTo>
                <a:lnTo>
                  <a:pt x="87024" y="81938"/>
                </a:lnTo>
                <a:lnTo>
                  <a:pt x="136681" y="32280"/>
                </a:lnTo>
                <a:cubicBezTo>
                  <a:pt x="139183" y="29778"/>
                  <a:pt x="139918" y="26053"/>
                  <a:pt x="138558" y="22789"/>
                </a:cubicBezTo>
                <a:cubicBezTo>
                  <a:pt x="137198" y="19526"/>
                  <a:pt x="134043" y="17405"/>
                  <a:pt x="130535" y="17405"/>
                </a:cubicBezTo>
                <a:lnTo>
                  <a:pt x="8702" y="17405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39" name="Text 36"/>
          <p:cNvSpPr/>
          <p:nvPr/>
        </p:nvSpPr>
        <p:spPr>
          <a:xfrm>
            <a:off x="4643794" y="3376514"/>
            <a:ext cx="62657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去重降噪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417533" y="3724608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91375" y="95726"/>
                </a:moveTo>
                <a:cubicBezTo>
                  <a:pt x="117808" y="95726"/>
                  <a:pt x="139238" y="74296"/>
                  <a:pt x="139238" y="47863"/>
                </a:cubicBezTo>
                <a:cubicBezTo>
                  <a:pt x="139238" y="21430"/>
                  <a:pt x="117808" y="0"/>
                  <a:pt x="91375" y="0"/>
                </a:cubicBezTo>
                <a:cubicBezTo>
                  <a:pt x="64941" y="0"/>
                  <a:pt x="43512" y="21430"/>
                  <a:pt x="43512" y="47863"/>
                </a:cubicBezTo>
                <a:cubicBezTo>
                  <a:pt x="43512" y="52948"/>
                  <a:pt x="44300" y="57871"/>
                  <a:pt x="45769" y="62467"/>
                </a:cubicBezTo>
                <a:lnTo>
                  <a:pt x="1904" y="106332"/>
                </a:lnTo>
                <a:cubicBezTo>
                  <a:pt x="680" y="107556"/>
                  <a:pt x="0" y="109215"/>
                  <a:pt x="0" y="110955"/>
                </a:cubicBezTo>
                <a:lnTo>
                  <a:pt x="0" y="132711"/>
                </a:lnTo>
                <a:cubicBezTo>
                  <a:pt x="0" y="136328"/>
                  <a:pt x="2910" y="139238"/>
                  <a:pt x="6527" y="139238"/>
                </a:cubicBezTo>
                <a:lnTo>
                  <a:pt x="28283" y="139238"/>
                </a:lnTo>
                <a:cubicBezTo>
                  <a:pt x="31900" y="139238"/>
                  <a:pt x="34809" y="136328"/>
                  <a:pt x="34809" y="132711"/>
                </a:cubicBezTo>
                <a:lnTo>
                  <a:pt x="34809" y="121833"/>
                </a:lnTo>
                <a:lnTo>
                  <a:pt x="45687" y="121833"/>
                </a:lnTo>
                <a:cubicBezTo>
                  <a:pt x="49304" y="121833"/>
                  <a:pt x="52214" y="118923"/>
                  <a:pt x="52214" y="115306"/>
                </a:cubicBezTo>
                <a:lnTo>
                  <a:pt x="52214" y="104428"/>
                </a:lnTo>
                <a:lnTo>
                  <a:pt x="63092" y="104428"/>
                </a:lnTo>
                <a:cubicBezTo>
                  <a:pt x="64833" y="104428"/>
                  <a:pt x="66491" y="103748"/>
                  <a:pt x="67715" y="102525"/>
                </a:cubicBezTo>
                <a:lnTo>
                  <a:pt x="76771" y="93469"/>
                </a:lnTo>
                <a:cubicBezTo>
                  <a:pt x="81367" y="94937"/>
                  <a:pt x="86289" y="95726"/>
                  <a:pt x="91375" y="95726"/>
                </a:cubicBezTo>
                <a:close/>
                <a:moveTo>
                  <a:pt x="102253" y="26107"/>
                </a:moveTo>
                <a:cubicBezTo>
                  <a:pt x="108256" y="26107"/>
                  <a:pt x="113131" y="30981"/>
                  <a:pt x="113131" y="36985"/>
                </a:cubicBezTo>
                <a:cubicBezTo>
                  <a:pt x="113131" y="42989"/>
                  <a:pt x="108256" y="47863"/>
                  <a:pt x="102253" y="47863"/>
                </a:cubicBezTo>
                <a:cubicBezTo>
                  <a:pt x="96249" y="47863"/>
                  <a:pt x="91375" y="42989"/>
                  <a:pt x="91375" y="36985"/>
                </a:cubicBezTo>
                <a:cubicBezTo>
                  <a:pt x="91375" y="30981"/>
                  <a:pt x="96249" y="26107"/>
                  <a:pt x="102253" y="26107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1" name="Text 38"/>
          <p:cNvSpPr/>
          <p:nvPr/>
        </p:nvSpPr>
        <p:spPr>
          <a:xfrm>
            <a:off x="4643794" y="3689799"/>
            <a:ext cx="765807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关键词提取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417533" y="4037893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8838" y="26107"/>
                </a:moveTo>
                <a:lnTo>
                  <a:pt x="8838" y="66763"/>
                </a:lnTo>
                <a:cubicBezTo>
                  <a:pt x="8838" y="71387"/>
                  <a:pt x="10660" y="75819"/>
                  <a:pt x="13924" y="79083"/>
                </a:cubicBezTo>
                <a:lnTo>
                  <a:pt x="66138" y="131297"/>
                </a:lnTo>
                <a:cubicBezTo>
                  <a:pt x="72937" y="138096"/>
                  <a:pt x="83951" y="138096"/>
                  <a:pt x="90749" y="131297"/>
                </a:cubicBezTo>
                <a:lnTo>
                  <a:pt x="131406" y="90640"/>
                </a:lnTo>
                <a:cubicBezTo>
                  <a:pt x="138204" y="83842"/>
                  <a:pt x="138204" y="72828"/>
                  <a:pt x="131406" y="66029"/>
                </a:cubicBezTo>
                <a:lnTo>
                  <a:pt x="79191" y="13815"/>
                </a:lnTo>
                <a:cubicBezTo>
                  <a:pt x="75928" y="10524"/>
                  <a:pt x="71522" y="8702"/>
                  <a:pt x="66899" y="8702"/>
                </a:cubicBezTo>
                <a:lnTo>
                  <a:pt x="26243" y="8702"/>
                </a:lnTo>
                <a:cubicBezTo>
                  <a:pt x="16643" y="8702"/>
                  <a:pt x="8838" y="16507"/>
                  <a:pt x="8838" y="26107"/>
                </a:cubicBezTo>
                <a:close/>
                <a:moveTo>
                  <a:pt x="39297" y="30458"/>
                </a:moveTo>
                <a:cubicBezTo>
                  <a:pt x="44100" y="30458"/>
                  <a:pt x="47999" y="34358"/>
                  <a:pt x="47999" y="39161"/>
                </a:cubicBezTo>
                <a:cubicBezTo>
                  <a:pt x="47999" y="43964"/>
                  <a:pt x="44100" y="47863"/>
                  <a:pt x="39297" y="47863"/>
                </a:cubicBezTo>
                <a:cubicBezTo>
                  <a:pt x="34494" y="47863"/>
                  <a:pt x="30594" y="43964"/>
                  <a:pt x="30594" y="39161"/>
                </a:cubicBezTo>
                <a:cubicBezTo>
                  <a:pt x="30594" y="34358"/>
                  <a:pt x="34494" y="30458"/>
                  <a:pt x="39297" y="30458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3" name="Text 40"/>
          <p:cNvSpPr/>
          <p:nvPr/>
        </p:nvSpPr>
        <p:spPr>
          <a:xfrm>
            <a:off x="4643794" y="4003084"/>
            <a:ext cx="626570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版本标记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104069" y="2001542"/>
            <a:ext cx="3742013" cy="3219872"/>
          </a:xfrm>
          <a:custGeom>
            <a:avLst/>
            <a:gdLst/>
            <a:ahLst/>
            <a:cxnLst/>
            <a:rect l="l" t="t" r="r" b="b"/>
            <a:pathLst>
              <a:path w="3742013" h="3219872">
                <a:moveTo>
                  <a:pt x="34809" y="0"/>
                </a:moveTo>
                <a:lnTo>
                  <a:pt x="3707203" y="0"/>
                </a:lnTo>
                <a:cubicBezTo>
                  <a:pt x="3726428" y="0"/>
                  <a:pt x="3742013" y="15585"/>
                  <a:pt x="3742013" y="34809"/>
                </a:cubicBezTo>
                <a:lnTo>
                  <a:pt x="3742013" y="3115451"/>
                </a:lnTo>
                <a:cubicBezTo>
                  <a:pt x="3742013" y="3173121"/>
                  <a:pt x="3695262" y="3219872"/>
                  <a:pt x="3637592" y="3219872"/>
                </a:cubicBezTo>
                <a:lnTo>
                  <a:pt x="104420" y="3219872"/>
                </a:lnTo>
                <a:cubicBezTo>
                  <a:pt x="46751" y="3219872"/>
                  <a:pt x="0" y="3173121"/>
                  <a:pt x="0" y="3115451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8104069" y="2001542"/>
            <a:ext cx="3742013" cy="34809"/>
          </a:xfrm>
          <a:custGeom>
            <a:avLst/>
            <a:gdLst/>
            <a:ahLst/>
            <a:cxnLst/>
            <a:rect l="l" t="t" r="r" b="b"/>
            <a:pathLst>
              <a:path w="3742013" h="34809">
                <a:moveTo>
                  <a:pt x="34809" y="0"/>
                </a:moveTo>
                <a:lnTo>
                  <a:pt x="3707203" y="0"/>
                </a:lnTo>
                <a:cubicBezTo>
                  <a:pt x="3726428" y="0"/>
                  <a:pt x="3742013" y="15585"/>
                  <a:pt x="3742013" y="34809"/>
                </a:cubicBezTo>
                <a:lnTo>
                  <a:pt x="3742013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6" name="Shape 43"/>
          <p:cNvSpPr/>
          <p:nvPr/>
        </p:nvSpPr>
        <p:spPr>
          <a:xfrm>
            <a:off x="8278116" y="2192994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8410827" y="2314827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21756" y="10878"/>
                </a:moveTo>
                <a:cubicBezTo>
                  <a:pt x="9756" y="10878"/>
                  <a:pt x="0" y="20634"/>
                  <a:pt x="0" y="32634"/>
                </a:cubicBezTo>
                <a:lnTo>
                  <a:pt x="0" y="88417"/>
                </a:lnTo>
                <a:cubicBezTo>
                  <a:pt x="6153" y="84100"/>
                  <a:pt x="13665" y="81585"/>
                  <a:pt x="21756" y="81585"/>
                </a:cubicBezTo>
                <a:lnTo>
                  <a:pt x="130535" y="81585"/>
                </a:lnTo>
                <a:cubicBezTo>
                  <a:pt x="138626" y="81585"/>
                  <a:pt x="146138" y="84100"/>
                  <a:pt x="152291" y="88417"/>
                </a:cubicBezTo>
                <a:lnTo>
                  <a:pt x="152291" y="32634"/>
                </a:lnTo>
                <a:cubicBezTo>
                  <a:pt x="152291" y="20634"/>
                  <a:pt x="142535" y="10878"/>
                  <a:pt x="130535" y="10878"/>
                </a:cubicBezTo>
                <a:lnTo>
                  <a:pt x="21756" y="10878"/>
                </a:lnTo>
                <a:close/>
                <a:moveTo>
                  <a:pt x="152291" y="119657"/>
                </a:moveTo>
                <a:cubicBezTo>
                  <a:pt x="152291" y="107658"/>
                  <a:pt x="142535" y="97901"/>
                  <a:pt x="130535" y="97901"/>
                </a:cubicBezTo>
                <a:lnTo>
                  <a:pt x="21756" y="97901"/>
                </a:lnTo>
                <a:cubicBezTo>
                  <a:pt x="9756" y="97901"/>
                  <a:pt x="0" y="107658"/>
                  <a:pt x="0" y="119657"/>
                </a:cubicBezTo>
                <a:lnTo>
                  <a:pt x="0" y="141413"/>
                </a:lnTo>
                <a:cubicBezTo>
                  <a:pt x="0" y="153413"/>
                  <a:pt x="9756" y="163169"/>
                  <a:pt x="21756" y="163169"/>
                </a:cubicBezTo>
                <a:lnTo>
                  <a:pt x="130535" y="163169"/>
                </a:lnTo>
                <a:cubicBezTo>
                  <a:pt x="142535" y="163169"/>
                  <a:pt x="152291" y="153413"/>
                  <a:pt x="152291" y="141413"/>
                </a:cubicBezTo>
                <a:lnTo>
                  <a:pt x="152291" y="119657"/>
                </a:lnTo>
                <a:close/>
                <a:moveTo>
                  <a:pt x="76146" y="130535"/>
                </a:moveTo>
                <a:cubicBezTo>
                  <a:pt x="76146" y="124532"/>
                  <a:pt x="81020" y="119657"/>
                  <a:pt x="87024" y="119657"/>
                </a:cubicBezTo>
                <a:cubicBezTo>
                  <a:pt x="93027" y="119657"/>
                  <a:pt x="97901" y="124532"/>
                  <a:pt x="97901" y="130535"/>
                </a:cubicBezTo>
                <a:cubicBezTo>
                  <a:pt x="97901" y="136539"/>
                  <a:pt x="93027" y="141413"/>
                  <a:pt x="87024" y="141413"/>
                </a:cubicBezTo>
                <a:cubicBezTo>
                  <a:pt x="81020" y="141413"/>
                  <a:pt x="76146" y="136539"/>
                  <a:pt x="76146" y="130535"/>
                </a:cubicBezTo>
                <a:close/>
                <a:moveTo>
                  <a:pt x="119657" y="119657"/>
                </a:moveTo>
                <a:cubicBezTo>
                  <a:pt x="125661" y="119657"/>
                  <a:pt x="130535" y="124532"/>
                  <a:pt x="130535" y="130535"/>
                </a:cubicBezTo>
                <a:cubicBezTo>
                  <a:pt x="130535" y="136539"/>
                  <a:pt x="125661" y="141413"/>
                  <a:pt x="119657" y="141413"/>
                </a:cubicBezTo>
                <a:cubicBezTo>
                  <a:pt x="113654" y="141413"/>
                  <a:pt x="108779" y="136539"/>
                  <a:pt x="108779" y="130535"/>
                </a:cubicBezTo>
                <a:cubicBezTo>
                  <a:pt x="108779" y="124532"/>
                  <a:pt x="113654" y="119657"/>
                  <a:pt x="119657" y="11965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8" name="Text 45"/>
          <p:cNvSpPr/>
          <p:nvPr/>
        </p:nvSpPr>
        <p:spPr>
          <a:xfrm>
            <a:off x="8800257" y="2280017"/>
            <a:ext cx="783212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存储方案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278116" y="2749944"/>
            <a:ext cx="3393919" cy="835426"/>
          </a:xfrm>
          <a:custGeom>
            <a:avLst/>
            <a:gdLst/>
            <a:ahLst/>
            <a:cxnLst/>
            <a:rect l="l" t="t" r="r" b="b"/>
            <a:pathLst>
              <a:path w="3393919" h="835426">
                <a:moveTo>
                  <a:pt x="69616" y="0"/>
                </a:moveTo>
                <a:lnTo>
                  <a:pt x="3324303" y="0"/>
                </a:lnTo>
                <a:cubicBezTo>
                  <a:pt x="3362725" y="0"/>
                  <a:pt x="3393919" y="31194"/>
                  <a:pt x="3393919" y="69616"/>
                </a:cubicBezTo>
                <a:lnTo>
                  <a:pt x="3393919" y="765810"/>
                </a:lnTo>
                <a:cubicBezTo>
                  <a:pt x="3393919" y="804258"/>
                  <a:pt x="3362750" y="835426"/>
                  <a:pt x="3324303" y="835426"/>
                </a:cubicBezTo>
                <a:lnTo>
                  <a:pt x="69616" y="835426"/>
                </a:lnTo>
                <a:cubicBezTo>
                  <a:pt x="31194" y="835426"/>
                  <a:pt x="0" y="804232"/>
                  <a:pt x="0" y="765810"/>
                </a:cubicBezTo>
                <a:lnTo>
                  <a:pt x="0" y="69616"/>
                </a:lnTo>
                <a:cubicBezTo>
                  <a:pt x="0" y="31168"/>
                  <a:pt x="31168" y="0"/>
                  <a:pt x="69616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50" name="Shape 47"/>
          <p:cNvSpPr/>
          <p:nvPr/>
        </p:nvSpPr>
        <p:spPr>
          <a:xfrm>
            <a:off x="8399949" y="2889182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17921" y="62140"/>
                </a:moveTo>
                <a:cubicBezTo>
                  <a:pt x="21538" y="36849"/>
                  <a:pt x="43321" y="17405"/>
                  <a:pt x="69619" y="17405"/>
                </a:cubicBezTo>
                <a:cubicBezTo>
                  <a:pt x="84032" y="17405"/>
                  <a:pt x="97086" y="23252"/>
                  <a:pt x="106549" y="32688"/>
                </a:cubicBezTo>
                <a:cubicBezTo>
                  <a:pt x="106604" y="32743"/>
                  <a:pt x="106658" y="32797"/>
                  <a:pt x="106713" y="32851"/>
                </a:cubicBezTo>
                <a:lnTo>
                  <a:pt x="108779" y="34809"/>
                </a:lnTo>
                <a:lnTo>
                  <a:pt x="95753" y="34809"/>
                </a:lnTo>
                <a:cubicBezTo>
                  <a:pt x="90940" y="34809"/>
                  <a:pt x="87051" y="38698"/>
                  <a:pt x="87051" y="43512"/>
                </a:cubicBezTo>
                <a:cubicBezTo>
                  <a:pt x="87051" y="48325"/>
                  <a:pt x="90940" y="52214"/>
                  <a:pt x="95753" y="52214"/>
                </a:cubicBezTo>
                <a:lnTo>
                  <a:pt x="130563" y="52214"/>
                </a:lnTo>
                <a:cubicBezTo>
                  <a:pt x="135376" y="52214"/>
                  <a:pt x="139265" y="48325"/>
                  <a:pt x="139265" y="43512"/>
                </a:cubicBezTo>
                <a:lnTo>
                  <a:pt x="139265" y="8702"/>
                </a:lnTo>
                <a:cubicBezTo>
                  <a:pt x="139265" y="3889"/>
                  <a:pt x="135376" y="0"/>
                  <a:pt x="130563" y="0"/>
                </a:cubicBezTo>
                <a:cubicBezTo>
                  <a:pt x="125749" y="0"/>
                  <a:pt x="121860" y="3889"/>
                  <a:pt x="121860" y="8702"/>
                </a:cubicBezTo>
                <a:lnTo>
                  <a:pt x="121860" y="23224"/>
                </a:lnTo>
                <a:lnTo>
                  <a:pt x="118787" y="20315"/>
                </a:lnTo>
                <a:cubicBezTo>
                  <a:pt x="106196" y="7778"/>
                  <a:pt x="88791" y="0"/>
                  <a:pt x="69619" y="0"/>
                </a:cubicBezTo>
                <a:cubicBezTo>
                  <a:pt x="34537" y="0"/>
                  <a:pt x="5521" y="25944"/>
                  <a:pt x="707" y="59693"/>
                </a:cubicBezTo>
                <a:cubicBezTo>
                  <a:pt x="27" y="64452"/>
                  <a:pt x="3318" y="68857"/>
                  <a:pt x="8077" y="69537"/>
                </a:cubicBezTo>
                <a:cubicBezTo>
                  <a:pt x="12836" y="70217"/>
                  <a:pt x="17242" y="66899"/>
                  <a:pt x="17921" y="62167"/>
                </a:cubicBezTo>
                <a:close/>
                <a:moveTo>
                  <a:pt x="138531" y="79545"/>
                </a:moveTo>
                <a:cubicBezTo>
                  <a:pt x="139210" y="74786"/>
                  <a:pt x="135893" y="70380"/>
                  <a:pt x="131161" y="69700"/>
                </a:cubicBezTo>
                <a:cubicBezTo>
                  <a:pt x="126429" y="69021"/>
                  <a:pt x="121996" y="72338"/>
                  <a:pt x="121316" y="77070"/>
                </a:cubicBezTo>
                <a:cubicBezTo>
                  <a:pt x="117699" y="102361"/>
                  <a:pt x="95916" y="121806"/>
                  <a:pt x="69619" y="121806"/>
                </a:cubicBezTo>
                <a:cubicBezTo>
                  <a:pt x="55206" y="121806"/>
                  <a:pt x="42152" y="115959"/>
                  <a:pt x="32688" y="106522"/>
                </a:cubicBezTo>
                <a:cubicBezTo>
                  <a:pt x="32634" y="106468"/>
                  <a:pt x="32579" y="106413"/>
                  <a:pt x="32525" y="106359"/>
                </a:cubicBezTo>
                <a:lnTo>
                  <a:pt x="30458" y="104401"/>
                </a:lnTo>
                <a:lnTo>
                  <a:pt x="43485" y="104401"/>
                </a:lnTo>
                <a:cubicBezTo>
                  <a:pt x="48298" y="104401"/>
                  <a:pt x="52187" y="100512"/>
                  <a:pt x="52187" y="95699"/>
                </a:cubicBezTo>
                <a:cubicBezTo>
                  <a:pt x="52187" y="90885"/>
                  <a:pt x="48298" y="86996"/>
                  <a:pt x="43485" y="86996"/>
                </a:cubicBezTo>
                <a:lnTo>
                  <a:pt x="8702" y="87024"/>
                </a:lnTo>
                <a:cubicBezTo>
                  <a:pt x="6391" y="87024"/>
                  <a:pt x="4161" y="87948"/>
                  <a:pt x="2529" y="89607"/>
                </a:cubicBezTo>
                <a:cubicBezTo>
                  <a:pt x="897" y="91266"/>
                  <a:pt x="-27" y="93469"/>
                  <a:pt x="0" y="95807"/>
                </a:cubicBezTo>
                <a:lnTo>
                  <a:pt x="272" y="130345"/>
                </a:lnTo>
                <a:cubicBezTo>
                  <a:pt x="299" y="135158"/>
                  <a:pt x="4242" y="139020"/>
                  <a:pt x="9056" y="138966"/>
                </a:cubicBezTo>
                <a:cubicBezTo>
                  <a:pt x="13869" y="138911"/>
                  <a:pt x="17731" y="134995"/>
                  <a:pt x="17677" y="130182"/>
                </a:cubicBezTo>
                <a:lnTo>
                  <a:pt x="17568" y="116176"/>
                </a:lnTo>
                <a:lnTo>
                  <a:pt x="20478" y="118923"/>
                </a:lnTo>
                <a:cubicBezTo>
                  <a:pt x="33069" y="131460"/>
                  <a:pt x="50446" y="139238"/>
                  <a:pt x="69619" y="139238"/>
                </a:cubicBezTo>
                <a:cubicBezTo>
                  <a:pt x="104700" y="139238"/>
                  <a:pt x="133717" y="113294"/>
                  <a:pt x="138531" y="7954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1" name="Text 48"/>
          <p:cNvSpPr/>
          <p:nvPr/>
        </p:nvSpPr>
        <p:spPr>
          <a:xfrm>
            <a:off x="8626210" y="2854373"/>
            <a:ext cx="765807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382544" y="3098039"/>
            <a:ext cx="3245979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FAISS / Qdrant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382544" y="3306895"/>
            <a:ext cx="3245979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存储文本向量,支撑语义检索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278116" y="3689799"/>
            <a:ext cx="3393919" cy="626570"/>
          </a:xfrm>
          <a:custGeom>
            <a:avLst/>
            <a:gdLst/>
            <a:ahLst/>
            <a:cxnLst/>
            <a:rect l="l" t="t" r="r" b="b"/>
            <a:pathLst>
              <a:path w="3393919" h="626570">
                <a:moveTo>
                  <a:pt x="69618" y="0"/>
                </a:moveTo>
                <a:lnTo>
                  <a:pt x="3324300" y="0"/>
                </a:lnTo>
                <a:cubicBezTo>
                  <a:pt x="3362750" y="0"/>
                  <a:pt x="3393919" y="31169"/>
                  <a:pt x="3393919" y="69618"/>
                </a:cubicBezTo>
                <a:lnTo>
                  <a:pt x="3393919" y="556951"/>
                </a:lnTo>
                <a:cubicBezTo>
                  <a:pt x="3393919" y="595400"/>
                  <a:pt x="3362750" y="626570"/>
                  <a:pt x="3324300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55" name="Shape 52"/>
          <p:cNvSpPr/>
          <p:nvPr/>
        </p:nvSpPr>
        <p:spPr>
          <a:xfrm>
            <a:off x="8408651" y="3829036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69619" y="43512"/>
                </a:moveTo>
                <a:lnTo>
                  <a:pt x="69619" y="69619"/>
                </a:lnTo>
                <a:lnTo>
                  <a:pt x="104428" y="69619"/>
                </a:lnTo>
                <a:lnTo>
                  <a:pt x="104428" y="43512"/>
                </a:lnTo>
                <a:lnTo>
                  <a:pt x="69619" y="43512"/>
                </a:lnTo>
                <a:close/>
                <a:moveTo>
                  <a:pt x="52214" y="43512"/>
                </a:moveTo>
                <a:lnTo>
                  <a:pt x="17405" y="43512"/>
                </a:lnTo>
                <a:lnTo>
                  <a:pt x="17405" y="69619"/>
                </a:lnTo>
                <a:lnTo>
                  <a:pt x="52214" y="69619"/>
                </a:lnTo>
                <a:lnTo>
                  <a:pt x="52214" y="43512"/>
                </a:lnTo>
                <a:close/>
                <a:moveTo>
                  <a:pt x="0" y="87024"/>
                </a:moveTo>
                <a:lnTo>
                  <a:pt x="0" y="26107"/>
                </a:lnTo>
                <a:cubicBezTo>
                  <a:pt x="0" y="16507"/>
                  <a:pt x="7805" y="8702"/>
                  <a:pt x="17405" y="8702"/>
                </a:cubicBezTo>
                <a:lnTo>
                  <a:pt x="104428" y="8702"/>
                </a:lnTo>
                <a:cubicBezTo>
                  <a:pt x="114028" y="8702"/>
                  <a:pt x="121833" y="16507"/>
                  <a:pt x="121833" y="26107"/>
                </a:cubicBezTo>
                <a:lnTo>
                  <a:pt x="121833" y="113131"/>
                </a:lnTo>
                <a:cubicBezTo>
                  <a:pt x="121833" y="122730"/>
                  <a:pt x="114028" y="130535"/>
                  <a:pt x="104428" y="130535"/>
                </a:cubicBezTo>
                <a:lnTo>
                  <a:pt x="17405" y="130535"/>
                </a:lnTo>
                <a:cubicBezTo>
                  <a:pt x="7805" y="130535"/>
                  <a:pt x="0" y="122730"/>
                  <a:pt x="0" y="113131"/>
                </a:cubicBezTo>
                <a:lnTo>
                  <a:pt x="0" y="87024"/>
                </a:lnTo>
                <a:close/>
                <a:moveTo>
                  <a:pt x="104428" y="87024"/>
                </a:moveTo>
                <a:lnTo>
                  <a:pt x="69619" y="87024"/>
                </a:lnTo>
                <a:lnTo>
                  <a:pt x="69619" y="113131"/>
                </a:lnTo>
                <a:lnTo>
                  <a:pt x="104428" y="113131"/>
                </a:lnTo>
                <a:lnTo>
                  <a:pt x="104428" y="87024"/>
                </a:lnTo>
                <a:close/>
                <a:moveTo>
                  <a:pt x="52214" y="113131"/>
                </a:moveTo>
                <a:lnTo>
                  <a:pt x="52214" y="87024"/>
                </a:lnTo>
                <a:lnTo>
                  <a:pt x="17405" y="87024"/>
                </a:lnTo>
                <a:lnTo>
                  <a:pt x="17405" y="113131"/>
                </a:lnTo>
                <a:lnTo>
                  <a:pt x="52214" y="113131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56" name="Text 53"/>
          <p:cNvSpPr/>
          <p:nvPr/>
        </p:nvSpPr>
        <p:spPr>
          <a:xfrm>
            <a:off x="8626210" y="3794227"/>
            <a:ext cx="835426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382544" y="4037893"/>
            <a:ext cx="3245979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知识库元数据、用户信息、会话记录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8278116" y="4420797"/>
            <a:ext cx="3393919" cy="626570"/>
          </a:xfrm>
          <a:custGeom>
            <a:avLst/>
            <a:gdLst/>
            <a:ahLst/>
            <a:cxnLst/>
            <a:rect l="l" t="t" r="r" b="b"/>
            <a:pathLst>
              <a:path w="3393919" h="626570">
                <a:moveTo>
                  <a:pt x="69618" y="0"/>
                </a:moveTo>
                <a:lnTo>
                  <a:pt x="3324300" y="0"/>
                </a:lnTo>
                <a:cubicBezTo>
                  <a:pt x="3362750" y="0"/>
                  <a:pt x="3393919" y="31169"/>
                  <a:pt x="3393919" y="69618"/>
                </a:cubicBezTo>
                <a:lnTo>
                  <a:pt x="3393919" y="556951"/>
                </a:lnTo>
                <a:cubicBezTo>
                  <a:pt x="3393919" y="595400"/>
                  <a:pt x="3362750" y="626570"/>
                  <a:pt x="3324300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59" name="Shape 56"/>
          <p:cNvSpPr/>
          <p:nvPr/>
        </p:nvSpPr>
        <p:spPr>
          <a:xfrm>
            <a:off x="8408651" y="4560034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92136" y="-2692"/>
                </a:moveTo>
                <a:cubicBezTo>
                  <a:pt x="95372" y="-354"/>
                  <a:pt x="96569" y="3889"/>
                  <a:pt x="95100" y="7587"/>
                </a:cubicBezTo>
                <a:lnTo>
                  <a:pt x="73780" y="60916"/>
                </a:lnTo>
                <a:lnTo>
                  <a:pt x="113131" y="60916"/>
                </a:lnTo>
                <a:cubicBezTo>
                  <a:pt x="116802" y="60916"/>
                  <a:pt x="120065" y="63201"/>
                  <a:pt x="121316" y="66655"/>
                </a:cubicBezTo>
                <a:cubicBezTo>
                  <a:pt x="122567" y="70108"/>
                  <a:pt x="121507" y="73970"/>
                  <a:pt x="118706" y="76309"/>
                </a:cubicBezTo>
                <a:lnTo>
                  <a:pt x="40384" y="141576"/>
                </a:lnTo>
                <a:cubicBezTo>
                  <a:pt x="37311" y="144133"/>
                  <a:pt x="32933" y="144269"/>
                  <a:pt x="29697" y="141930"/>
                </a:cubicBezTo>
                <a:cubicBezTo>
                  <a:pt x="26461" y="139591"/>
                  <a:pt x="25264" y="135349"/>
                  <a:pt x="26733" y="131650"/>
                </a:cubicBezTo>
                <a:lnTo>
                  <a:pt x="48053" y="78321"/>
                </a:lnTo>
                <a:lnTo>
                  <a:pt x="8702" y="78321"/>
                </a:lnTo>
                <a:cubicBezTo>
                  <a:pt x="5031" y="78321"/>
                  <a:pt x="1768" y="76037"/>
                  <a:pt x="517" y="72583"/>
                </a:cubicBezTo>
                <a:cubicBezTo>
                  <a:pt x="-734" y="69129"/>
                  <a:pt x="326" y="65268"/>
                  <a:pt x="3127" y="62929"/>
                </a:cubicBezTo>
                <a:lnTo>
                  <a:pt x="81449" y="-2339"/>
                </a:lnTo>
                <a:cubicBezTo>
                  <a:pt x="84522" y="-4895"/>
                  <a:pt x="88900" y="-5031"/>
                  <a:pt x="92136" y="-2692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0" name="Text 57"/>
          <p:cNvSpPr/>
          <p:nvPr/>
        </p:nvSpPr>
        <p:spPr>
          <a:xfrm>
            <a:off x="8626210" y="4525225"/>
            <a:ext cx="417713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382544" y="4768891"/>
            <a:ext cx="3245979" cy="1740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缓存高频问答,提升响应速度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348094" y="5360651"/>
            <a:ext cx="11495812" cy="1148711"/>
          </a:xfrm>
          <a:custGeom>
            <a:avLst/>
            <a:gdLst/>
            <a:ahLst/>
            <a:cxnLst/>
            <a:rect l="l" t="t" r="r" b="b"/>
            <a:pathLst>
              <a:path w="11495812" h="1148711">
                <a:moveTo>
                  <a:pt x="104429" y="0"/>
                </a:moveTo>
                <a:lnTo>
                  <a:pt x="11391382" y="0"/>
                </a:lnTo>
                <a:cubicBezTo>
                  <a:pt x="11449057" y="0"/>
                  <a:pt x="11495812" y="46755"/>
                  <a:pt x="11495812" y="104429"/>
                </a:cubicBezTo>
                <a:lnTo>
                  <a:pt x="11495812" y="1044282"/>
                </a:lnTo>
                <a:cubicBezTo>
                  <a:pt x="11495812" y="1101956"/>
                  <a:pt x="11449057" y="1148711"/>
                  <a:pt x="11391382" y="1148711"/>
                </a:cubicBezTo>
                <a:lnTo>
                  <a:pt x="104429" y="1148711"/>
                </a:lnTo>
                <a:cubicBezTo>
                  <a:pt x="46793" y="1148711"/>
                  <a:pt x="0" y="1101918"/>
                  <a:pt x="0" y="1044282"/>
                </a:cubicBezTo>
                <a:lnTo>
                  <a:pt x="0" y="104429"/>
                </a:lnTo>
                <a:cubicBezTo>
                  <a:pt x="0" y="46793"/>
                  <a:pt x="46793" y="0"/>
                  <a:pt x="10442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0535" dist="8702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09088" y="5534698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87024" y="174047"/>
                </a:moveTo>
                <a:cubicBezTo>
                  <a:pt x="135053" y="174047"/>
                  <a:pt x="174047" y="135053"/>
                  <a:pt x="174047" y="87024"/>
                </a:cubicBezTo>
                <a:cubicBezTo>
                  <a:pt x="174047" y="38994"/>
                  <a:pt x="135053" y="0"/>
                  <a:pt x="87024" y="0"/>
                </a:cubicBezTo>
                <a:cubicBezTo>
                  <a:pt x="38994" y="0"/>
                  <a:pt x="0" y="38994"/>
                  <a:pt x="0" y="87024"/>
                </a:cubicBezTo>
                <a:cubicBezTo>
                  <a:pt x="0" y="135053"/>
                  <a:pt x="38994" y="174047"/>
                  <a:pt x="87024" y="174047"/>
                </a:cubicBezTo>
                <a:close/>
                <a:moveTo>
                  <a:pt x="115714" y="72304"/>
                </a:moveTo>
                <a:lnTo>
                  <a:pt x="88519" y="115816"/>
                </a:lnTo>
                <a:cubicBezTo>
                  <a:pt x="87092" y="118094"/>
                  <a:pt x="84644" y="119521"/>
                  <a:pt x="81959" y="119657"/>
                </a:cubicBezTo>
                <a:cubicBezTo>
                  <a:pt x="79273" y="119793"/>
                  <a:pt x="76690" y="118570"/>
                  <a:pt x="75092" y="116394"/>
                </a:cubicBezTo>
                <a:lnTo>
                  <a:pt x="58775" y="94638"/>
                </a:lnTo>
                <a:cubicBezTo>
                  <a:pt x="56055" y="91035"/>
                  <a:pt x="56803" y="85936"/>
                  <a:pt x="60407" y="83216"/>
                </a:cubicBezTo>
                <a:cubicBezTo>
                  <a:pt x="64010" y="80497"/>
                  <a:pt x="69109" y="81245"/>
                  <a:pt x="71828" y="84848"/>
                </a:cubicBezTo>
                <a:lnTo>
                  <a:pt x="81007" y="97086"/>
                </a:lnTo>
                <a:lnTo>
                  <a:pt x="101879" y="63670"/>
                </a:lnTo>
                <a:cubicBezTo>
                  <a:pt x="104258" y="59863"/>
                  <a:pt x="109289" y="58673"/>
                  <a:pt x="113131" y="61086"/>
                </a:cubicBezTo>
                <a:cubicBezTo>
                  <a:pt x="116972" y="63500"/>
                  <a:pt x="118128" y="68497"/>
                  <a:pt x="115714" y="7233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4" name="Text 61"/>
          <p:cNvSpPr/>
          <p:nvPr/>
        </p:nvSpPr>
        <p:spPr>
          <a:xfrm>
            <a:off x="809319" y="5499889"/>
            <a:ext cx="1305353" cy="243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数据层核心优势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435118" y="5847983"/>
            <a:ext cx="3750715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5" b="1" dirty="0">
                <a:solidFill>
                  <a:srgbClr val="00E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多源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452522" y="6161268"/>
            <a:ext cx="3715906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支持文档、Issue、聊天记录等多种数据源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4220302" y="5847983"/>
            <a:ext cx="3750715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5" b="1" dirty="0">
                <a:solidFill>
                  <a:srgbClr val="00E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高质量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4237707" y="6161268"/>
            <a:ext cx="3715906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智能预处理确保数据质量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005487" y="5847983"/>
            <a:ext cx="3750715" cy="278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5" b="1" dirty="0">
                <a:solidFill>
                  <a:srgbClr val="00E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8022892" y="6161268"/>
            <a:ext cx="3715906" cy="208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向量检索+缓存保障响应速度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3375" y="317500"/>
            <a:ext cx="1785938" cy="254000"/>
          </a:xfrm>
          <a:custGeom>
            <a:avLst/>
            <a:gdLst/>
            <a:ahLst/>
            <a:cxnLst/>
            <a:rect l="l" t="t" r="r" b="b"/>
            <a:pathLst>
              <a:path w="1785938" h="254000">
                <a:moveTo>
                  <a:pt x="0" y="0"/>
                </a:moveTo>
                <a:lnTo>
                  <a:pt x="1785938" y="0"/>
                </a:lnTo>
                <a:lnTo>
                  <a:pt x="1785938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33375" y="317500"/>
            <a:ext cx="31750" cy="254000"/>
          </a:xfrm>
          <a:custGeom>
            <a:avLst/>
            <a:gdLst/>
            <a:ahLst/>
            <a:cxnLst/>
            <a:rect l="l" t="t" r="r" b="b"/>
            <a:pathLst>
              <a:path w="31750" h="254000">
                <a:moveTo>
                  <a:pt x="0" y="0"/>
                </a:moveTo>
                <a:lnTo>
                  <a:pt x="31750" y="0"/>
                </a:lnTo>
                <a:lnTo>
                  <a:pt x="3175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76250" y="361315"/>
            <a:ext cx="1926590" cy="191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DETAIL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17500" y="6350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系统架构：核心能力层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7500" y="10160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Shape 9"/>
          <p:cNvSpPr/>
          <p:nvPr/>
        </p:nvSpPr>
        <p:spPr>
          <a:xfrm>
            <a:off x="365125" y="1174750"/>
            <a:ext cx="5699125" cy="2698750"/>
          </a:xfrm>
          <a:custGeom>
            <a:avLst/>
            <a:gdLst/>
            <a:ahLst/>
            <a:cxnLst/>
            <a:rect l="l" t="t" r="r" b="b"/>
            <a:pathLst>
              <a:path w="5699125" h="2698750">
                <a:moveTo>
                  <a:pt x="31750" y="0"/>
                </a:moveTo>
                <a:lnTo>
                  <a:pt x="5603886" y="0"/>
                </a:lnTo>
                <a:cubicBezTo>
                  <a:pt x="5656485" y="0"/>
                  <a:pt x="5699125" y="42640"/>
                  <a:pt x="5699125" y="95239"/>
                </a:cubicBezTo>
                <a:lnTo>
                  <a:pt x="5699125" y="2603511"/>
                </a:lnTo>
                <a:cubicBezTo>
                  <a:pt x="5699125" y="2656110"/>
                  <a:pt x="5656485" y="2698750"/>
                  <a:pt x="5603886" y="2698750"/>
                </a:cubicBez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125" y="1174750"/>
            <a:ext cx="31750" cy="2698750"/>
          </a:xfrm>
          <a:custGeom>
            <a:avLst/>
            <a:gdLst/>
            <a:ahLst/>
            <a:cxnLst/>
            <a:rect l="l" t="t" r="r" b="b"/>
            <a:pathLst>
              <a:path w="31750" h="2698750">
                <a:moveTo>
                  <a:pt x="31750" y="0"/>
                </a:moveTo>
                <a:lnTo>
                  <a:pt x="31750" y="0"/>
                </a:lnTo>
                <a:lnTo>
                  <a:pt x="31750" y="2698750"/>
                </a:ln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4" name="Shape 11"/>
          <p:cNvSpPr/>
          <p:nvPr/>
        </p:nvSpPr>
        <p:spPr>
          <a:xfrm>
            <a:off x="53975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5" name="Text 12"/>
          <p:cNvSpPr/>
          <p:nvPr/>
        </p:nvSpPr>
        <p:spPr>
          <a:xfrm>
            <a:off x="647836" y="1412875"/>
            <a:ext cx="246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16000" y="1412875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检索模块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39750" y="1809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635000" y="190500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RAG基础检索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000" y="215900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向量语义检索,快速筛选相关文档片段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9750" y="25082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635000" y="260350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DeepSearch深度检索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5000" y="285750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双层机制,语义关联+关键词权重+版本匹配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9750" y="3206750"/>
            <a:ext cx="5365750" cy="381000"/>
          </a:xfrm>
          <a:custGeom>
            <a:avLst/>
            <a:gdLst/>
            <a:ahLst/>
            <a:cxnLst/>
            <a:rect l="l" t="t" r="r" b="b"/>
            <a:pathLst>
              <a:path w="5365750" h="381000">
                <a:moveTo>
                  <a:pt x="63501" y="0"/>
                </a:moveTo>
                <a:lnTo>
                  <a:pt x="5302249" y="0"/>
                </a:lnTo>
                <a:cubicBezTo>
                  <a:pt x="5337320" y="0"/>
                  <a:pt x="5365750" y="28430"/>
                  <a:pt x="5365750" y="63501"/>
                </a:cubicBezTo>
                <a:lnTo>
                  <a:pt x="5365750" y="317499"/>
                </a:lnTo>
                <a:cubicBezTo>
                  <a:pt x="5365750" y="352570"/>
                  <a:pt x="5337320" y="381000"/>
                  <a:pt x="530224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4" name="Text 21"/>
          <p:cNvSpPr/>
          <p:nvPr/>
        </p:nvSpPr>
        <p:spPr>
          <a:xfrm>
            <a:off x="2455974" y="3313906"/>
            <a:ext cx="1533302" cy="166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效果: 匹配精度提升至90%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07125" y="1174750"/>
            <a:ext cx="5699125" cy="2698750"/>
          </a:xfrm>
          <a:custGeom>
            <a:avLst/>
            <a:gdLst/>
            <a:ahLst/>
            <a:cxnLst/>
            <a:rect l="l" t="t" r="r" b="b"/>
            <a:pathLst>
              <a:path w="5699125" h="2698750">
                <a:moveTo>
                  <a:pt x="31750" y="0"/>
                </a:moveTo>
                <a:lnTo>
                  <a:pt x="5603886" y="0"/>
                </a:lnTo>
                <a:cubicBezTo>
                  <a:pt x="5656485" y="0"/>
                  <a:pt x="5699125" y="42640"/>
                  <a:pt x="5699125" y="95239"/>
                </a:cubicBezTo>
                <a:lnTo>
                  <a:pt x="5699125" y="2603511"/>
                </a:lnTo>
                <a:cubicBezTo>
                  <a:pt x="5699125" y="2656110"/>
                  <a:pt x="5656485" y="2698750"/>
                  <a:pt x="5603886" y="2698750"/>
                </a:cubicBez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207125" y="1174750"/>
            <a:ext cx="31750" cy="2698750"/>
          </a:xfrm>
          <a:custGeom>
            <a:avLst/>
            <a:gdLst/>
            <a:ahLst/>
            <a:cxnLst/>
            <a:rect l="l" t="t" r="r" b="b"/>
            <a:pathLst>
              <a:path w="31750" h="2698750">
                <a:moveTo>
                  <a:pt x="31750" y="0"/>
                </a:moveTo>
                <a:lnTo>
                  <a:pt x="31750" y="0"/>
                </a:lnTo>
                <a:lnTo>
                  <a:pt x="31750" y="2698750"/>
                </a:ln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7" name="Shape 24"/>
          <p:cNvSpPr/>
          <p:nvPr/>
        </p:nvSpPr>
        <p:spPr>
          <a:xfrm>
            <a:off x="6381750" y="133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8" name="Text 25"/>
          <p:cNvSpPr/>
          <p:nvPr/>
        </p:nvSpPr>
        <p:spPr>
          <a:xfrm>
            <a:off x="6475450" y="1412875"/>
            <a:ext cx="269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858000" y="1412875"/>
            <a:ext cx="714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生成模块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81750" y="180975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6477000" y="190500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开源大模型适配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77000" y="212725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Qwen3-32B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81750" y="247650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6477000" y="257175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Prompt工程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77000" y="279400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优化提示词模板,提升生成质量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81750" y="314325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6477000" y="323850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结构化答案生成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477000" y="346075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结论+步骤+来源,清晰可验证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65125" y="4000500"/>
            <a:ext cx="5699125" cy="2698750"/>
          </a:xfrm>
          <a:custGeom>
            <a:avLst/>
            <a:gdLst/>
            <a:ahLst/>
            <a:cxnLst/>
            <a:rect l="l" t="t" r="r" b="b"/>
            <a:pathLst>
              <a:path w="5699125" h="2698750">
                <a:moveTo>
                  <a:pt x="31750" y="0"/>
                </a:moveTo>
                <a:lnTo>
                  <a:pt x="5603886" y="0"/>
                </a:lnTo>
                <a:cubicBezTo>
                  <a:pt x="5656485" y="0"/>
                  <a:pt x="5699125" y="42640"/>
                  <a:pt x="5699125" y="95239"/>
                </a:cubicBezTo>
                <a:lnTo>
                  <a:pt x="5699125" y="2603511"/>
                </a:lnTo>
                <a:cubicBezTo>
                  <a:pt x="5699125" y="2656110"/>
                  <a:pt x="5656485" y="2698750"/>
                  <a:pt x="5603886" y="2698750"/>
                </a:cubicBez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65125" y="4000500"/>
            <a:ext cx="31750" cy="2698750"/>
          </a:xfrm>
          <a:custGeom>
            <a:avLst/>
            <a:gdLst/>
            <a:ahLst/>
            <a:cxnLst/>
            <a:rect l="l" t="t" r="r" b="b"/>
            <a:pathLst>
              <a:path w="31750" h="2698750">
                <a:moveTo>
                  <a:pt x="31750" y="0"/>
                </a:moveTo>
                <a:lnTo>
                  <a:pt x="31750" y="0"/>
                </a:lnTo>
                <a:lnTo>
                  <a:pt x="31750" y="2698750"/>
                </a:ln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1" name="Shape 38"/>
          <p:cNvSpPr/>
          <p:nvPr/>
        </p:nvSpPr>
        <p:spPr>
          <a:xfrm>
            <a:off x="539750" y="4159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2" name="Text 39"/>
          <p:cNvSpPr/>
          <p:nvPr/>
        </p:nvSpPr>
        <p:spPr>
          <a:xfrm>
            <a:off x="632768" y="4238625"/>
            <a:ext cx="277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16000" y="4238625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工具调用模块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47688" y="46672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6355" y="24457"/>
                </a:moveTo>
                <a:cubicBezTo>
                  <a:pt x="128240" y="22572"/>
                  <a:pt x="131390" y="23044"/>
                  <a:pt x="132333" y="25524"/>
                </a:cubicBezTo>
                <a:cubicBezTo>
                  <a:pt x="134020" y="29914"/>
                  <a:pt x="134938" y="34702"/>
                  <a:pt x="134938" y="39688"/>
                </a:cubicBezTo>
                <a:cubicBezTo>
                  <a:pt x="134938" y="61615"/>
                  <a:pt x="117177" y="79375"/>
                  <a:pt x="95250" y="79375"/>
                </a:cubicBezTo>
                <a:cubicBezTo>
                  <a:pt x="90909" y="79375"/>
                  <a:pt x="86717" y="78680"/>
                  <a:pt x="82798" y="77391"/>
                </a:cubicBezTo>
                <a:lnTo>
                  <a:pt x="36438" y="123751"/>
                </a:lnTo>
                <a:cubicBezTo>
                  <a:pt x="29468" y="130721"/>
                  <a:pt x="18157" y="130721"/>
                  <a:pt x="11187" y="123751"/>
                </a:cubicBezTo>
                <a:cubicBezTo>
                  <a:pt x="4217" y="116780"/>
                  <a:pt x="4217" y="105470"/>
                  <a:pt x="11187" y="98499"/>
                </a:cubicBezTo>
                <a:lnTo>
                  <a:pt x="57547" y="52139"/>
                </a:lnTo>
                <a:cubicBezTo>
                  <a:pt x="56257" y="48220"/>
                  <a:pt x="55563" y="44053"/>
                  <a:pt x="55563" y="39688"/>
                </a:cubicBezTo>
                <a:cubicBezTo>
                  <a:pt x="55563" y="17760"/>
                  <a:pt x="73323" y="0"/>
                  <a:pt x="95250" y="0"/>
                </a:cubicBezTo>
                <a:cubicBezTo>
                  <a:pt x="100236" y="0"/>
                  <a:pt x="105023" y="918"/>
                  <a:pt x="109413" y="2604"/>
                </a:cubicBezTo>
                <a:cubicBezTo>
                  <a:pt x="111894" y="3547"/>
                  <a:pt x="112340" y="6697"/>
                  <a:pt x="110480" y="8582"/>
                </a:cubicBezTo>
                <a:lnTo>
                  <a:pt x="88478" y="30584"/>
                </a:lnTo>
                <a:cubicBezTo>
                  <a:pt x="87734" y="31328"/>
                  <a:pt x="87313" y="32345"/>
                  <a:pt x="87313" y="33387"/>
                </a:cubicBezTo>
                <a:lnTo>
                  <a:pt x="87313" y="43656"/>
                </a:lnTo>
                <a:cubicBezTo>
                  <a:pt x="87313" y="45839"/>
                  <a:pt x="89098" y="47625"/>
                  <a:pt x="91281" y="47625"/>
                </a:cubicBezTo>
                <a:lnTo>
                  <a:pt x="101550" y="47625"/>
                </a:lnTo>
                <a:cubicBezTo>
                  <a:pt x="102592" y="47625"/>
                  <a:pt x="103609" y="47203"/>
                  <a:pt x="104353" y="46459"/>
                </a:cubicBezTo>
                <a:lnTo>
                  <a:pt x="126355" y="24457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45" name="Text 42"/>
          <p:cNvSpPr/>
          <p:nvPr/>
        </p:nvSpPr>
        <p:spPr>
          <a:xfrm>
            <a:off x="793750" y="463550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工具注册与管理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47688" y="49530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7" name="Text 44"/>
          <p:cNvSpPr/>
          <p:nvPr/>
        </p:nvSpPr>
        <p:spPr>
          <a:xfrm>
            <a:off x="793750" y="492125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参数解析与验证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55625" y="5238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3189" y="9004"/>
                </a:moveTo>
                <a:cubicBezTo>
                  <a:pt x="35892" y="10889"/>
                  <a:pt x="36537" y="14610"/>
                  <a:pt x="34652" y="17289"/>
                </a:cubicBezTo>
                <a:lnTo>
                  <a:pt x="20762" y="37133"/>
                </a:lnTo>
                <a:cubicBezTo>
                  <a:pt x="19745" y="38571"/>
                  <a:pt x="18157" y="39489"/>
                  <a:pt x="16396" y="39638"/>
                </a:cubicBezTo>
                <a:cubicBezTo>
                  <a:pt x="14635" y="39787"/>
                  <a:pt x="12898" y="39191"/>
                  <a:pt x="11658" y="37951"/>
                </a:cubicBezTo>
                <a:lnTo>
                  <a:pt x="1736" y="28029"/>
                </a:lnTo>
                <a:cubicBezTo>
                  <a:pt x="-571" y="25698"/>
                  <a:pt x="-571" y="21927"/>
                  <a:pt x="1736" y="19596"/>
                </a:cubicBezTo>
                <a:cubicBezTo>
                  <a:pt x="4043" y="17264"/>
                  <a:pt x="7838" y="17289"/>
                  <a:pt x="10170" y="19596"/>
                </a:cubicBezTo>
                <a:lnTo>
                  <a:pt x="15081" y="24507"/>
                </a:lnTo>
                <a:lnTo>
                  <a:pt x="24904" y="10468"/>
                </a:lnTo>
                <a:cubicBezTo>
                  <a:pt x="26789" y="7764"/>
                  <a:pt x="30510" y="7119"/>
                  <a:pt x="33189" y="9004"/>
                </a:cubicBezTo>
                <a:close/>
                <a:moveTo>
                  <a:pt x="33189" y="48692"/>
                </a:moveTo>
                <a:cubicBezTo>
                  <a:pt x="35892" y="50577"/>
                  <a:pt x="36537" y="54297"/>
                  <a:pt x="34652" y="56976"/>
                </a:cubicBezTo>
                <a:lnTo>
                  <a:pt x="20762" y="76820"/>
                </a:lnTo>
                <a:cubicBezTo>
                  <a:pt x="19745" y="78259"/>
                  <a:pt x="18157" y="79177"/>
                  <a:pt x="16396" y="79325"/>
                </a:cubicBezTo>
                <a:cubicBezTo>
                  <a:pt x="14635" y="79474"/>
                  <a:pt x="12898" y="78879"/>
                  <a:pt x="11658" y="77639"/>
                </a:cubicBezTo>
                <a:lnTo>
                  <a:pt x="1736" y="67717"/>
                </a:lnTo>
                <a:cubicBezTo>
                  <a:pt x="-595" y="65385"/>
                  <a:pt x="-595" y="61615"/>
                  <a:pt x="1736" y="59308"/>
                </a:cubicBezTo>
                <a:cubicBezTo>
                  <a:pt x="4068" y="57001"/>
                  <a:pt x="7838" y="56976"/>
                  <a:pt x="10145" y="59308"/>
                </a:cubicBezTo>
                <a:lnTo>
                  <a:pt x="15056" y="64219"/>
                </a:lnTo>
                <a:lnTo>
                  <a:pt x="24879" y="50180"/>
                </a:lnTo>
                <a:cubicBezTo>
                  <a:pt x="26764" y="47476"/>
                  <a:pt x="30485" y="46831"/>
                  <a:pt x="33164" y="48716"/>
                </a:cubicBezTo>
                <a:close/>
                <a:moveTo>
                  <a:pt x="55563" y="23812"/>
                </a:moveTo>
                <a:cubicBezTo>
                  <a:pt x="55563" y="19422"/>
                  <a:pt x="59110" y="15875"/>
                  <a:pt x="63500" y="15875"/>
                </a:cubicBezTo>
                <a:lnTo>
                  <a:pt x="119063" y="15875"/>
                </a:lnTo>
                <a:cubicBezTo>
                  <a:pt x="123453" y="15875"/>
                  <a:pt x="127000" y="19422"/>
                  <a:pt x="127000" y="23812"/>
                </a:cubicBezTo>
                <a:cubicBezTo>
                  <a:pt x="127000" y="28203"/>
                  <a:pt x="123453" y="31750"/>
                  <a:pt x="119063" y="31750"/>
                </a:cubicBezTo>
                <a:lnTo>
                  <a:pt x="63500" y="31750"/>
                </a:lnTo>
                <a:cubicBezTo>
                  <a:pt x="59110" y="31750"/>
                  <a:pt x="55563" y="28203"/>
                  <a:pt x="55563" y="23812"/>
                </a:cubicBezTo>
                <a:close/>
                <a:moveTo>
                  <a:pt x="55563" y="63500"/>
                </a:moveTo>
                <a:cubicBezTo>
                  <a:pt x="55563" y="59110"/>
                  <a:pt x="59110" y="55563"/>
                  <a:pt x="63500" y="55563"/>
                </a:cubicBezTo>
                <a:lnTo>
                  <a:pt x="119063" y="55563"/>
                </a:lnTo>
                <a:cubicBezTo>
                  <a:pt x="123453" y="55563"/>
                  <a:pt x="127000" y="59110"/>
                  <a:pt x="127000" y="63500"/>
                </a:cubicBezTo>
                <a:cubicBezTo>
                  <a:pt x="127000" y="67890"/>
                  <a:pt x="123453" y="71438"/>
                  <a:pt x="119063" y="71438"/>
                </a:cubicBezTo>
                <a:lnTo>
                  <a:pt x="63500" y="71438"/>
                </a:lnTo>
                <a:cubicBezTo>
                  <a:pt x="59110" y="71438"/>
                  <a:pt x="55563" y="67890"/>
                  <a:pt x="55563" y="63500"/>
                </a:cubicBezTo>
                <a:close/>
                <a:moveTo>
                  <a:pt x="39688" y="103188"/>
                </a:moveTo>
                <a:cubicBezTo>
                  <a:pt x="39688" y="98797"/>
                  <a:pt x="43235" y="95250"/>
                  <a:pt x="47625" y="95250"/>
                </a:cubicBezTo>
                <a:lnTo>
                  <a:pt x="119063" y="95250"/>
                </a:lnTo>
                <a:cubicBezTo>
                  <a:pt x="123453" y="95250"/>
                  <a:pt x="127000" y="98797"/>
                  <a:pt x="127000" y="103188"/>
                </a:cubicBezTo>
                <a:cubicBezTo>
                  <a:pt x="127000" y="107578"/>
                  <a:pt x="123453" y="111125"/>
                  <a:pt x="119063" y="111125"/>
                </a:cubicBezTo>
                <a:lnTo>
                  <a:pt x="47625" y="111125"/>
                </a:lnTo>
                <a:cubicBezTo>
                  <a:pt x="43235" y="111125"/>
                  <a:pt x="39688" y="107578"/>
                  <a:pt x="39688" y="103188"/>
                </a:cubicBezTo>
                <a:close/>
                <a:moveTo>
                  <a:pt x="15875" y="93266"/>
                </a:moveTo>
                <a:cubicBezTo>
                  <a:pt x="21351" y="93266"/>
                  <a:pt x="25797" y="97711"/>
                  <a:pt x="25797" y="103188"/>
                </a:cubicBezTo>
                <a:cubicBezTo>
                  <a:pt x="25797" y="108664"/>
                  <a:pt x="21351" y="113109"/>
                  <a:pt x="15875" y="113109"/>
                </a:cubicBezTo>
                <a:cubicBezTo>
                  <a:pt x="10399" y="113109"/>
                  <a:pt x="5953" y="108664"/>
                  <a:pt x="5953" y="103188"/>
                </a:cubicBezTo>
                <a:cubicBezTo>
                  <a:pt x="5953" y="97711"/>
                  <a:pt x="10399" y="93266"/>
                  <a:pt x="15875" y="9326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9" name="Text 46"/>
          <p:cNvSpPr/>
          <p:nvPr/>
        </p:nvSpPr>
        <p:spPr>
          <a:xfrm>
            <a:off x="793750" y="5207000"/>
            <a:ext cx="825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执行调度引擎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55625" y="5524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563" y="0"/>
                </a:moveTo>
                <a:cubicBezTo>
                  <a:pt x="64319" y="0"/>
                  <a:pt x="71438" y="5333"/>
                  <a:pt x="71438" y="11906"/>
                </a:cubicBezTo>
                <a:cubicBezTo>
                  <a:pt x="71438" y="14486"/>
                  <a:pt x="70346" y="16867"/>
                  <a:pt x="68461" y="18827"/>
                </a:cubicBezTo>
                <a:cubicBezTo>
                  <a:pt x="66824" y="20538"/>
                  <a:pt x="65484" y="22622"/>
                  <a:pt x="65484" y="25003"/>
                </a:cubicBezTo>
                <a:cubicBezTo>
                  <a:pt x="65484" y="28724"/>
                  <a:pt x="68511" y="31750"/>
                  <a:pt x="72231" y="31750"/>
                </a:cubicBezTo>
                <a:lnTo>
                  <a:pt x="83344" y="31750"/>
                </a:lnTo>
                <a:cubicBezTo>
                  <a:pt x="89917" y="31750"/>
                  <a:pt x="95250" y="37083"/>
                  <a:pt x="95250" y="43656"/>
                </a:cubicBezTo>
                <a:lnTo>
                  <a:pt x="95250" y="54769"/>
                </a:lnTo>
                <a:cubicBezTo>
                  <a:pt x="95250" y="58489"/>
                  <a:pt x="98276" y="61516"/>
                  <a:pt x="101997" y="61516"/>
                </a:cubicBezTo>
                <a:cubicBezTo>
                  <a:pt x="104353" y="61516"/>
                  <a:pt x="106462" y="60176"/>
                  <a:pt x="108173" y="58539"/>
                </a:cubicBezTo>
                <a:cubicBezTo>
                  <a:pt x="110133" y="56679"/>
                  <a:pt x="112514" y="55563"/>
                  <a:pt x="115094" y="55563"/>
                </a:cubicBezTo>
                <a:cubicBezTo>
                  <a:pt x="121667" y="55563"/>
                  <a:pt x="127000" y="62681"/>
                  <a:pt x="127000" y="71438"/>
                </a:cubicBezTo>
                <a:cubicBezTo>
                  <a:pt x="127000" y="80194"/>
                  <a:pt x="121667" y="87313"/>
                  <a:pt x="115094" y="87313"/>
                </a:cubicBezTo>
                <a:cubicBezTo>
                  <a:pt x="112514" y="87313"/>
                  <a:pt x="110108" y="86221"/>
                  <a:pt x="108173" y="84336"/>
                </a:cubicBezTo>
                <a:cubicBezTo>
                  <a:pt x="106462" y="82699"/>
                  <a:pt x="104378" y="81359"/>
                  <a:pt x="101997" y="81359"/>
                </a:cubicBezTo>
                <a:cubicBezTo>
                  <a:pt x="98276" y="81359"/>
                  <a:pt x="95250" y="84386"/>
                  <a:pt x="95250" y="88106"/>
                </a:cubicBezTo>
                <a:lnTo>
                  <a:pt x="95250" y="115094"/>
                </a:lnTo>
                <a:cubicBezTo>
                  <a:pt x="95250" y="121667"/>
                  <a:pt x="89917" y="127000"/>
                  <a:pt x="83344" y="127000"/>
                </a:cubicBezTo>
                <a:lnTo>
                  <a:pt x="69255" y="127000"/>
                </a:lnTo>
                <a:cubicBezTo>
                  <a:pt x="66080" y="127000"/>
                  <a:pt x="63500" y="124420"/>
                  <a:pt x="63500" y="121245"/>
                </a:cubicBezTo>
                <a:cubicBezTo>
                  <a:pt x="63500" y="118963"/>
                  <a:pt x="64939" y="116954"/>
                  <a:pt x="66774" y="115590"/>
                </a:cubicBezTo>
                <a:cubicBezTo>
                  <a:pt x="69652" y="113432"/>
                  <a:pt x="71438" y="110455"/>
                  <a:pt x="71438" y="107156"/>
                </a:cubicBezTo>
                <a:cubicBezTo>
                  <a:pt x="71438" y="100583"/>
                  <a:pt x="64319" y="95250"/>
                  <a:pt x="55563" y="95250"/>
                </a:cubicBezTo>
                <a:cubicBezTo>
                  <a:pt x="46806" y="95250"/>
                  <a:pt x="39688" y="100583"/>
                  <a:pt x="39688" y="107156"/>
                </a:cubicBezTo>
                <a:cubicBezTo>
                  <a:pt x="39688" y="110455"/>
                  <a:pt x="41473" y="113432"/>
                  <a:pt x="44351" y="115590"/>
                </a:cubicBezTo>
                <a:cubicBezTo>
                  <a:pt x="46186" y="116954"/>
                  <a:pt x="47625" y="118938"/>
                  <a:pt x="47625" y="121245"/>
                </a:cubicBezTo>
                <a:cubicBezTo>
                  <a:pt x="47625" y="124420"/>
                  <a:pt x="45045" y="127000"/>
                  <a:pt x="41870" y="127000"/>
                </a:cubicBezTo>
                <a:lnTo>
                  <a:pt x="11906" y="127000"/>
                </a:lnTo>
                <a:cubicBezTo>
                  <a:pt x="5333" y="127000"/>
                  <a:pt x="0" y="121667"/>
                  <a:pt x="0" y="115094"/>
                </a:cubicBezTo>
                <a:lnTo>
                  <a:pt x="0" y="85130"/>
                </a:lnTo>
                <a:cubicBezTo>
                  <a:pt x="0" y="81955"/>
                  <a:pt x="2580" y="79375"/>
                  <a:pt x="5755" y="79375"/>
                </a:cubicBezTo>
                <a:cubicBezTo>
                  <a:pt x="8037" y="79375"/>
                  <a:pt x="10046" y="80814"/>
                  <a:pt x="11410" y="82649"/>
                </a:cubicBezTo>
                <a:cubicBezTo>
                  <a:pt x="13568" y="85527"/>
                  <a:pt x="16545" y="87313"/>
                  <a:pt x="19844" y="87313"/>
                </a:cubicBezTo>
                <a:cubicBezTo>
                  <a:pt x="26417" y="87313"/>
                  <a:pt x="31750" y="80194"/>
                  <a:pt x="31750" y="71438"/>
                </a:cubicBezTo>
                <a:cubicBezTo>
                  <a:pt x="31750" y="62681"/>
                  <a:pt x="26417" y="55563"/>
                  <a:pt x="19844" y="55563"/>
                </a:cubicBezTo>
                <a:cubicBezTo>
                  <a:pt x="16545" y="55563"/>
                  <a:pt x="13568" y="57348"/>
                  <a:pt x="11410" y="60226"/>
                </a:cubicBezTo>
                <a:cubicBezTo>
                  <a:pt x="10046" y="62061"/>
                  <a:pt x="8062" y="63500"/>
                  <a:pt x="5755" y="63500"/>
                </a:cubicBezTo>
                <a:cubicBezTo>
                  <a:pt x="2580" y="63500"/>
                  <a:pt x="0" y="60920"/>
                  <a:pt x="0" y="57745"/>
                </a:cubicBezTo>
                <a:lnTo>
                  <a:pt x="0" y="43656"/>
                </a:lnTo>
                <a:cubicBezTo>
                  <a:pt x="0" y="37083"/>
                  <a:pt x="5333" y="31750"/>
                  <a:pt x="11906" y="31750"/>
                </a:cubicBezTo>
                <a:lnTo>
                  <a:pt x="38894" y="31750"/>
                </a:lnTo>
                <a:cubicBezTo>
                  <a:pt x="42614" y="31750"/>
                  <a:pt x="45641" y="28724"/>
                  <a:pt x="45641" y="25003"/>
                </a:cubicBezTo>
                <a:cubicBezTo>
                  <a:pt x="45641" y="22647"/>
                  <a:pt x="44301" y="20538"/>
                  <a:pt x="42664" y="18827"/>
                </a:cubicBezTo>
                <a:cubicBezTo>
                  <a:pt x="40804" y="16867"/>
                  <a:pt x="39688" y="14486"/>
                  <a:pt x="39688" y="11906"/>
                </a:cubicBezTo>
                <a:cubicBezTo>
                  <a:pt x="39688" y="5333"/>
                  <a:pt x="46806" y="0"/>
                  <a:pt x="55563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1" name="Text 48"/>
          <p:cNvSpPr/>
          <p:nvPr/>
        </p:nvSpPr>
        <p:spPr>
          <a:xfrm>
            <a:off x="793750" y="549275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支持插件式扩展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207125" y="4000500"/>
            <a:ext cx="5699125" cy="2698750"/>
          </a:xfrm>
          <a:custGeom>
            <a:avLst/>
            <a:gdLst/>
            <a:ahLst/>
            <a:cxnLst/>
            <a:rect l="l" t="t" r="r" b="b"/>
            <a:pathLst>
              <a:path w="5699125" h="2698750">
                <a:moveTo>
                  <a:pt x="31750" y="0"/>
                </a:moveTo>
                <a:lnTo>
                  <a:pt x="5603886" y="0"/>
                </a:lnTo>
                <a:cubicBezTo>
                  <a:pt x="5656485" y="0"/>
                  <a:pt x="5699125" y="42640"/>
                  <a:pt x="5699125" y="95239"/>
                </a:cubicBezTo>
                <a:lnTo>
                  <a:pt x="5699125" y="2603511"/>
                </a:lnTo>
                <a:cubicBezTo>
                  <a:pt x="5699125" y="2656110"/>
                  <a:pt x="5656485" y="2698750"/>
                  <a:pt x="5603886" y="2698750"/>
                </a:cubicBez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207125" y="4000500"/>
            <a:ext cx="31750" cy="2698750"/>
          </a:xfrm>
          <a:custGeom>
            <a:avLst/>
            <a:gdLst/>
            <a:ahLst/>
            <a:cxnLst/>
            <a:rect l="l" t="t" r="r" b="b"/>
            <a:pathLst>
              <a:path w="31750" h="2698750">
                <a:moveTo>
                  <a:pt x="31750" y="0"/>
                </a:moveTo>
                <a:lnTo>
                  <a:pt x="31750" y="0"/>
                </a:lnTo>
                <a:lnTo>
                  <a:pt x="31750" y="2698750"/>
                </a:lnTo>
                <a:lnTo>
                  <a:pt x="31750" y="2698750"/>
                </a:lnTo>
                <a:cubicBezTo>
                  <a:pt x="14227" y="2698750"/>
                  <a:pt x="0" y="2684523"/>
                  <a:pt x="0" y="2667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54" name="Shape 51"/>
          <p:cNvSpPr/>
          <p:nvPr/>
        </p:nvSpPr>
        <p:spPr>
          <a:xfrm>
            <a:off x="6381750" y="4159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55" name="Text 52"/>
          <p:cNvSpPr/>
          <p:nvPr/>
        </p:nvSpPr>
        <p:spPr>
          <a:xfrm>
            <a:off x="6474830" y="4238625"/>
            <a:ext cx="277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858000" y="4238625"/>
            <a:ext cx="1190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上下文管理模块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381750" y="463550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58" name="Text 55"/>
          <p:cNvSpPr/>
          <p:nvPr/>
        </p:nvSpPr>
        <p:spPr>
          <a:xfrm>
            <a:off x="6477000" y="473075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会话记忆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477000" y="495300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维护对话历史记录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81750" y="530225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61" name="Text 58"/>
          <p:cNvSpPr/>
          <p:nvPr/>
        </p:nvSpPr>
        <p:spPr>
          <a:xfrm>
            <a:off x="6477000" y="539750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历史上下文关联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477000" y="561975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关联历史信息,理解深层意图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381750" y="5969000"/>
            <a:ext cx="5365750" cy="571500"/>
          </a:xfrm>
          <a:custGeom>
            <a:avLst/>
            <a:gdLst/>
            <a:ahLst/>
            <a:cxnLst/>
            <a:rect l="l" t="t" r="r" b="b"/>
            <a:pathLst>
              <a:path w="5365750" h="57150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508001"/>
                </a:lnTo>
                <a:cubicBezTo>
                  <a:pt x="5365750" y="543070"/>
                  <a:pt x="5337320" y="571500"/>
                  <a:pt x="53022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64" name="Text 61"/>
          <p:cNvSpPr/>
          <p:nvPr/>
        </p:nvSpPr>
        <p:spPr>
          <a:xfrm>
            <a:off x="6477000" y="6064250"/>
            <a:ext cx="5238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多轮对话支撑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477000" y="6286500"/>
            <a:ext cx="5230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支持连续追问与澄清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0101" y="342954"/>
            <a:ext cx="1929114" cy="274363"/>
          </a:xfrm>
          <a:custGeom>
            <a:avLst/>
            <a:gdLst/>
            <a:ahLst/>
            <a:cxnLst/>
            <a:rect l="l" t="t" r="r" b="b"/>
            <a:pathLst>
              <a:path w="1929114" h="274363">
                <a:moveTo>
                  <a:pt x="0" y="0"/>
                </a:moveTo>
                <a:lnTo>
                  <a:pt x="1929114" y="0"/>
                </a:lnTo>
                <a:lnTo>
                  <a:pt x="1929114" y="274363"/>
                </a:lnTo>
                <a:lnTo>
                  <a:pt x="0" y="274363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60101" y="342954"/>
            <a:ext cx="34295" cy="274363"/>
          </a:xfrm>
          <a:custGeom>
            <a:avLst/>
            <a:gdLst/>
            <a:ahLst/>
            <a:cxnLst/>
            <a:rect l="l" t="t" r="r" b="b"/>
            <a:pathLst>
              <a:path w="34295" h="274363">
                <a:moveTo>
                  <a:pt x="0" y="0"/>
                </a:moveTo>
                <a:lnTo>
                  <a:pt x="34295" y="0"/>
                </a:lnTo>
                <a:lnTo>
                  <a:pt x="34295" y="274363"/>
                </a:lnTo>
                <a:lnTo>
                  <a:pt x="0" y="274363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14350" y="389890"/>
            <a:ext cx="202057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54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DETAIL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2954" y="685907"/>
            <a:ext cx="11660422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系统架构：上层架构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54" y="1097451"/>
            <a:ext cx="685907" cy="34295"/>
          </a:xfrm>
          <a:custGeom>
            <a:avLst/>
            <a:gdLst/>
            <a:ahLst/>
            <a:cxnLst/>
            <a:rect l="l" t="t" r="r" b="b"/>
            <a:pathLst>
              <a:path w="685907" h="34295">
                <a:moveTo>
                  <a:pt x="0" y="0"/>
                </a:moveTo>
                <a:lnTo>
                  <a:pt x="685907" y="0"/>
                </a:lnTo>
                <a:lnTo>
                  <a:pt x="685907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42954" y="1320371"/>
            <a:ext cx="11506093" cy="1629030"/>
          </a:xfrm>
          <a:custGeom>
            <a:avLst/>
            <a:gdLst/>
            <a:ahLst/>
            <a:cxnLst/>
            <a:rect l="l" t="t" r="r" b="b"/>
            <a:pathLst>
              <a:path w="11506093" h="1629030">
                <a:moveTo>
                  <a:pt x="34295" y="0"/>
                </a:moveTo>
                <a:lnTo>
                  <a:pt x="11471797" y="0"/>
                </a:lnTo>
                <a:cubicBezTo>
                  <a:pt x="11490738" y="0"/>
                  <a:pt x="11506093" y="15355"/>
                  <a:pt x="11506093" y="34295"/>
                </a:cubicBezTo>
                <a:lnTo>
                  <a:pt x="11506093" y="1526140"/>
                </a:lnTo>
                <a:cubicBezTo>
                  <a:pt x="11506093" y="1582964"/>
                  <a:pt x="11460028" y="1629030"/>
                  <a:pt x="11403203" y="1629030"/>
                </a:cubicBezTo>
                <a:lnTo>
                  <a:pt x="102890" y="1629030"/>
                </a:lnTo>
                <a:cubicBezTo>
                  <a:pt x="46065" y="1629030"/>
                  <a:pt x="0" y="1582964"/>
                  <a:pt x="0" y="1526140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54" y="1320371"/>
            <a:ext cx="11506093" cy="34295"/>
          </a:xfrm>
          <a:custGeom>
            <a:avLst/>
            <a:gdLst/>
            <a:ahLst/>
            <a:cxnLst/>
            <a:rect l="l" t="t" r="r" b="b"/>
            <a:pathLst>
              <a:path w="11506093" h="34295">
                <a:moveTo>
                  <a:pt x="34295" y="0"/>
                </a:moveTo>
                <a:lnTo>
                  <a:pt x="11471797" y="0"/>
                </a:lnTo>
                <a:cubicBezTo>
                  <a:pt x="11490738" y="0"/>
                  <a:pt x="11506093" y="15355"/>
                  <a:pt x="11506093" y="34295"/>
                </a:cubicBezTo>
                <a:lnTo>
                  <a:pt x="11506093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514430" y="1508996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Shape 8"/>
          <p:cNvSpPr/>
          <p:nvPr/>
        </p:nvSpPr>
        <p:spPr>
          <a:xfrm>
            <a:off x="625890" y="1646177"/>
            <a:ext cx="257215" cy="205772"/>
          </a:xfrm>
          <a:custGeom>
            <a:avLst/>
            <a:gdLst/>
            <a:ahLst/>
            <a:cxnLst/>
            <a:rect l="l" t="t" r="r" b="b"/>
            <a:pathLst>
              <a:path w="257215" h="205772">
                <a:moveTo>
                  <a:pt x="167150" y="84600"/>
                </a:moveTo>
                <a:cubicBezTo>
                  <a:pt x="172053" y="83273"/>
                  <a:pt x="177197" y="85604"/>
                  <a:pt x="179408" y="90146"/>
                </a:cubicBezTo>
                <a:lnTo>
                  <a:pt x="186883" y="105257"/>
                </a:lnTo>
                <a:cubicBezTo>
                  <a:pt x="191022" y="105820"/>
                  <a:pt x="195082" y="106945"/>
                  <a:pt x="198900" y="108513"/>
                </a:cubicBezTo>
                <a:lnTo>
                  <a:pt x="212966" y="99148"/>
                </a:lnTo>
                <a:cubicBezTo>
                  <a:pt x="217186" y="96335"/>
                  <a:pt x="222772" y="96898"/>
                  <a:pt x="226349" y="100475"/>
                </a:cubicBezTo>
                <a:lnTo>
                  <a:pt x="234066" y="108191"/>
                </a:lnTo>
                <a:cubicBezTo>
                  <a:pt x="237643" y="111768"/>
                  <a:pt x="238205" y="117395"/>
                  <a:pt x="235392" y="121574"/>
                </a:cubicBezTo>
                <a:lnTo>
                  <a:pt x="226028" y="135601"/>
                </a:lnTo>
                <a:cubicBezTo>
                  <a:pt x="226791" y="137490"/>
                  <a:pt x="227475" y="139459"/>
                  <a:pt x="228037" y="141509"/>
                </a:cubicBezTo>
                <a:cubicBezTo>
                  <a:pt x="228600" y="143558"/>
                  <a:pt x="228962" y="145568"/>
                  <a:pt x="229243" y="147617"/>
                </a:cubicBezTo>
                <a:lnTo>
                  <a:pt x="244395" y="155093"/>
                </a:lnTo>
                <a:cubicBezTo>
                  <a:pt x="248936" y="157343"/>
                  <a:pt x="251267" y="162488"/>
                  <a:pt x="249941" y="167351"/>
                </a:cubicBezTo>
                <a:lnTo>
                  <a:pt x="247128" y="177880"/>
                </a:lnTo>
                <a:cubicBezTo>
                  <a:pt x="245801" y="182743"/>
                  <a:pt x="241260" y="186039"/>
                  <a:pt x="236196" y="185717"/>
                </a:cubicBezTo>
                <a:lnTo>
                  <a:pt x="219316" y="184632"/>
                </a:lnTo>
                <a:cubicBezTo>
                  <a:pt x="216784" y="187888"/>
                  <a:pt x="213850" y="190902"/>
                  <a:pt x="210515" y="193474"/>
                </a:cubicBezTo>
                <a:lnTo>
                  <a:pt x="211600" y="210314"/>
                </a:lnTo>
                <a:cubicBezTo>
                  <a:pt x="211921" y="215378"/>
                  <a:pt x="208626" y="219959"/>
                  <a:pt x="203763" y="221245"/>
                </a:cubicBezTo>
                <a:lnTo>
                  <a:pt x="193233" y="224059"/>
                </a:lnTo>
                <a:cubicBezTo>
                  <a:pt x="188330" y="225385"/>
                  <a:pt x="183226" y="223054"/>
                  <a:pt x="180975" y="218512"/>
                </a:cubicBezTo>
                <a:lnTo>
                  <a:pt x="173500" y="203401"/>
                </a:lnTo>
                <a:cubicBezTo>
                  <a:pt x="169360" y="202838"/>
                  <a:pt x="165301" y="201713"/>
                  <a:pt x="161483" y="200146"/>
                </a:cubicBezTo>
                <a:lnTo>
                  <a:pt x="147416" y="209510"/>
                </a:lnTo>
                <a:cubicBezTo>
                  <a:pt x="143197" y="212323"/>
                  <a:pt x="137610" y="211760"/>
                  <a:pt x="134033" y="208184"/>
                </a:cubicBezTo>
                <a:lnTo>
                  <a:pt x="126317" y="200467"/>
                </a:lnTo>
                <a:cubicBezTo>
                  <a:pt x="122740" y="196890"/>
                  <a:pt x="122177" y="191304"/>
                  <a:pt x="124991" y="187084"/>
                </a:cubicBezTo>
                <a:lnTo>
                  <a:pt x="134355" y="173017"/>
                </a:lnTo>
                <a:cubicBezTo>
                  <a:pt x="133591" y="171128"/>
                  <a:pt x="132908" y="169159"/>
                  <a:pt x="132345" y="167109"/>
                </a:cubicBezTo>
                <a:cubicBezTo>
                  <a:pt x="131783" y="165060"/>
                  <a:pt x="131421" y="163010"/>
                  <a:pt x="131140" y="161001"/>
                </a:cubicBezTo>
                <a:lnTo>
                  <a:pt x="115988" y="153525"/>
                </a:lnTo>
                <a:cubicBezTo>
                  <a:pt x="111447" y="151275"/>
                  <a:pt x="109156" y="146130"/>
                  <a:pt x="110442" y="141267"/>
                </a:cubicBezTo>
                <a:lnTo>
                  <a:pt x="113255" y="130738"/>
                </a:lnTo>
                <a:cubicBezTo>
                  <a:pt x="114581" y="125875"/>
                  <a:pt x="119123" y="122579"/>
                  <a:pt x="124187" y="122901"/>
                </a:cubicBezTo>
                <a:lnTo>
                  <a:pt x="141026" y="123986"/>
                </a:lnTo>
                <a:cubicBezTo>
                  <a:pt x="143558" y="120730"/>
                  <a:pt x="146492" y="117716"/>
                  <a:pt x="149828" y="115144"/>
                </a:cubicBezTo>
                <a:lnTo>
                  <a:pt x="148743" y="98345"/>
                </a:lnTo>
                <a:cubicBezTo>
                  <a:pt x="148421" y="93281"/>
                  <a:pt x="151717" y="88699"/>
                  <a:pt x="156580" y="87413"/>
                </a:cubicBezTo>
                <a:lnTo>
                  <a:pt x="167109" y="84600"/>
                </a:lnTo>
                <a:close/>
                <a:moveTo>
                  <a:pt x="180211" y="136646"/>
                </a:moveTo>
                <a:cubicBezTo>
                  <a:pt x="170452" y="136657"/>
                  <a:pt x="162537" y="144589"/>
                  <a:pt x="162548" y="154349"/>
                </a:cubicBezTo>
                <a:cubicBezTo>
                  <a:pt x="162559" y="164109"/>
                  <a:pt x="170492" y="172024"/>
                  <a:pt x="180252" y="172013"/>
                </a:cubicBezTo>
                <a:cubicBezTo>
                  <a:pt x="190011" y="172002"/>
                  <a:pt x="197926" y="164069"/>
                  <a:pt x="197915" y="154309"/>
                </a:cubicBezTo>
                <a:cubicBezTo>
                  <a:pt x="197904" y="144549"/>
                  <a:pt x="189971" y="136634"/>
                  <a:pt x="180211" y="136646"/>
                </a:cubicBezTo>
                <a:close/>
                <a:moveTo>
                  <a:pt x="90387" y="-18286"/>
                </a:moveTo>
                <a:lnTo>
                  <a:pt x="100917" y="-15473"/>
                </a:lnTo>
                <a:cubicBezTo>
                  <a:pt x="105780" y="-14147"/>
                  <a:pt x="109075" y="-9565"/>
                  <a:pt x="108754" y="-4541"/>
                </a:cubicBezTo>
                <a:lnTo>
                  <a:pt x="107669" y="12258"/>
                </a:lnTo>
                <a:cubicBezTo>
                  <a:pt x="111004" y="14830"/>
                  <a:pt x="113938" y="17804"/>
                  <a:pt x="116470" y="21100"/>
                </a:cubicBezTo>
                <a:lnTo>
                  <a:pt x="133350" y="20015"/>
                </a:lnTo>
                <a:cubicBezTo>
                  <a:pt x="138374" y="19693"/>
                  <a:pt x="142955" y="22989"/>
                  <a:pt x="144282" y="27852"/>
                </a:cubicBezTo>
                <a:lnTo>
                  <a:pt x="147095" y="38381"/>
                </a:lnTo>
                <a:cubicBezTo>
                  <a:pt x="148381" y="43244"/>
                  <a:pt x="146090" y="48389"/>
                  <a:pt x="141549" y="50639"/>
                </a:cubicBezTo>
                <a:lnTo>
                  <a:pt x="126397" y="58115"/>
                </a:lnTo>
                <a:cubicBezTo>
                  <a:pt x="126116" y="60164"/>
                  <a:pt x="125714" y="62214"/>
                  <a:pt x="125191" y="64223"/>
                </a:cubicBezTo>
                <a:cubicBezTo>
                  <a:pt x="124669" y="66233"/>
                  <a:pt x="123946" y="68242"/>
                  <a:pt x="123182" y="70131"/>
                </a:cubicBezTo>
                <a:lnTo>
                  <a:pt x="132546" y="84198"/>
                </a:lnTo>
                <a:cubicBezTo>
                  <a:pt x="135359" y="88418"/>
                  <a:pt x="134797" y="94004"/>
                  <a:pt x="131220" y="97581"/>
                </a:cubicBezTo>
                <a:lnTo>
                  <a:pt x="123503" y="105297"/>
                </a:lnTo>
                <a:cubicBezTo>
                  <a:pt x="119927" y="108874"/>
                  <a:pt x="114340" y="109437"/>
                  <a:pt x="110120" y="106624"/>
                </a:cubicBezTo>
                <a:lnTo>
                  <a:pt x="96054" y="97259"/>
                </a:lnTo>
                <a:cubicBezTo>
                  <a:pt x="92236" y="98827"/>
                  <a:pt x="88177" y="99952"/>
                  <a:pt x="84037" y="100515"/>
                </a:cubicBezTo>
                <a:lnTo>
                  <a:pt x="76562" y="115626"/>
                </a:lnTo>
                <a:cubicBezTo>
                  <a:pt x="74311" y="120168"/>
                  <a:pt x="69167" y="122459"/>
                  <a:pt x="64304" y="121172"/>
                </a:cubicBezTo>
                <a:lnTo>
                  <a:pt x="53774" y="118359"/>
                </a:lnTo>
                <a:cubicBezTo>
                  <a:pt x="48871" y="117033"/>
                  <a:pt x="45616" y="112451"/>
                  <a:pt x="45937" y="107428"/>
                </a:cubicBezTo>
                <a:lnTo>
                  <a:pt x="47022" y="90588"/>
                </a:lnTo>
                <a:cubicBezTo>
                  <a:pt x="43686" y="88016"/>
                  <a:pt x="40753" y="85042"/>
                  <a:pt x="38221" y="81746"/>
                </a:cubicBezTo>
                <a:lnTo>
                  <a:pt x="21341" y="82831"/>
                </a:lnTo>
                <a:cubicBezTo>
                  <a:pt x="16317" y="83153"/>
                  <a:pt x="11735" y="79857"/>
                  <a:pt x="10409" y="74994"/>
                </a:cubicBezTo>
                <a:lnTo>
                  <a:pt x="7596" y="64465"/>
                </a:lnTo>
                <a:cubicBezTo>
                  <a:pt x="6310" y="59602"/>
                  <a:pt x="8601" y="54457"/>
                  <a:pt x="13142" y="52207"/>
                </a:cubicBezTo>
                <a:lnTo>
                  <a:pt x="28294" y="44731"/>
                </a:lnTo>
                <a:cubicBezTo>
                  <a:pt x="28575" y="42682"/>
                  <a:pt x="28977" y="40672"/>
                  <a:pt x="29499" y="38622"/>
                </a:cubicBezTo>
                <a:cubicBezTo>
                  <a:pt x="30062" y="36573"/>
                  <a:pt x="30705" y="34603"/>
                  <a:pt x="31509" y="32715"/>
                </a:cubicBezTo>
                <a:lnTo>
                  <a:pt x="22145" y="18688"/>
                </a:lnTo>
                <a:cubicBezTo>
                  <a:pt x="19331" y="14468"/>
                  <a:pt x="19894" y="8882"/>
                  <a:pt x="23471" y="5305"/>
                </a:cubicBezTo>
                <a:lnTo>
                  <a:pt x="31187" y="-2411"/>
                </a:lnTo>
                <a:cubicBezTo>
                  <a:pt x="34764" y="-5988"/>
                  <a:pt x="40351" y="-6551"/>
                  <a:pt x="44571" y="-3738"/>
                </a:cubicBezTo>
                <a:lnTo>
                  <a:pt x="58637" y="5627"/>
                </a:lnTo>
                <a:cubicBezTo>
                  <a:pt x="62455" y="4059"/>
                  <a:pt x="66514" y="2934"/>
                  <a:pt x="70654" y="2371"/>
                </a:cubicBezTo>
                <a:lnTo>
                  <a:pt x="78129" y="-12740"/>
                </a:lnTo>
                <a:cubicBezTo>
                  <a:pt x="80380" y="-17282"/>
                  <a:pt x="85484" y="-19572"/>
                  <a:pt x="90387" y="-18286"/>
                </a:cubicBezTo>
                <a:close/>
                <a:moveTo>
                  <a:pt x="77325" y="33759"/>
                </a:moveTo>
                <a:cubicBezTo>
                  <a:pt x="67566" y="33759"/>
                  <a:pt x="59642" y="41683"/>
                  <a:pt x="59642" y="51443"/>
                </a:cubicBezTo>
                <a:cubicBezTo>
                  <a:pt x="59642" y="61203"/>
                  <a:pt x="67566" y="69127"/>
                  <a:pt x="77325" y="69127"/>
                </a:cubicBezTo>
                <a:cubicBezTo>
                  <a:pt x="87085" y="69127"/>
                  <a:pt x="95009" y="61203"/>
                  <a:pt x="95009" y="51443"/>
                </a:cubicBezTo>
                <a:cubicBezTo>
                  <a:pt x="95009" y="41683"/>
                  <a:pt x="87085" y="33759"/>
                  <a:pt x="77325" y="3375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1131747" y="1508996"/>
            <a:ext cx="1131747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业务逻辑层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263494" y="1508996"/>
            <a:ext cx="1440405" cy="274363"/>
          </a:xfrm>
          <a:custGeom>
            <a:avLst/>
            <a:gdLst/>
            <a:ahLst/>
            <a:cxnLst/>
            <a:rect l="l" t="t" r="r" b="b"/>
            <a:pathLst>
              <a:path w="1440405" h="274363">
                <a:moveTo>
                  <a:pt x="137181" y="0"/>
                </a:moveTo>
                <a:lnTo>
                  <a:pt x="1303224" y="0"/>
                </a:lnTo>
                <a:cubicBezTo>
                  <a:pt x="1378936" y="0"/>
                  <a:pt x="1440405" y="61469"/>
                  <a:pt x="1440405" y="137181"/>
                </a:cubicBezTo>
                <a:lnTo>
                  <a:pt x="1440405" y="137181"/>
                </a:lnTo>
                <a:cubicBezTo>
                  <a:pt x="1440405" y="212894"/>
                  <a:pt x="1378936" y="274363"/>
                  <a:pt x="1303224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2263494" y="1508996"/>
            <a:ext cx="1508996" cy="274363"/>
          </a:xfrm>
          <a:prstGeom prst="rect">
            <a:avLst/>
          </a:prstGeom>
          <a:noFill/>
        </p:spPr>
        <p:txBody>
          <a:bodyPr wrap="square" lIns="102886" tIns="34295" rIns="102886" bIns="34295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场景适配与规则封装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1747" y="1886245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6" name="Shape 13"/>
          <p:cNvSpPr/>
          <p:nvPr/>
        </p:nvSpPr>
        <p:spPr>
          <a:xfrm>
            <a:off x="2308707" y="1989131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02886" y="205772"/>
                </a:moveTo>
                <a:cubicBezTo>
                  <a:pt x="159670" y="205772"/>
                  <a:pt x="205772" y="159670"/>
                  <a:pt x="205772" y="102886"/>
                </a:cubicBezTo>
                <a:cubicBezTo>
                  <a:pt x="205772" y="46102"/>
                  <a:pt x="159670" y="0"/>
                  <a:pt x="102886" y="0"/>
                </a:cubicBezTo>
                <a:cubicBezTo>
                  <a:pt x="46102" y="0"/>
                  <a:pt x="0" y="46102"/>
                  <a:pt x="0" y="102886"/>
                </a:cubicBezTo>
                <a:cubicBezTo>
                  <a:pt x="0" y="159670"/>
                  <a:pt x="46102" y="205772"/>
                  <a:pt x="102886" y="205772"/>
                </a:cubicBezTo>
                <a:close/>
                <a:moveTo>
                  <a:pt x="102886" y="70734"/>
                </a:moveTo>
                <a:cubicBezTo>
                  <a:pt x="95772" y="70734"/>
                  <a:pt x="90025" y="76481"/>
                  <a:pt x="90025" y="83595"/>
                </a:cubicBezTo>
                <a:cubicBezTo>
                  <a:pt x="90025" y="88940"/>
                  <a:pt x="85725" y="93241"/>
                  <a:pt x="80380" y="93241"/>
                </a:cubicBezTo>
                <a:cubicBezTo>
                  <a:pt x="75034" y="93241"/>
                  <a:pt x="70734" y="88940"/>
                  <a:pt x="70734" y="83595"/>
                </a:cubicBezTo>
                <a:cubicBezTo>
                  <a:pt x="70734" y="65831"/>
                  <a:pt x="85122" y="51443"/>
                  <a:pt x="102886" y="51443"/>
                </a:cubicBezTo>
                <a:cubicBezTo>
                  <a:pt x="120650" y="51443"/>
                  <a:pt x="135038" y="65831"/>
                  <a:pt x="135038" y="83595"/>
                </a:cubicBezTo>
                <a:cubicBezTo>
                  <a:pt x="135038" y="102565"/>
                  <a:pt x="120570" y="110603"/>
                  <a:pt x="112532" y="113536"/>
                </a:cubicBezTo>
                <a:lnTo>
                  <a:pt x="112532" y="115064"/>
                </a:lnTo>
                <a:cubicBezTo>
                  <a:pt x="112532" y="120409"/>
                  <a:pt x="108231" y="124709"/>
                  <a:pt x="102886" y="124709"/>
                </a:cubicBezTo>
                <a:cubicBezTo>
                  <a:pt x="97541" y="124709"/>
                  <a:pt x="93241" y="120409"/>
                  <a:pt x="93241" y="115064"/>
                </a:cubicBezTo>
                <a:lnTo>
                  <a:pt x="93241" y="111808"/>
                </a:lnTo>
                <a:cubicBezTo>
                  <a:pt x="93241" y="103569"/>
                  <a:pt x="99189" y="97661"/>
                  <a:pt x="105338" y="95652"/>
                </a:cubicBezTo>
                <a:cubicBezTo>
                  <a:pt x="107910" y="94808"/>
                  <a:pt x="110643" y="93441"/>
                  <a:pt x="112652" y="91512"/>
                </a:cubicBezTo>
                <a:cubicBezTo>
                  <a:pt x="114380" y="89824"/>
                  <a:pt x="115747" y="87493"/>
                  <a:pt x="115747" y="83635"/>
                </a:cubicBezTo>
                <a:cubicBezTo>
                  <a:pt x="115747" y="76522"/>
                  <a:pt x="110000" y="70774"/>
                  <a:pt x="102886" y="70774"/>
                </a:cubicBezTo>
                <a:close/>
                <a:moveTo>
                  <a:pt x="90025" y="147899"/>
                </a:moveTo>
                <a:cubicBezTo>
                  <a:pt x="90025" y="140801"/>
                  <a:pt x="95788" y="135038"/>
                  <a:pt x="102886" y="135038"/>
                </a:cubicBezTo>
                <a:cubicBezTo>
                  <a:pt x="109984" y="135038"/>
                  <a:pt x="115747" y="140801"/>
                  <a:pt x="115747" y="147899"/>
                </a:cubicBezTo>
                <a:cubicBezTo>
                  <a:pt x="115747" y="154997"/>
                  <a:pt x="109984" y="160759"/>
                  <a:pt x="102886" y="160759"/>
                </a:cubicBezTo>
                <a:cubicBezTo>
                  <a:pt x="95788" y="160759"/>
                  <a:pt x="90025" y="154997"/>
                  <a:pt x="90025" y="147899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7" name="Text 14"/>
          <p:cNvSpPr/>
          <p:nvPr/>
        </p:nvSpPr>
        <p:spPr>
          <a:xfrm>
            <a:off x="1200338" y="2263494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问题理解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04624" y="2503561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意图识别与分类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794393" y="1886245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0" name="Shape 17"/>
          <p:cNvSpPr/>
          <p:nvPr/>
        </p:nvSpPr>
        <p:spPr>
          <a:xfrm>
            <a:off x="4971353" y="1989131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02886" y="192911"/>
                </a:moveTo>
                <a:cubicBezTo>
                  <a:pt x="159715" y="192911"/>
                  <a:pt x="205772" y="149707"/>
                  <a:pt x="205772" y="96456"/>
                </a:cubicBezTo>
                <a:cubicBezTo>
                  <a:pt x="205772" y="43204"/>
                  <a:pt x="159715" y="0"/>
                  <a:pt x="102886" y="0"/>
                </a:cubicBezTo>
                <a:cubicBezTo>
                  <a:pt x="46058" y="0"/>
                  <a:pt x="0" y="43204"/>
                  <a:pt x="0" y="96456"/>
                </a:cubicBezTo>
                <a:cubicBezTo>
                  <a:pt x="0" y="118279"/>
                  <a:pt x="7716" y="138374"/>
                  <a:pt x="20738" y="154530"/>
                </a:cubicBezTo>
                <a:lnTo>
                  <a:pt x="1125" y="191625"/>
                </a:lnTo>
                <a:cubicBezTo>
                  <a:pt x="-804" y="195242"/>
                  <a:pt x="-201" y="199663"/>
                  <a:pt x="2572" y="202678"/>
                </a:cubicBezTo>
                <a:cubicBezTo>
                  <a:pt x="5345" y="205692"/>
                  <a:pt x="9726" y="206616"/>
                  <a:pt x="13464" y="205009"/>
                </a:cubicBezTo>
                <a:lnTo>
                  <a:pt x="61048" y="184632"/>
                </a:lnTo>
                <a:cubicBezTo>
                  <a:pt x="73829" y="189937"/>
                  <a:pt x="87976" y="192911"/>
                  <a:pt x="102886" y="192911"/>
                </a:cubicBezTo>
                <a:close/>
                <a:moveTo>
                  <a:pt x="51443" y="83595"/>
                </a:moveTo>
                <a:cubicBezTo>
                  <a:pt x="58541" y="83595"/>
                  <a:pt x="64304" y="89358"/>
                  <a:pt x="64304" y="96456"/>
                </a:cubicBezTo>
                <a:cubicBezTo>
                  <a:pt x="64304" y="103554"/>
                  <a:pt x="58541" y="109316"/>
                  <a:pt x="51443" y="109316"/>
                </a:cubicBezTo>
                <a:cubicBezTo>
                  <a:pt x="44345" y="109316"/>
                  <a:pt x="38582" y="103554"/>
                  <a:pt x="38582" y="96456"/>
                </a:cubicBezTo>
                <a:cubicBezTo>
                  <a:pt x="38582" y="89358"/>
                  <a:pt x="44345" y="83595"/>
                  <a:pt x="51443" y="83595"/>
                </a:cubicBezTo>
                <a:close/>
                <a:moveTo>
                  <a:pt x="102886" y="83595"/>
                </a:moveTo>
                <a:cubicBezTo>
                  <a:pt x="109984" y="83595"/>
                  <a:pt x="115747" y="89358"/>
                  <a:pt x="115747" y="96456"/>
                </a:cubicBezTo>
                <a:cubicBezTo>
                  <a:pt x="115747" y="103554"/>
                  <a:pt x="109984" y="109316"/>
                  <a:pt x="102886" y="109316"/>
                </a:cubicBezTo>
                <a:cubicBezTo>
                  <a:pt x="95788" y="109316"/>
                  <a:pt x="90025" y="103554"/>
                  <a:pt x="90025" y="96456"/>
                </a:cubicBezTo>
                <a:cubicBezTo>
                  <a:pt x="90025" y="89358"/>
                  <a:pt x="95788" y="83595"/>
                  <a:pt x="102886" y="83595"/>
                </a:cubicBezTo>
                <a:close/>
                <a:moveTo>
                  <a:pt x="141468" y="96456"/>
                </a:moveTo>
                <a:cubicBezTo>
                  <a:pt x="141468" y="89358"/>
                  <a:pt x="147231" y="83595"/>
                  <a:pt x="154329" y="83595"/>
                </a:cubicBezTo>
                <a:cubicBezTo>
                  <a:pt x="161427" y="83595"/>
                  <a:pt x="167190" y="89358"/>
                  <a:pt x="167190" y="96456"/>
                </a:cubicBezTo>
                <a:cubicBezTo>
                  <a:pt x="167190" y="103554"/>
                  <a:pt x="161427" y="109316"/>
                  <a:pt x="154329" y="109316"/>
                </a:cubicBezTo>
                <a:cubicBezTo>
                  <a:pt x="147231" y="109316"/>
                  <a:pt x="141468" y="103554"/>
                  <a:pt x="141468" y="9645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1" name="Text 18"/>
          <p:cNvSpPr/>
          <p:nvPr/>
        </p:nvSpPr>
        <p:spPr>
          <a:xfrm>
            <a:off x="3862984" y="2263494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模糊问题澄清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67271" y="2503561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主动追问与确认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57039" y="1886245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4" name="Shape 21"/>
          <p:cNvSpPr/>
          <p:nvPr/>
        </p:nvSpPr>
        <p:spPr>
          <a:xfrm>
            <a:off x="7621139" y="1989131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90025" y="99671"/>
                </a:moveTo>
                <a:cubicBezTo>
                  <a:pt x="116643" y="99671"/>
                  <a:pt x="138253" y="78061"/>
                  <a:pt x="138253" y="51443"/>
                </a:cubicBezTo>
                <a:cubicBezTo>
                  <a:pt x="138253" y="24825"/>
                  <a:pt x="116643" y="3215"/>
                  <a:pt x="90025" y="3215"/>
                </a:cubicBezTo>
                <a:cubicBezTo>
                  <a:pt x="63408" y="3215"/>
                  <a:pt x="41797" y="24825"/>
                  <a:pt x="41797" y="51443"/>
                </a:cubicBezTo>
                <a:cubicBezTo>
                  <a:pt x="41797" y="78061"/>
                  <a:pt x="63408" y="99671"/>
                  <a:pt x="90025" y="99671"/>
                </a:cubicBezTo>
                <a:close/>
                <a:moveTo>
                  <a:pt x="78089" y="122177"/>
                </a:moveTo>
                <a:cubicBezTo>
                  <a:pt x="38502" y="122177"/>
                  <a:pt x="6430" y="154249"/>
                  <a:pt x="6430" y="193836"/>
                </a:cubicBezTo>
                <a:cubicBezTo>
                  <a:pt x="6430" y="200427"/>
                  <a:pt x="11776" y="205772"/>
                  <a:pt x="18367" y="205772"/>
                </a:cubicBezTo>
                <a:lnTo>
                  <a:pt x="119444" y="205772"/>
                </a:lnTo>
                <a:cubicBezTo>
                  <a:pt x="104896" y="188651"/>
                  <a:pt x="96456" y="166587"/>
                  <a:pt x="96456" y="143237"/>
                </a:cubicBezTo>
                <a:lnTo>
                  <a:pt x="96456" y="130738"/>
                </a:lnTo>
                <a:cubicBezTo>
                  <a:pt x="96456" y="127804"/>
                  <a:pt x="96858" y="124910"/>
                  <a:pt x="97621" y="122177"/>
                </a:cubicBezTo>
                <a:lnTo>
                  <a:pt x="78089" y="122177"/>
                </a:lnTo>
                <a:close/>
                <a:moveTo>
                  <a:pt x="178966" y="196328"/>
                </a:moveTo>
                <a:lnTo>
                  <a:pt x="173620" y="198859"/>
                </a:lnTo>
                <a:lnTo>
                  <a:pt x="173620" y="123262"/>
                </a:lnTo>
                <a:lnTo>
                  <a:pt x="212203" y="136123"/>
                </a:lnTo>
                <a:lnTo>
                  <a:pt x="212203" y="144000"/>
                </a:lnTo>
                <a:cubicBezTo>
                  <a:pt x="212203" y="166426"/>
                  <a:pt x="199261" y="186803"/>
                  <a:pt x="178966" y="196368"/>
                </a:cubicBezTo>
                <a:close/>
                <a:moveTo>
                  <a:pt x="169561" y="104293"/>
                </a:moveTo>
                <a:lnTo>
                  <a:pt x="124548" y="119284"/>
                </a:lnTo>
                <a:cubicBezTo>
                  <a:pt x="119284" y="121052"/>
                  <a:pt x="115747" y="125955"/>
                  <a:pt x="115747" y="131501"/>
                </a:cubicBezTo>
                <a:lnTo>
                  <a:pt x="115747" y="144000"/>
                </a:lnTo>
                <a:cubicBezTo>
                  <a:pt x="115747" y="173902"/>
                  <a:pt x="133028" y="201110"/>
                  <a:pt x="160036" y="213810"/>
                </a:cubicBezTo>
                <a:lnTo>
                  <a:pt x="167471" y="217307"/>
                </a:lnTo>
                <a:cubicBezTo>
                  <a:pt x="169400" y="218191"/>
                  <a:pt x="171490" y="218673"/>
                  <a:pt x="173580" y="218673"/>
                </a:cubicBezTo>
                <a:cubicBezTo>
                  <a:pt x="175670" y="218673"/>
                  <a:pt x="177800" y="218191"/>
                  <a:pt x="179689" y="217307"/>
                </a:cubicBezTo>
                <a:lnTo>
                  <a:pt x="187124" y="213810"/>
                </a:lnTo>
                <a:cubicBezTo>
                  <a:pt x="214212" y="201070"/>
                  <a:pt x="231494" y="173861"/>
                  <a:pt x="231494" y="143960"/>
                </a:cubicBezTo>
                <a:lnTo>
                  <a:pt x="231494" y="131461"/>
                </a:lnTo>
                <a:cubicBezTo>
                  <a:pt x="231494" y="125915"/>
                  <a:pt x="227957" y="121012"/>
                  <a:pt x="222692" y="119243"/>
                </a:cubicBezTo>
                <a:lnTo>
                  <a:pt x="177679" y="104253"/>
                </a:lnTo>
                <a:cubicBezTo>
                  <a:pt x="175027" y="103368"/>
                  <a:pt x="172173" y="103368"/>
                  <a:pt x="169561" y="104253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5" name="Text 22"/>
          <p:cNvSpPr/>
          <p:nvPr/>
        </p:nvSpPr>
        <p:spPr>
          <a:xfrm>
            <a:off x="6525630" y="2263494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权限控制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29917" y="2503561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访问权限管理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119685" y="1886245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8" name="Shape 25"/>
          <p:cNvSpPr/>
          <p:nvPr/>
        </p:nvSpPr>
        <p:spPr>
          <a:xfrm>
            <a:off x="10296646" y="1989131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82068" y="7395"/>
                </a:moveTo>
                <a:cubicBezTo>
                  <a:pt x="86891" y="9404"/>
                  <a:pt x="90025" y="14066"/>
                  <a:pt x="90025" y="19291"/>
                </a:cubicBezTo>
                <a:lnTo>
                  <a:pt x="90025" y="51443"/>
                </a:lnTo>
                <a:lnTo>
                  <a:pt x="135038" y="51443"/>
                </a:lnTo>
                <a:cubicBezTo>
                  <a:pt x="174103" y="51443"/>
                  <a:pt x="205772" y="83113"/>
                  <a:pt x="205772" y="122177"/>
                </a:cubicBezTo>
                <a:cubicBezTo>
                  <a:pt x="205772" y="167712"/>
                  <a:pt x="173017" y="188048"/>
                  <a:pt x="165502" y="192148"/>
                </a:cubicBezTo>
                <a:cubicBezTo>
                  <a:pt x="164497" y="192710"/>
                  <a:pt x="163372" y="192911"/>
                  <a:pt x="162247" y="192911"/>
                </a:cubicBezTo>
                <a:cubicBezTo>
                  <a:pt x="157866" y="192911"/>
                  <a:pt x="154329" y="189334"/>
                  <a:pt x="154329" y="184994"/>
                </a:cubicBezTo>
                <a:cubicBezTo>
                  <a:pt x="154329" y="181980"/>
                  <a:pt x="156057" y="179207"/>
                  <a:pt x="158268" y="177157"/>
                </a:cubicBezTo>
                <a:cubicBezTo>
                  <a:pt x="162046" y="173620"/>
                  <a:pt x="167190" y="166547"/>
                  <a:pt x="167190" y="154369"/>
                </a:cubicBezTo>
                <a:cubicBezTo>
                  <a:pt x="167190" y="133069"/>
                  <a:pt x="149908" y="115787"/>
                  <a:pt x="128608" y="115787"/>
                </a:cubicBezTo>
                <a:lnTo>
                  <a:pt x="90025" y="115787"/>
                </a:lnTo>
                <a:lnTo>
                  <a:pt x="90025" y="147939"/>
                </a:lnTo>
                <a:cubicBezTo>
                  <a:pt x="90025" y="153123"/>
                  <a:pt x="86891" y="157826"/>
                  <a:pt x="82068" y="159835"/>
                </a:cubicBezTo>
                <a:cubicBezTo>
                  <a:pt x="77245" y="161845"/>
                  <a:pt x="71739" y="160719"/>
                  <a:pt x="68041" y="157062"/>
                </a:cubicBezTo>
                <a:lnTo>
                  <a:pt x="3738" y="92758"/>
                </a:lnTo>
                <a:cubicBezTo>
                  <a:pt x="-1286" y="87734"/>
                  <a:pt x="-1286" y="79576"/>
                  <a:pt x="3738" y="74552"/>
                </a:cubicBezTo>
                <a:lnTo>
                  <a:pt x="68041" y="10248"/>
                </a:lnTo>
                <a:cubicBezTo>
                  <a:pt x="71739" y="6551"/>
                  <a:pt x="77245" y="5466"/>
                  <a:pt x="82068" y="7475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9" name="Text 26"/>
          <p:cNvSpPr/>
          <p:nvPr/>
        </p:nvSpPr>
        <p:spPr>
          <a:xfrm>
            <a:off x="9188276" y="2263494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反馈处理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192563" y="2503561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用户评价与迭代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42954" y="3103730"/>
            <a:ext cx="11506093" cy="1629030"/>
          </a:xfrm>
          <a:custGeom>
            <a:avLst/>
            <a:gdLst/>
            <a:ahLst/>
            <a:cxnLst/>
            <a:rect l="l" t="t" r="r" b="b"/>
            <a:pathLst>
              <a:path w="11506093" h="1629030">
                <a:moveTo>
                  <a:pt x="34295" y="0"/>
                </a:moveTo>
                <a:lnTo>
                  <a:pt x="11471797" y="0"/>
                </a:lnTo>
                <a:cubicBezTo>
                  <a:pt x="11490738" y="0"/>
                  <a:pt x="11506093" y="15355"/>
                  <a:pt x="11506093" y="34295"/>
                </a:cubicBezTo>
                <a:lnTo>
                  <a:pt x="11506093" y="1526140"/>
                </a:lnTo>
                <a:cubicBezTo>
                  <a:pt x="11506093" y="1582964"/>
                  <a:pt x="11460028" y="1629030"/>
                  <a:pt x="11403203" y="1629030"/>
                </a:cubicBezTo>
                <a:lnTo>
                  <a:pt x="102890" y="1629030"/>
                </a:lnTo>
                <a:cubicBezTo>
                  <a:pt x="46065" y="1629030"/>
                  <a:pt x="0" y="1582964"/>
                  <a:pt x="0" y="1526140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42954" y="3103730"/>
            <a:ext cx="11506093" cy="34295"/>
          </a:xfrm>
          <a:custGeom>
            <a:avLst/>
            <a:gdLst/>
            <a:ahLst/>
            <a:cxnLst/>
            <a:rect l="l" t="t" r="r" b="b"/>
            <a:pathLst>
              <a:path w="11506093" h="34295">
                <a:moveTo>
                  <a:pt x="34295" y="0"/>
                </a:moveTo>
                <a:lnTo>
                  <a:pt x="11471797" y="0"/>
                </a:lnTo>
                <a:cubicBezTo>
                  <a:pt x="11490738" y="0"/>
                  <a:pt x="11506093" y="15355"/>
                  <a:pt x="11506093" y="34295"/>
                </a:cubicBezTo>
                <a:lnTo>
                  <a:pt x="11506093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3" name="Shape 30"/>
          <p:cNvSpPr/>
          <p:nvPr/>
        </p:nvSpPr>
        <p:spPr>
          <a:xfrm>
            <a:off x="514430" y="3292354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4" name="Shape 31"/>
          <p:cNvSpPr/>
          <p:nvPr/>
        </p:nvSpPr>
        <p:spPr>
          <a:xfrm>
            <a:off x="651612" y="3429536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5722" y="12861"/>
                </a:moveTo>
                <a:cubicBezTo>
                  <a:pt x="11534" y="12861"/>
                  <a:pt x="0" y="24395"/>
                  <a:pt x="0" y="38582"/>
                </a:cubicBezTo>
                <a:lnTo>
                  <a:pt x="0" y="141468"/>
                </a:lnTo>
                <a:cubicBezTo>
                  <a:pt x="0" y="155655"/>
                  <a:pt x="11534" y="167190"/>
                  <a:pt x="25722" y="167190"/>
                </a:cubicBezTo>
                <a:lnTo>
                  <a:pt x="83595" y="167190"/>
                </a:lnTo>
                <a:lnTo>
                  <a:pt x="77165" y="186481"/>
                </a:lnTo>
                <a:lnTo>
                  <a:pt x="48228" y="186481"/>
                </a:lnTo>
                <a:cubicBezTo>
                  <a:pt x="42883" y="186481"/>
                  <a:pt x="38582" y="190781"/>
                  <a:pt x="38582" y="196127"/>
                </a:cubicBezTo>
                <a:cubicBezTo>
                  <a:pt x="38582" y="201472"/>
                  <a:pt x="42883" y="205772"/>
                  <a:pt x="48228" y="205772"/>
                </a:cubicBezTo>
                <a:lnTo>
                  <a:pt x="157544" y="205772"/>
                </a:lnTo>
                <a:cubicBezTo>
                  <a:pt x="162890" y="205772"/>
                  <a:pt x="167190" y="201472"/>
                  <a:pt x="167190" y="196127"/>
                </a:cubicBezTo>
                <a:cubicBezTo>
                  <a:pt x="167190" y="190781"/>
                  <a:pt x="162890" y="186481"/>
                  <a:pt x="157544" y="186481"/>
                </a:cubicBezTo>
                <a:lnTo>
                  <a:pt x="128608" y="186481"/>
                </a:lnTo>
                <a:lnTo>
                  <a:pt x="122177" y="167190"/>
                </a:lnTo>
                <a:lnTo>
                  <a:pt x="180051" y="167190"/>
                </a:lnTo>
                <a:cubicBezTo>
                  <a:pt x="194238" y="167190"/>
                  <a:pt x="205772" y="155655"/>
                  <a:pt x="205772" y="141468"/>
                </a:cubicBezTo>
                <a:lnTo>
                  <a:pt x="205772" y="38582"/>
                </a:lnTo>
                <a:cubicBezTo>
                  <a:pt x="205772" y="24395"/>
                  <a:pt x="194238" y="12861"/>
                  <a:pt x="180051" y="12861"/>
                </a:cubicBezTo>
                <a:lnTo>
                  <a:pt x="25722" y="12861"/>
                </a:lnTo>
                <a:close/>
                <a:moveTo>
                  <a:pt x="38582" y="38582"/>
                </a:moveTo>
                <a:lnTo>
                  <a:pt x="167190" y="38582"/>
                </a:lnTo>
                <a:cubicBezTo>
                  <a:pt x="174303" y="38582"/>
                  <a:pt x="180051" y="44329"/>
                  <a:pt x="180051" y="51443"/>
                </a:cubicBezTo>
                <a:lnTo>
                  <a:pt x="180051" y="115747"/>
                </a:lnTo>
                <a:cubicBezTo>
                  <a:pt x="180051" y="122860"/>
                  <a:pt x="174303" y="128608"/>
                  <a:pt x="167190" y="128608"/>
                </a:cubicBezTo>
                <a:lnTo>
                  <a:pt x="38582" y="128608"/>
                </a:lnTo>
                <a:cubicBezTo>
                  <a:pt x="31469" y="128608"/>
                  <a:pt x="25722" y="122860"/>
                  <a:pt x="25722" y="115747"/>
                </a:cubicBezTo>
                <a:lnTo>
                  <a:pt x="25722" y="51443"/>
                </a:lnTo>
                <a:cubicBezTo>
                  <a:pt x="25722" y="44329"/>
                  <a:pt x="31469" y="38582"/>
                  <a:pt x="38582" y="3858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5" name="Text 32"/>
          <p:cNvSpPr/>
          <p:nvPr/>
        </p:nvSpPr>
        <p:spPr>
          <a:xfrm>
            <a:off x="1131747" y="3292354"/>
            <a:ext cx="720203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交互层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851949" y="3292354"/>
            <a:ext cx="1611882" cy="274363"/>
          </a:xfrm>
          <a:custGeom>
            <a:avLst/>
            <a:gdLst/>
            <a:ahLst/>
            <a:cxnLst/>
            <a:rect l="l" t="t" r="r" b="b"/>
            <a:pathLst>
              <a:path w="1611882" h="274363">
                <a:moveTo>
                  <a:pt x="137181" y="0"/>
                </a:moveTo>
                <a:lnTo>
                  <a:pt x="1474700" y="0"/>
                </a:lnTo>
                <a:cubicBezTo>
                  <a:pt x="1550413" y="0"/>
                  <a:pt x="1611882" y="61469"/>
                  <a:pt x="1611882" y="137181"/>
                </a:cubicBezTo>
                <a:lnTo>
                  <a:pt x="1611882" y="137181"/>
                </a:lnTo>
                <a:cubicBezTo>
                  <a:pt x="1611882" y="212894"/>
                  <a:pt x="1550413" y="274363"/>
                  <a:pt x="1474700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1851949" y="3292354"/>
            <a:ext cx="1680473" cy="274363"/>
          </a:xfrm>
          <a:prstGeom prst="rect">
            <a:avLst/>
          </a:prstGeom>
          <a:noFill/>
        </p:spPr>
        <p:txBody>
          <a:bodyPr wrap="square" lIns="102886" tIns="34295" rIns="102886" bIns="34295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多端接入,适配不同场景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131747" y="3669603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9" name="Shape 36"/>
          <p:cNvSpPr/>
          <p:nvPr/>
        </p:nvSpPr>
        <p:spPr>
          <a:xfrm>
            <a:off x="2308707" y="377248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41428" y="112532"/>
                </a:moveTo>
                <a:lnTo>
                  <a:pt x="64706" y="112532"/>
                </a:lnTo>
                <a:cubicBezTo>
                  <a:pt x="65871" y="138454"/>
                  <a:pt x="71618" y="162327"/>
                  <a:pt x="79777" y="179809"/>
                </a:cubicBezTo>
                <a:cubicBezTo>
                  <a:pt x="84359" y="189656"/>
                  <a:pt x="89302" y="196609"/>
                  <a:pt x="93884" y="200869"/>
                </a:cubicBezTo>
                <a:cubicBezTo>
                  <a:pt x="98385" y="205089"/>
                  <a:pt x="101479" y="205772"/>
                  <a:pt x="103087" y="205772"/>
                </a:cubicBezTo>
                <a:cubicBezTo>
                  <a:pt x="104695" y="205772"/>
                  <a:pt x="107789" y="205089"/>
                  <a:pt x="112291" y="200869"/>
                </a:cubicBezTo>
                <a:cubicBezTo>
                  <a:pt x="116872" y="196609"/>
                  <a:pt x="121816" y="189616"/>
                  <a:pt x="126397" y="179809"/>
                </a:cubicBezTo>
                <a:cubicBezTo>
                  <a:pt x="134556" y="162327"/>
                  <a:pt x="140303" y="138454"/>
                  <a:pt x="141468" y="112532"/>
                </a:cubicBezTo>
                <a:close/>
                <a:moveTo>
                  <a:pt x="64666" y="93241"/>
                </a:moveTo>
                <a:lnTo>
                  <a:pt x="141388" y="93241"/>
                </a:lnTo>
                <a:cubicBezTo>
                  <a:pt x="140263" y="67318"/>
                  <a:pt x="134516" y="43445"/>
                  <a:pt x="126357" y="25963"/>
                </a:cubicBezTo>
                <a:cubicBezTo>
                  <a:pt x="121775" y="16156"/>
                  <a:pt x="116832" y="9163"/>
                  <a:pt x="112250" y="4903"/>
                </a:cubicBezTo>
                <a:cubicBezTo>
                  <a:pt x="107749" y="683"/>
                  <a:pt x="104654" y="0"/>
                  <a:pt x="103047" y="0"/>
                </a:cubicBezTo>
                <a:cubicBezTo>
                  <a:pt x="101439" y="0"/>
                  <a:pt x="98345" y="683"/>
                  <a:pt x="93843" y="4903"/>
                </a:cubicBezTo>
                <a:cubicBezTo>
                  <a:pt x="89262" y="9163"/>
                  <a:pt x="84318" y="16156"/>
                  <a:pt x="79737" y="25963"/>
                </a:cubicBezTo>
                <a:cubicBezTo>
                  <a:pt x="71578" y="43445"/>
                  <a:pt x="65831" y="67318"/>
                  <a:pt x="64666" y="93241"/>
                </a:cubicBezTo>
                <a:close/>
                <a:moveTo>
                  <a:pt x="45374" y="93241"/>
                </a:moveTo>
                <a:cubicBezTo>
                  <a:pt x="46781" y="58838"/>
                  <a:pt x="55663" y="26887"/>
                  <a:pt x="68644" y="5908"/>
                </a:cubicBezTo>
                <a:cubicBezTo>
                  <a:pt x="31629" y="19010"/>
                  <a:pt x="4381" y="52729"/>
                  <a:pt x="603" y="93241"/>
                </a:cubicBezTo>
                <a:lnTo>
                  <a:pt x="45374" y="93241"/>
                </a:lnTo>
                <a:close/>
                <a:moveTo>
                  <a:pt x="603" y="112532"/>
                </a:moveTo>
                <a:cubicBezTo>
                  <a:pt x="4381" y="153043"/>
                  <a:pt x="31629" y="186762"/>
                  <a:pt x="68644" y="199864"/>
                </a:cubicBezTo>
                <a:cubicBezTo>
                  <a:pt x="55663" y="178885"/>
                  <a:pt x="46781" y="146934"/>
                  <a:pt x="45374" y="112532"/>
                </a:cubicBezTo>
                <a:lnTo>
                  <a:pt x="603" y="112532"/>
                </a:lnTo>
                <a:close/>
                <a:moveTo>
                  <a:pt x="160719" y="112532"/>
                </a:moveTo>
                <a:cubicBezTo>
                  <a:pt x="159313" y="146934"/>
                  <a:pt x="150431" y="178885"/>
                  <a:pt x="137449" y="199864"/>
                </a:cubicBezTo>
                <a:cubicBezTo>
                  <a:pt x="174464" y="186722"/>
                  <a:pt x="201713" y="153043"/>
                  <a:pt x="205491" y="112532"/>
                </a:cubicBezTo>
                <a:lnTo>
                  <a:pt x="160719" y="112532"/>
                </a:lnTo>
                <a:close/>
                <a:moveTo>
                  <a:pt x="205491" y="93241"/>
                </a:moveTo>
                <a:cubicBezTo>
                  <a:pt x="201713" y="52729"/>
                  <a:pt x="174464" y="19010"/>
                  <a:pt x="137449" y="5908"/>
                </a:cubicBezTo>
                <a:cubicBezTo>
                  <a:pt x="150431" y="26887"/>
                  <a:pt x="159313" y="58838"/>
                  <a:pt x="160719" y="93241"/>
                </a:cubicBezTo>
                <a:lnTo>
                  <a:pt x="205491" y="93241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40" name="Text 37"/>
          <p:cNvSpPr/>
          <p:nvPr/>
        </p:nvSpPr>
        <p:spPr>
          <a:xfrm>
            <a:off x="1200338" y="4046852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Web端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204624" y="4286920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独立页面 + 嵌入式组件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794393" y="3669603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3" name="Shape 40"/>
          <p:cNvSpPr/>
          <p:nvPr/>
        </p:nvSpPr>
        <p:spPr>
          <a:xfrm>
            <a:off x="4945632" y="3772489"/>
            <a:ext cx="257215" cy="205772"/>
          </a:xfrm>
          <a:custGeom>
            <a:avLst/>
            <a:gdLst/>
            <a:ahLst/>
            <a:cxnLst/>
            <a:rect l="l" t="t" r="r" b="b"/>
            <a:pathLst>
              <a:path w="257215" h="205772">
                <a:moveTo>
                  <a:pt x="141468" y="0"/>
                </a:moveTo>
                <a:cubicBezTo>
                  <a:pt x="141468" y="-7114"/>
                  <a:pt x="135721" y="-12861"/>
                  <a:pt x="128608" y="-12861"/>
                </a:cubicBezTo>
                <a:cubicBezTo>
                  <a:pt x="121494" y="-12861"/>
                  <a:pt x="115747" y="-7114"/>
                  <a:pt x="115747" y="0"/>
                </a:cubicBezTo>
                <a:lnTo>
                  <a:pt x="115747" y="25722"/>
                </a:lnTo>
                <a:lnTo>
                  <a:pt x="77165" y="25722"/>
                </a:lnTo>
                <a:cubicBezTo>
                  <a:pt x="55864" y="25722"/>
                  <a:pt x="38582" y="43003"/>
                  <a:pt x="38582" y="64304"/>
                </a:cubicBezTo>
                <a:lnTo>
                  <a:pt x="38582" y="154329"/>
                </a:lnTo>
                <a:cubicBezTo>
                  <a:pt x="38582" y="175630"/>
                  <a:pt x="55864" y="192911"/>
                  <a:pt x="77165" y="192911"/>
                </a:cubicBezTo>
                <a:lnTo>
                  <a:pt x="180051" y="192911"/>
                </a:lnTo>
                <a:cubicBezTo>
                  <a:pt x="201351" y="192911"/>
                  <a:pt x="218633" y="175630"/>
                  <a:pt x="218633" y="154329"/>
                </a:cubicBezTo>
                <a:lnTo>
                  <a:pt x="218633" y="64304"/>
                </a:lnTo>
                <a:cubicBezTo>
                  <a:pt x="218633" y="43003"/>
                  <a:pt x="201351" y="25722"/>
                  <a:pt x="180051" y="25722"/>
                </a:cubicBezTo>
                <a:lnTo>
                  <a:pt x="141468" y="25722"/>
                </a:lnTo>
                <a:lnTo>
                  <a:pt x="141468" y="0"/>
                </a:lnTo>
                <a:close/>
                <a:moveTo>
                  <a:pt x="64304" y="147899"/>
                </a:moveTo>
                <a:cubicBezTo>
                  <a:pt x="64304" y="142553"/>
                  <a:pt x="68604" y="138253"/>
                  <a:pt x="73949" y="138253"/>
                </a:cubicBezTo>
                <a:lnTo>
                  <a:pt x="86810" y="138253"/>
                </a:lnTo>
                <a:cubicBezTo>
                  <a:pt x="92155" y="138253"/>
                  <a:pt x="96456" y="142553"/>
                  <a:pt x="96456" y="147899"/>
                </a:cubicBezTo>
                <a:cubicBezTo>
                  <a:pt x="96456" y="153244"/>
                  <a:pt x="92155" y="157544"/>
                  <a:pt x="86810" y="157544"/>
                </a:cubicBezTo>
                <a:lnTo>
                  <a:pt x="73949" y="157544"/>
                </a:lnTo>
                <a:cubicBezTo>
                  <a:pt x="68604" y="157544"/>
                  <a:pt x="64304" y="153244"/>
                  <a:pt x="64304" y="147899"/>
                </a:cubicBezTo>
                <a:close/>
                <a:moveTo>
                  <a:pt x="112532" y="147899"/>
                </a:moveTo>
                <a:cubicBezTo>
                  <a:pt x="112532" y="142553"/>
                  <a:pt x="116832" y="138253"/>
                  <a:pt x="122177" y="138253"/>
                </a:cubicBezTo>
                <a:lnTo>
                  <a:pt x="135038" y="138253"/>
                </a:lnTo>
                <a:cubicBezTo>
                  <a:pt x="140383" y="138253"/>
                  <a:pt x="144684" y="142553"/>
                  <a:pt x="144684" y="147899"/>
                </a:cubicBezTo>
                <a:cubicBezTo>
                  <a:pt x="144684" y="153244"/>
                  <a:pt x="140383" y="157544"/>
                  <a:pt x="135038" y="157544"/>
                </a:cubicBezTo>
                <a:lnTo>
                  <a:pt x="122177" y="157544"/>
                </a:lnTo>
                <a:cubicBezTo>
                  <a:pt x="116832" y="157544"/>
                  <a:pt x="112532" y="153244"/>
                  <a:pt x="112532" y="147899"/>
                </a:cubicBezTo>
                <a:close/>
                <a:moveTo>
                  <a:pt x="160759" y="147899"/>
                </a:moveTo>
                <a:cubicBezTo>
                  <a:pt x="160759" y="142553"/>
                  <a:pt x="165060" y="138253"/>
                  <a:pt x="170405" y="138253"/>
                </a:cubicBezTo>
                <a:lnTo>
                  <a:pt x="183266" y="138253"/>
                </a:lnTo>
                <a:cubicBezTo>
                  <a:pt x="188611" y="138253"/>
                  <a:pt x="192911" y="142553"/>
                  <a:pt x="192911" y="147899"/>
                </a:cubicBezTo>
                <a:cubicBezTo>
                  <a:pt x="192911" y="153244"/>
                  <a:pt x="188611" y="157544"/>
                  <a:pt x="183266" y="157544"/>
                </a:cubicBezTo>
                <a:lnTo>
                  <a:pt x="170405" y="157544"/>
                </a:lnTo>
                <a:cubicBezTo>
                  <a:pt x="165060" y="157544"/>
                  <a:pt x="160759" y="153244"/>
                  <a:pt x="160759" y="147899"/>
                </a:cubicBezTo>
                <a:close/>
                <a:moveTo>
                  <a:pt x="90025" y="70734"/>
                </a:moveTo>
                <a:cubicBezTo>
                  <a:pt x="100672" y="70734"/>
                  <a:pt x="109316" y="79378"/>
                  <a:pt x="109316" y="90025"/>
                </a:cubicBezTo>
                <a:cubicBezTo>
                  <a:pt x="109316" y="100672"/>
                  <a:pt x="100672" y="109316"/>
                  <a:pt x="90025" y="109316"/>
                </a:cubicBezTo>
                <a:cubicBezTo>
                  <a:pt x="79378" y="109316"/>
                  <a:pt x="70734" y="100672"/>
                  <a:pt x="70734" y="90025"/>
                </a:cubicBezTo>
                <a:cubicBezTo>
                  <a:pt x="70734" y="79378"/>
                  <a:pt x="79378" y="70734"/>
                  <a:pt x="90025" y="70734"/>
                </a:cubicBezTo>
                <a:close/>
                <a:moveTo>
                  <a:pt x="147899" y="90025"/>
                </a:moveTo>
                <a:cubicBezTo>
                  <a:pt x="147899" y="79378"/>
                  <a:pt x="156543" y="70734"/>
                  <a:pt x="167190" y="70734"/>
                </a:cubicBezTo>
                <a:cubicBezTo>
                  <a:pt x="177837" y="70734"/>
                  <a:pt x="186481" y="79378"/>
                  <a:pt x="186481" y="90025"/>
                </a:cubicBezTo>
                <a:cubicBezTo>
                  <a:pt x="186481" y="100672"/>
                  <a:pt x="177837" y="109316"/>
                  <a:pt x="167190" y="109316"/>
                </a:cubicBezTo>
                <a:cubicBezTo>
                  <a:pt x="156543" y="109316"/>
                  <a:pt x="147899" y="100672"/>
                  <a:pt x="147899" y="90025"/>
                </a:cubicBezTo>
                <a:close/>
                <a:moveTo>
                  <a:pt x="25722" y="90025"/>
                </a:moveTo>
                <a:cubicBezTo>
                  <a:pt x="25722" y="82912"/>
                  <a:pt x="19974" y="77165"/>
                  <a:pt x="12861" y="77165"/>
                </a:cubicBezTo>
                <a:cubicBezTo>
                  <a:pt x="5747" y="77165"/>
                  <a:pt x="0" y="82912"/>
                  <a:pt x="0" y="90025"/>
                </a:cubicBezTo>
                <a:lnTo>
                  <a:pt x="0" y="128608"/>
                </a:lnTo>
                <a:cubicBezTo>
                  <a:pt x="0" y="135721"/>
                  <a:pt x="5747" y="141468"/>
                  <a:pt x="12861" y="141468"/>
                </a:cubicBezTo>
                <a:cubicBezTo>
                  <a:pt x="19974" y="141468"/>
                  <a:pt x="25722" y="135721"/>
                  <a:pt x="25722" y="128608"/>
                </a:cubicBezTo>
                <a:lnTo>
                  <a:pt x="25722" y="90025"/>
                </a:lnTo>
                <a:close/>
                <a:moveTo>
                  <a:pt x="244354" y="77165"/>
                </a:moveTo>
                <a:cubicBezTo>
                  <a:pt x="237241" y="77165"/>
                  <a:pt x="231494" y="82912"/>
                  <a:pt x="231494" y="90025"/>
                </a:cubicBezTo>
                <a:lnTo>
                  <a:pt x="231494" y="128608"/>
                </a:lnTo>
                <a:cubicBezTo>
                  <a:pt x="231494" y="135721"/>
                  <a:pt x="237241" y="141468"/>
                  <a:pt x="244354" y="141468"/>
                </a:cubicBezTo>
                <a:cubicBezTo>
                  <a:pt x="251468" y="141468"/>
                  <a:pt x="257215" y="135721"/>
                  <a:pt x="257215" y="128608"/>
                </a:cubicBezTo>
                <a:lnTo>
                  <a:pt x="257215" y="90025"/>
                </a:lnTo>
                <a:cubicBezTo>
                  <a:pt x="257215" y="82912"/>
                  <a:pt x="251468" y="77165"/>
                  <a:pt x="244354" y="77165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4" name="Text 41"/>
          <p:cNvSpPr/>
          <p:nvPr/>
        </p:nvSpPr>
        <p:spPr>
          <a:xfrm>
            <a:off x="3862984" y="4046852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社群机器人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3867271" y="4286920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即时通讯工具集成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57039" y="3669603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7" name="Shape 44"/>
          <p:cNvSpPr/>
          <p:nvPr/>
        </p:nvSpPr>
        <p:spPr>
          <a:xfrm>
            <a:off x="7633999" y="377248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69890" y="159715"/>
                </a:moveTo>
                <a:cubicBezTo>
                  <a:pt x="69890" y="160518"/>
                  <a:pt x="68966" y="161161"/>
                  <a:pt x="67800" y="161161"/>
                </a:cubicBezTo>
                <a:cubicBezTo>
                  <a:pt x="66474" y="161282"/>
                  <a:pt x="65550" y="160639"/>
                  <a:pt x="65550" y="159715"/>
                </a:cubicBezTo>
                <a:cubicBezTo>
                  <a:pt x="65550" y="158911"/>
                  <a:pt x="66474" y="158268"/>
                  <a:pt x="67640" y="158268"/>
                </a:cubicBezTo>
                <a:cubicBezTo>
                  <a:pt x="68845" y="158147"/>
                  <a:pt x="69890" y="158790"/>
                  <a:pt x="69890" y="159715"/>
                </a:cubicBezTo>
                <a:close/>
                <a:moveTo>
                  <a:pt x="57391" y="157906"/>
                </a:moveTo>
                <a:cubicBezTo>
                  <a:pt x="57110" y="158710"/>
                  <a:pt x="57914" y="159634"/>
                  <a:pt x="59119" y="159875"/>
                </a:cubicBezTo>
                <a:cubicBezTo>
                  <a:pt x="60164" y="160277"/>
                  <a:pt x="61370" y="159875"/>
                  <a:pt x="61611" y="159072"/>
                </a:cubicBezTo>
                <a:cubicBezTo>
                  <a:pt x="61852" y="158268"/>
                  <a:pt x="61089" y="157343"/>
                  <a:pt x="59883" y="156982"/>
                </a:cubicBezTo>
                <a:cubicBezTo>
                  <a:pt x="58838" y="156700"/>
                  <a:pt x="57672" y="157102"/>
                  <a:pt x="57391" y="157906"/>
                </a:cubicBezTo>
                <a:close/>
                <a:moveTo>
                  <a:pt x="75155" y="157223"/>
                </a:moveTo>
                <a:cubicBezTo>
                  <a:pt x="73990" y="157504"/>
                  <a:pt x="73186" y="158268"/>
                  <a:pt x="73306" y="159192"/>
                </a:cubicBezTo>
                <a:cubicBezTo>
                  <a:pt x="73427" y="159996"/>
                  <a:pt x="74472" y="160518"/>
                  <a:pt x="75678" y="160237"/>
                </a:cubicBezTo>
                <a:cubicBezTo>
                  <a:pt x="76843" y="159956"/>
                  <a:pt x="77647" y="159192"/>
                  <a:pt x="77526" y="158388"/>
                </a:cubicBezTo>
                <a:cubicBezTo>
                  <a:pt x="77406" y="157625"/>
                  <a:pt x="76321" y="157102"/>
                  <a:pt x="75155" y="157223"/>
                </a:cubicBezTo>
                <a:close/>
                <a:moveTo>
                  <a:pt x="101600" y="3215"/>
                </a:moveTo>
                <a:cubicBezTo>
                  <a:pt x="45857" y="3215"/>
                  <a:pt x="3215" y="45535"/>
                  <a:pt x="3215" y="101278"/>
                </a:cubicBezTo>
                <a:cubicBezTo>
                  <a:pt x="3215" y="145849"/>
                  <a:pt x="31268" y="183989"/>
                  <a:pt x="71337" y="197413"/>
                </a:cubicBezTo>
                <a:cubicBezTo>
                  <a:pt x="76481" y="198337"/>
                  <a:pt x="78290" y="195162"/>
                  <a:pt x="78290" y="192550"/>
                </a:cubicBezTo>
                <a:cubicBezTo>
                  <a:pt x="78290" y="190058"/>
                  <a:pt x="78169" y="176313"/>
                  <a:pt x="78169" y="167873"/>
                </a:cubicBezTo>
                <a:cubicBezTo>
                  <a:pt x="78169" y="167873"/>
                  <a:pt x="50036" y="173902"/>
                  <a:pt x="44128" y="155897"/>
                </a:cubicBezTo>
                <a:cubicBezTo>
                  <a:pt x="44128" y="155897"/>
                  <a:pt x="39547" y="144201"/>
                  <a:pt x="32956" y="141187"/>
                </a:cubicBezTo>
                <a:cubicBezTo>
                  <a:pt x="32956" y="141187"/>
                  <a:pt x="23752" y="134877"/>
                  <a:pt x="33599" y="134998"/>
                </a:cubicBezTo>
                <a:cubicBezTo>
                  <a:pt x="33599" y="134998"/>
                  <a:pt x="43606" y="135802"/>
                  <a:pt x="49112" y="145367"/>
                </a:cubicBezTo>
                <a:cubicBezTo>
                  <a:pt x="57914" y="160880"/>
                  <a:pt x="72663" y="156419"/>
                  <a:pt x="78410" y="153766"/>
                </a:cubicBezTo>
                <a:cubicBezTo>
                  <a:pt x="79335" y="147336"/>
                  <a:pt x="81947" y="142875"/>
                  <a:pt x="84841" y="140222"/>
                </a:cubicBezTo>
                <a:cubicBezTo>
                  <a:pt x="62375" y="137731"/>
                  <a:pt x="39708" y="134475"/>
                  <a:pt x="39708" y="95813"/>
                </a:cubicBezTo>
                <a:cubicBezTo>
                  <a:pt x="39708" y="84760"/>
                  <a:pt x="42762" y="79214"/>
                  <a:pt x="49192" y="72141"/>
                </a:cubicBezTo>
                <a:cubicBezTo>
                  <a:pt x="48147" y="69528"/>
                  <a:pt x="44731" y="58758"/>
                  <a:pt x="50237" y="44852"/>
                </a:cubicBezTo>
                <a:cubicBezTo>
                  <a:pt x="58637" y="42240"/>
                  <a:pt x="77968" y="55703"/>
                  <a:pt x="77968" y="55703"/>
                </a:cubicBezTo>
                <a:cubicBezTo>
                  <a:pt x="86006" y="53453"/>
                  <a:pt x="94647" y="52287"/>
                  <a:pt x="103208" y="52287"/>
                </a:cubicBezTo>
                <a:cubicBezTo>
                  <a:pt x="111768" y="52287"/>
                  <a:pt x="120409" y="53453"/>
                  <a:pt x="128447" y="55703"/>
                </a:cubicBezTo>
                <a:cubicBezTo>
                  <a:pt x="128447" y="55703"/>
                  <a:pt x="147778" y="42199"/>
                  <a:pt x="156178" y="44852"/>
                </a:cubicBezTo>
                <a:cubicBezTo>
                  <a:pt x="161684" y="58798"/>
                  <a:pt x="158268" y="69528"/>
                  <a:pt x="157223" y="72141"/>
                </a:cubicBezTo>
                <a:cubicBezTo>
                  <a:pt x="163653" y="79254"/>
                  <a:pt x="167592" y="84801"/>
                  <a:pt x="167592" y="95813"/>
                </a:cubicBezTo>
                <a:cubicBezTo>
                  <a:pt x="167592" y="134596"/>
                  <a:pt x="143920" y="137691"/>
                  <a:pt x="121454" y="140222"/>
                </a:cubicBezTo>
                <a:cubicBezTo>
                  <a:pt x="125151" y="143397"/>
                  <a:pt x="128286" y="149426"/>
                  <a:pt x="128286" y="158871"/>
                </a:cubicBezTo>
                <a:cubicBezTo>
                  <a:pt x="128286" y="172415"/>
                  <a:pt x="128166" y="189174"/>
                  <a:pt x="128166" y="192469"/>
                </a:cubicBezTo>
                <a:cubicBezTo>
                  <a:pt x="128166" y="195082"/>
                  <a:pt x="130014" y="198257"/>
                  <a:pt x="135118" y="197332"/>
                </a:cubicBezTo>
                <a:cubicBezTo>
                  <a:pt x="175308" y="183989"/>
                  <a:pt x="202557" y="145849"/>
                  <a:pt x="202557" y="101278"/>
                </a:cubicBezTo>
                <a:cubicBezTo>
                  <a:pt x="202557" y="45535"/>
                  <a:pt x="157343" y="3215"/>
                  <a:pt x="101600" y="3215"/>
                </a:cubicBezTo>
                <a:close/>
                <a:moveTo>
                  <a:pt x="42280" y="141830"/>
                </a:moveTo>
                <a:cubicBezTo>
                  <a:pt x="41757" y="142232"/>
                  <a:pt x="41878" y="143156"/>
                  <a:pt x="42561" y="143920"/>
                </a:cubicBezTo>
                <a:cubicBezTo>
                  <a:pt x="43204" y="144563"/>
                  <a:pt x="44128" y="144844"/>
                  <a:pt x="44651" y="144322"/>
                </a:cubicBezTo>
                <a:cubicBezTo>
                  <a:pt x="45173" y="143920"/>
                  <a:pt x="45053" y="142996"/>
                  <a:pt x="44370" y="142232"/>
                </a:cubicBezTo>
                <a:cubicBezTo>
                  <a:pt x="43727" y="141589"/>
                  <a:pt x="42802" y="141308"/>
                  <a:pt x="42280" y="141830"/>
                </a:cubicBezTo>
                <a:close/>
                <a:moveTo>
                  <a:pt x="37939" y="138575"/>
                </a:moveTo>
                <a:cubicBezTo>
                  <a:pt x="37658" y="139097"/>
                  <a:pt x="38060" y="139740"/>
                  <a:pt x="38864" y="140142"/>
                </a:cubicBezTo>
                <a:cubicBezTo>
                  <a:pt x="39507" y="140544"/>
                  <a:pt x="40310" y="140423"/>
                  <a:pt x="40592" y="139861"/>
                </a:cubicBezTo>
                <a:cubicBezTo>
                  <a:pt x="40873" y="139338"/>
                  <a:pt x="40471" y="138695"/>
                  <a:pt x="39667" y="138293"/>
                </a:cubicBezTo>
                <a:cubicBezTo>
                  <a:pt x="38864" y="138052"/>
                  <a:pt x="38221" y="138173"/>
                  <a:pt x="37939" y="138575"/>
                </a:cubicBezTo>
                <a:close/>
                <a:moveTo>
                  <a:pt x="50961" y="152882"/>
                </a:moveTo>
                <a:cubicBezTo>
                  <a:pt x="50318" y="153405"/>
                  <a:pt x="50559" y="154610"/>
                  <a:pt x="51483" y="155374"/>
                </a:cubicBezTo>
                <a:cubicBezTo>
                  <a:pt x="52408" y="156298"/>
                  <a:pt x="53573" y="156419"/>
                  <a:pt x="54096" y="155776"/>
                </a:cubicBezTo>
                <a:cubicBezTo>
                  <a:pt x="54618" y="155253"/>
                  <a:pt x="54377" y="154048"/>
                  <a:pt x="53573" y="153284"/>
                </a:cubicBezTo>
                <a:cubicBezTo>
                  <a:pt x="52689" y="152360"/>
                  <a:pt x="51483" y="152239"/>
                  <a:pt x="50961" y="152882"/>
                </a:cubicBezTo>
                <a:close/>
                <a:moveTo>
                  <a:pt x="46379" y="146974"/>
                </a:moveTo>
                <a:cubicBezTo>
                  <a:pt x="45736" y="147376"/>
                  <a:pt x="45736" y="148421"/>
                  <a:pt x="46379" y="149346"/>
                </a:cubicBezTo>
                <a:cubicBezTo>
                  <a:pt x="47022" y="150270"/>
                  <a:pt x="48107" y="150672"/>
                  <a:pt x="48630" y="150270"/>
                </a:cubicBezTo>
                <a:cubicBezTo>
                  <a:pt x="49273" y="149747"/>
                  <a:pt x="49273" y="148703"/>
                  <a:pt x="48630" y="147778"/>
                </a:cubicBezTo>
                <a:cubicBezTo>
                  <a:pt x="48067" y="146854"/>
                  <a:pt x="47022" y="146452"/>
                  <a:pt x="46379" y="146974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8" name="Text 45"/>
          <p:cNvSpPr/>
          <p:nvPr/>
        </p:nvSpPr>
        <p:spPr>
          <a:xfrm>
            <a:off x="6525630" y="4046852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GitHub集成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529917" y="4286920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Issue/PR智能回复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9119685" y="3669603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51" name="Shape 48"/>
          <p:cNvSpPr/>
          <p:nvPr/>
        </p:nvSpPr>
        <p:spPr>
          <a:xfrm>
            <a:off x="10283785" y="3772489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145005" y="482"/>
                </a:moveTo>
                <a:cubicBezTo>
                  <a:pt x="138173" y="-1487"/>
                  <a:pt x="131059" y="2492"/>
                  <a:pt x="129090" y="9324"/>
                </a:cubicBezTo>
                <a:lnTo>
                  <a:pt x="77647" y="189375"/>
                </a:lnTo>
                <a:cubicBezTo>
                  <a:pt x="75678" y="196207"/>
                  <a:pt x="79656" y="203321"/>
                  <a:pt x="86489" y="205290"/>
                </a:cubicBezTo>
                <a:cubicBezTo>
                  <a:pt x="93321" y="207259"/>
                  <a:pt x="100434" y="203280"/>
                  <a:pt x="102404" y="196448"/>
                </a:cubicBezTo>
                <a:lnTo>
                  <a:pt x="153847" y="16397"/>
                </a:lnTo>
                <a:cubicBezTo>
                  <a:pt x="155816" y="9565"/>
                  <a:pt x="151837" y="2452"/>
                  <a:pt x="145005" y="482"/>
                </a:cubicBezTo>
                <a:close/>
                <a:moveTo>
                  <a:pt x="170968" y="55181"/>
                </a:moveTo>
                <a:cubicBezTo>
                  <a:pt x="165944" y="60204"/>
                  <a:pt x="165944" y="68363"/>
                  <a:pt x="170968" y="73387"/>
                </a:cubicBezTo>
                <a:lnTo>
                  <a:pt x="200467" y="102886"/>
                </a:lnTo>
                <a:lnTo>
                  <a:pt x="170968" y="132385"/>
                </a:lnTo>
                <a:cubicBezTo>
                  <a:pt x="165944" y="137409"/>
                  <a:pt x="165944" y="145568"/>
                  <a:pt x="170968" y="150591"/>
                </a:cubicBezTo>
                <a:cubicBezTo>
                  <a:pt x="175991" y="155615"/>
                  <a:pt x="184150" y="155615"/>
                  <a:pt x="189174" y="150591"/>
                </a:cubicBezTo>
                <a:lnTo>
                  <a:pt x="227756" y="112009"/>
                </a:lnTo>
                <a:cubicBezTo>
                  <a:pt x="232780" y="106985"/>
                  <a:pt x="232780" y="98827"/>
                  <a:pt x="227756" y="93803"/>
                </a:cubicBezTo>
                <a:lnTo>
                  <a:pt x="189174" y="55221"/>
                </a:lnTo>
                <a:cubicBezTo>
                  <a:pt x="184150" y="50197"/>
                  <a:pt x="175991" y="50197"/>
                  <a:pt x="170968" y="55221"/>
                </a:cubicBezTo>
                <a:close/>
                <a:moveTo>
                  <a:pt x="60566" y="55181"/>
                </a:moveTo>
                <a:cubicBezTo>
                  <a:pt x="55542" y="50157"/>
                  <a:pt x="47384" y="50157"/>
                  <a:pt x="42360" y="55181"/>
                </a:cubicBezTo>
                <a:lnTo>
                  <a:pt x="3778" y="93763"/>
                </a:lnTo>
                <a:cubicBezTo>
                  <a:pt x="-1246" y="98787"/>
                  <a:pt x="-1246" y="106945"/>
                  <a:pt x="3778" y="111969"/>
                </a:cubicBezTo>
                <a:lnTo>
                  <a:pt x="42360" y="150551"/>
                </a:lnTo>
                <a:cubicBezTo>
                  <a:pt x="47384" y="155575"/>
                  <a:pt x="55542" y="155575"/>
                  <a:pt x="60566" y="150551"/>
                </a:cubicBezTo>
                <a:cubicBezTo>
                  <a:pt x="65590" y="145528"/>
                  <a:pt x="65590" y="137369"/>
                  <a:pt x="60566" y="132345"/>
                </a:cubicBezTo>
                <a:lnTo>
                  <a:pt x="31067" y="102886"/>
                </a:lnTo>
                <a:lnTo>
                  <a:pt x="60526" y="73387"/>
                </a:lnTo>
                <a:cubicBezTo>
                  <a:pt x="65550" y="68363"/>
                  <a:pt x="65550" y="60204"/>
                  <a:pt x="60526" y="55181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52" name="Text 49"/>
          <p:cNvSpPr/>
          <p:nvPr/>
        </p:nvSpPr>
        <p:spPr>
          <a:xfrm>
            <a:off x="9188276" y="4046852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API接口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9192563" y="4286920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第三方系统集成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342954" y="4887089"/>
            <a:ext cx="11506093" cy="1629030"/>
          </a:xfrm>
          <a:custGeom>
            <a:avLst/>
            <a:gdLst/>
            <a:ahLst/>
            <a:cxnLst/>
            <a:rect l="l" t="t" r="r" b="b"/>
            <a:pathLst>
              <a:path w="11506093" h="1629030">
                <a:moveTo>
                  <a:pt x="34295" y="0"/>
                </a:moveTo>
                <a:lnTo>
                  <a:pt x="11471797" y="0"/>
                </a:lnTo>
                <a:cubicBezTo>
                  <a:pt x="11490738" y="0"/>
                  <a:pt x="11506093" y="15355"/>
                  <a:pt x="11506093" y="34295"/>
                </a:cubicBezTo>
                <a:lnTo>
                  <a:pt x="11506093" y="1526140"/>
                </a:lnTo>
                <a:cubicBezTo>
                  <a:pt x="11506093" y="1582964"/>
                  <a:pt x="11460028" y="1629030"/>
                  <a:pt x="11403203" y="1629030"/>
                </a:cubicBezTo>
                <a:lnTo>
                  <a:pt x="102890" y="1629030"/>
                </a:lnTo>
                <a:cubicBezTo>
                  <a:pt x="46065" y="1629030"/>
                  <a:pt x="0" y="1582964"/>
                  <a:pt x="0" y="1526140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342954" y="4887089"/>
            <a:ext cx="11506093" cy="34295"/>
          </a:xfrm>
          <a:custGeom>
            <a:avLst/>
            <a:gdLst/>
            <a:ahLst/>
            <a:cxnLst/>
            <a:rect l="l" t="t" r="r" b="b"/>
            <a:pathLst>
              <a:path w="11506093" h="34295">
                <a:moveTo>
                  <a:pt x="34295" y="0"/>
                </a:moveTo>
                <a:lnTo>
                  <a:pt x="11471797" y="0"/>
                </a:lnTo>
                <a:cubicBezTo>
                  <a:pt x="11490738" y="0"/>
                  <a:pt x="11506093" y="15355"/>
                  <a:pt x="11506093" y="34295"/>
                </a:cubicBezTo>
                <a:lnTo>
                  <a:pt x="11506093" y="34295"/>
                </a:lnTo>
                <a:lnTo>
                  <a:pt x="0" y="34295"/>
                </a:ln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6" name="Shape 53"/>
          <p:cNvSpPr/>
          <p:nvPr/>
        </p:nvSpPr>
        <p:spPr>
          <a:xfrm>
            <a:off x="514430" y="5075713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240068" y="0"/>
                </a:moveTo>
                <a:lnTo>
                  <a:pt x="240068" y="0"/>
                </a:lnTo>
                <a:cubicBezTo>
                  <a:pt x="372653" y="0"/>
                  <a:pt x="480135" y="107482"/>
                  <a:pt x="480135" y="240068"/>
                </a:cubicBezTo>
                <a:lnTo>
                  <a:pt x="480135" y="240068"/>
                </a:lnTo>
                <a:cubicBezTo>
                  <a:pt x="480135" y="372653"/>
                  <a:pt x="372653" y="480135"/>
                  <a:pt x="240068" y="480135"/>
                </a:cubicBezTo>
                <a:lnTo>
                  <a:pt x="240068" y="480135"/>
                </a:lnTo>
                <a:cubicBezTo>
                  <a:pt x="107482" y="480135"/>
                  <a:pt x="0" y="372653"/>
                  <a:pt x="0" y="240068"/>
                </a:cubicBezTo>
                <a:lnTo>
                  <a:pt x="0" y="240068"/>
                </a:lnTo>
                <a:cubicBezTo>
                  <a:pt x="0" y="107482"/>
                  <a:pt x="107482" y="0"/>
                  <a:pt x="240068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7" name="Shape 54"/>
          <p:cNvSpPr/>
          <p:nvPr/>
        </p:nvSpPr>
        <p:spPr>
          <a:xfrm>
            <a:off x="651612" y="5212895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5722" y="25722"/>
                </a:moveTo>
                <a:cubicBezTo>
                  <a:pt x="25722" y="18608"/>
                  <a:pt x="19974" y="12861"/>
                  <a:pt x="12861" y="12861"/>
                </a:cubicBezTo>
                <a:cubicBezTo>
                  <a:pt x="5747" y="12861"/>
                  <a:pt x="0" y="18608"/>
                  <a:pt x="0" y="25722"/>
                </a:cubicBezTo>
                <a:lnTo>
                  <a:pt x="0" y="160759"/>
                </a:lnTo>
                <a:cubicBezTo>
                  <a:pt x="0" y="178523"/>
                  <a:pt x="14388" y="192911"/>
                  <a:pt x="32152" y="192911"/>
                </a:cubicBezTo>
                <a:lnTo>
                  <a:pt x="192911" y="192911"/>
                </a:lnTo>
                <a:cubicBezTo>
                  <a:pt x="200025" y="192911"/>
                  <a:pt x="205772" y="187164"/>
                  <a:pt x="205772" y="180051"/>
                </a:cubicBezTo>
                <a:cubicBezTo>
                  <a:pt x="205772" y="172937"/>
                  <a:pt x="200025" y="167190"/>
                  <a:pt x="192911" y="167190"/>
                </a:cubicBezTo>
                <a:lnTo>
                  <a:pt x="32152" y="167190"/>
                </a:lnTo>
                <a:cubicBezTo>
                  <a:pt x="28615" y="167190"/>
                  <a:pt x="25722" y="164296"/>
                  <a:pt x="25722" y="160759"/>
                </a:cubicBezTo>
                <a:lnTo>
                  <a:pt x="25722" y="25722"/>
                </a:lnTo>
                <a:close/>
                <a:moveTo>
                  <a:pt x="189134" y="60526"/>
                </a:moveTo>
                <a:cubicBezTo>
                  <a:pt x="194157" y="55502"/>
                  <a:pt x="194157" y="47344"/>
                  <a:pt x="189134" y="42320"/>
                </a:cubicBezTo>
                <a:cubicBezTo>
                  <a:pt x="184110" y="37296"/>
                  <a:pt x="175951" y="37296"/>
                  <a:pt x="170928" y="42320"/>
                </a:cubicBezTo>
                <a:lnTo>
                  <a:pt x="128608" y="84680"/>
                </a:lnTo>
                <a:lnTo>
                  <a:pt x="105539" y="61651"/>
                </a:lnTo>
                <a:cubicBezTo>
                  <a:pt x="100515" y="56628"/>
                  <a:pt x="92356" y="56628"/>
                  <a:pt x="87333" y="61651"/>
                </a:cubicBezTo>
                <a:lnTo>
                  <a:pt x="48750" y="100234"/>
                </a:lnTo>
                <a:cubicBezTo>
                  <a:pt x="43727" y="105257"/>
                  <a:pt x="43727" y="113416"/>
                  <a:pt x="48750" y="118440"/>
                </a:cubicBezTo>
                <a:cubicBezTo>
                  <a:pt x="53774" y="123463"/>
                  <a:pt x="61933" y="123463"/>
                  <a:pt x="66956" y="118440"/>
                </a:cubicBezTo>
                <a:lnTo>
                  <a:pt x="96456" y="88940"/>
                </a:lnTo>
                <a:lnTo>
                  <a:pt x="119525" y="112009"/>
                </a:lnTo>
                <a:cubicBezTo>
                  <a:pt x="124548" y="117033"/>
                  <a:pt x="132707" y="117033"/>
                  <a:pt x="137731" y="112009"/>
                </a:cubicBezTo>
                <a:lnTo>
                  <a:pt x="189174" y="6056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8" name="Text 55"/>
          <p:cNvSpPr/>
          <p:nvPr/>
        </p:nvSpPr>
        <p:spPr>
          <a:xfrm>
            <a:off x="1131747" y="5075713"/>
            <a:ext cx="1131747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运维监控层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2263494" y="5075713"/>
            <a:ext cx="1714768" cy="274363"/>
          </a:xfrm>
          <a:custGeom>
            <a:avLst/>
            <a:gdLst/>
            <a:ahLst/>
            <a:cxnLst/>
            <a:rect l="l" t="t" r="r" b="b"/>
            <a:pathLst>
              <a:path w="1714768" h="274363">
                <a:moveTo>
                  <a:pt x="137181" y="0"/>
                </a:moveTo>
                <a:lnTo>
                  <a:pt x="1577586" y="0"/>
                </a:lnTo>
                <a:cubicBezTo>
                  <a:pt x="1653299" y="0"/>
                  <a:pt x="1714768" y="61469"/>
                  <a:pt x="1714768" y="137181"/>
                </a:cubicBezTo>
                <a:lnTo>
                  <a:pt x="1714768" y="137181"/>
                </a:lnTo>
                <a:cubicBezTo>
                  <a:pt x="1714768" y="212894"/>
                  <a:pt x="1653299" y="274363"/>
                  <a:pt x="1577586" y="274363"/>
                </a:cubicBezTo>
                <a:lnTo>
                  <a:pt x="137181" y="274363"/>
                </a:lnTo>
                <a:cubicBezTo>
                  <a:pt x="61418" y="274363"/>
                  <a:pt x="0" y="212945"/>
                  <a:pt x="0" y="137181"/>
                </a:cubicBezTo>
                <a:lnTo>
                  <a:pt x="0" y="137181"/>
                </a:lnTo>
                <a:cubicBezTo>
                  <a:pt x="0" y="61418"/>
                  <a:pt x="61418" y="0"/>
                  <a:pt x="137181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60" name="Text 57"/>
          <p:cNvSpPr/>
          <p:nvPr/>
        </p:nvSpPr>
        <p:spPr>
          <a:xfrm>
            <a:off x="2263494" y="5075713"/>
            <a:ext cx="1783359" cy="274363"/>
          </a:xfrm>
          <a:prstGeom prst="rect">
            <a:avLst/>
          </a:prstGeom>
          <a:noFill/>
        </p:spPr>
        <p:txBody>
          <a:bodyPr wrap="square" lIns="102886" tIns="34295" rIns="102886" bIns="34295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系统稳定运行与效果优化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131747" y="5452962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62" name="Shape 59"/>
          <p:cNvSpPr/>
          <p:nvPr/>
        </p:nvSpPr>
        <p:spPr>
          <a:xfrm>
            <a:off x="2308707" y="5555848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0" y="102886"/>
                </a:moveTo>
                <a:cubicBezTo>
                  <a:pt x="0" y="46102"/>
                  <a:pt x="46102" y="0"/>
                  <a:pt x="102886" y="0"/>
                </a:cubicBezTo>
                <a:cubicBezTo>
                  <a:pt x="159670" y="0"/>
                  <a:pt x="205772" y="46102"/>
                  <a:pt x="205772" y="102886"/>
                </a:cubicBezTo>
                <a:cubicBezTo>
                  <a:pt x="205772" y="159670"/>
                  <a:pt x="159670" y="205772"/>
                  <a:pt x="102886" y="205772"/>
                </a:cubicBezTo>
                <a:cubicBezTo>
                  <a:pt x="46102" y="205772"/>
                  <a:pt x="0" y="159670"/>
                  <a:pt x="0" y="102886"/>
                </a:cubicBezTo>
                <a:close/>
                <a:moveTo>
                  <a:pt x="115747" y="38582"/>
                </a:moveTo>
                <a:cubicBezTo>
                  <a:pt x="115747" y="31484"/>
                  <a:pt x="109984" y="25722"/>
                  <a:pt x="102886" y="25722"/>
                </a:cubicBezTo>
                <a:cubicBezTo>
                  <a:pt x="95788" y="25722"/>
                  <a:pt x="90025" y="31484"/>
                  <a:pt x="90025" y="38582"/>
                </a:cubicBezTo>
                <a:cubicBezTo>
                  <a:pt x="90025" y="45680"/>
                  <a:pt x="95788" y="51443"/>
                  <a:pt x="102886" y="51443"/>
                </a:cubicBezTo>
                <a:cubicBezTo>
                  <a:pt x="109984" y="51443"/>
                  <a:pt x="115747" y="45680"/>
                  <a:pt x="115747" y="38582"/>
                </a:cubicBezTo>
                <a:close/>
                <a:moveTo>
                  <a:pt x="102886" y="167190"/>
                </a:moveTo>
                <a:cubicBezTo>
                  <a:pt x="117073" y="167190"/>
                  <a:pt x="128608" y="155655"/>
                  <a:pt x="128608" y="141468"/>
                </a:cubicBezTo>
                <a:cubicBezTo>
                  <a:pt x="128608" y="134958"/>
                  <a:pt x="126196" y="128969"/>
                  <a:pt x="122177" y="124468"/>
                </a:cubicBezTo>
                <a:lnTo>
                  <a:pt x="150109" y="68644"/>
                </a:lnTo>
                <a:cubicBezTo>
                  <a:pt x="152480" y="63862"/>
                  <a:pt x="150551" y="58074"/>
                  <a:pt x="145809" y="55703"/>
                </a:cubicBezTo>
                <a:cubicBezTo>
                  <a:pt x="141066" y="53332"/>
                  <a:pt x="135239" y="55261"/>
                  <a:pt x="132868" y="60003"/>
                </a:cubicBezTo>
                <a:lnTo>
                  <a:pt x="104936" y="115827"/>
                </a:lnTo>
                <a:cubicBezTo>
                  <a:pt x="104253" y="115787"/>
                  <a:pt x="103569" y="115747"/>
                  <a:pt x="102886" y="115747"/>
                </a:cubicBezTo>
                <a:cubicBezTo>
                  <a:pt x="88699" y="115747"/>
                  <a:pt x="77165" y="127281"/>
                  <a:pt x="77165" y="141468"/>
                </a:cubicBezTo>
                <a:cubicBezTo>
                  <a:pt x="77165" y="155655"/>
                  <a:pt x="88699" y="167190"/>
                  <a:pt x="102886" y="167190"/>
                </a:cubicBezTo>
                <a:close/>
                <a:moveTo>
                  <a:pt x="70734" y="57873"/>
                </a:moveTo>
                <a:cubicBezTo>
                  <a:pt x="70734" y="50775"/>
                  <a:pt x="64971" y="45013"/>
                  <a:pt x="57873" y="45013"/>
                </a:cubicBezTo>
                <a:cubicBezTo>
                  <a:pt x="50775" y="45013"/>
                  <a:pt x="45013" y="50775"/>
                  <a:pt x="45013" y="57873"/>
                </a:cubicBezTo>
                <a:cubicBezTo>
                  <a:pt x="45013" y="64971"/>
                  <a:pt x="50775" y="70734"/>
                  <a:pt x="57873" y="70734"/>
                </a:cubicBezTo>
                <a:cubicBezTo>
                  <a:pt x="64971" y="70734"/>
                  <a:pt x="70734" y="64971"/>
                  <a:pt x="70734" y="57873"/>
                </a:cubicBezTo>
                <a:close/>
                <a:moveTo>
                  <a:pt x="38582" y="115747"/>
                </a:moveTo>
                <a:cubicBezTo>
                  <a:pt x="45680" y="115747"/>
                  <a:pt x="51443" y="109984"/>
                  <a:pt x="51443" y="102886"/>
                </a:cubicBezTo>
                <a:cubicBezTo>
                  <a:pt x="51443" y="95788"/>
                  <a:pt x="45680" y="90025"/>
                  <a:pt x="38582" y="90025"/>
                </a:cubicBezTo>
                <a:cubicBezTo>
                  <a:pt x="31484" y="90025"/>
                  <a:pt x="25722" y="95788"/>
                  <a:pt x="25722" y="102886"/>
                </a:cubicBezTo>
                <a:cubicBezTo>
                  <a:pt x="25722" y="109984"/>
                  <a:pt x="31484" y="115747"/>
                  <a:pt x="38582" y="115747"/>
                </a:cubicBezTo>
                <a:close/>
                <a:moveTo>
                  <a:pt x="180051" y="102886"/>
                </a:moveTo>
                <a:cubicBezTo>
                  <a:pt x="180051" y="95788"/>
                  <a:pt x="174288" y="90025"/>
                  <a:pt x="167190" y="90025"/>
                </a:cubicBezTo>
                <a:cubicBezTo>
                  <a:pt x="160092" y="90025"/>
                  <a:pt x="154329" y="95788"/>
                  <a:pt x="154329" y="102886"/>
                </a:cubicBezTo>
                <a:cubicBezTo>
                  <a:pt x="154329" y="109984"/>
                  <a:pt x="160092" y="115747"/>
                  <a:pt x="167190" y="115747"/>
                </a:cubicBezTo>
                <a:cubicBezTo>
                  <a:pt x="174288" y="115747"/>
                  <a:pt x="180051" y="109984"/>
                  <a:pt x="180051" y="102886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3" name="Text 60"/>
          <p:cNvSpPr/>
          <p:nvPr/>
        </p:nvSpPr>
        <p:spPr>
          <a:xfrm>
            <a:off x="1200338" y="5830211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指标监控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204624" y="6070278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实时性能指标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3794393" y="5452962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66" name="Shape 63"/>
          <p:cNvSpPr/>
          <p:nvPr/>
        </p:nvSpPr>
        <p:spPr>
          <a:xfrm>
            <a:off x="4997075" y="5555848"/>
            <a:ext cx="154329" cy="205772"/>
          </a:xfrm>
          <a:custGeom>
            <a:avLst/>
            <a:gdLst/>
            <a:ahLst/>
            <a:cxnLst/>
            <a:rect l="l" t="t" r="r" b="b"/>
            <a:pathLst>
              <a:path w="154329" h="205772">
                <a:moveTo>
                  <a:pt x="0" y="25722"/>
                </a:moveTo>
                <a:cubicBezTo>
                  <a:pt x="0" y="11534"/>
                  <a:pt x="11534" y="0"/>
                  <a:pt x="25722" y="0"/>
                </a:cubicBezTo>
                <a:lnTo>
                  <a:pt x="85805" y="0"/>
                </a:lnTo>
                <a:cubicBezTo>
                  <a:pt x="92638" y="0"/>
                  <a:pt x="99189" y="2693"/>
                  <a:pt x="104011" y="7516"/>
                </a:cubicBezTo>
                <a:lnTo>
                  <a:pt x="146814" y="50358"/>
                </a:lnTo>
                <a:cubicBezTo>
                  <a:pt x="151636" y="55181"/>
                  <a:pt x="154329" y="61732"/>
                  <a:pt x="154329" y="68564"/>
                </a:cubicBezTo>
                <a:lnTo>
                  <a:pt x="154329" y="180051"/>
                </a:lnTo>
                <a:cubicBezTo>
                  <a:pt x="154329" y="194238"/>
                  <a:pt x="142795" y="205772"/>
                  <a:pt x="128608" y="205772"/>
                </a:cubicBezTo>
                <a:lnTo>
                  <a:pt x="25722" y="205772"/>
                </a:lnTo>
                <a:cubicBezTo>
                  <a:pt x="11534" y="205772"/>
                  <a:pt x="0" y="194238"/>
                  <a:pt x="0" y="180051"/>
                </a:cubicBezTo>
                <a:lnTo>
                  <a:pt x="0" y="25722"/>
                </a:lnTo>
                <a:close/>
                <a:moveTo>
                  <a:pt x="83595" y="23511"/>
                </a:moveTo>
                <a:lnTo>
                  <a:pt x="83595" y="61089"/>
                </a:lnTo>
                <a:cubicBezTo>
                  <a:pt x="83595" y="66434"/>
                  <a:pt x="87895" y="70734"/>
                  <a:pt x="93241" y="70734"/>
                </a:cubicBezTo>
                <a:lnTo>
                  <a:pt x="130818" y="70734"/>
                </a:lnTo>
                <a:lnTo>
                  <a:pt x="83595" y="23511"/>
                </a:lnTo>
                <a:close/>
                <a:moveTo>
                  <a:pt x="48228" y="102886"/>
                </a:moveTo>
                <a:cubicBezTo>
                  <a:pt x="42883" y="102886"/>
                  <a:pt x="38582" y="107186"/>
                  <a:pt x="38582" y="112532"/>
                </a:cubicBezTo>
                <a:cubicBezTo>
                  <a:pt x="38582" y="117877"/>
                  <a:pt x="42883" y="122177"/>
                  <a:pt x="48228" y="122177"/>
                </a:cubicBezTo>
                <a:lnTo>
                  <a:pt x="106101" y="122177"/>
                </a:lnTo>
                <a:cubicBezTo>
                  <a:pt x="111447" y="122177"/>
                  <a:pt x="115747" y="117877"/>
                  <a:pt x="115747" y="112532"/>
                </a:cubicBezTo>
                <a:cubicBezTo>
                  <a:pt x="115747" y="107186"/>
                  <a:pt x="111447" y="102886"/>
                  <a:pt x="106101" y="102886"/>
                </a:cubicBezTo>
                <a:lnTo>
                  <a:pt x="48228" y="102886"/>
                </a:lnTo>
                <a:close/>
                <a:moveTo>
                  <a:pt x="48228" y="141468"/>
                </a:moveTo>
                <a:cubicBezTo>
                  <a:pt x="42883" y="141468"/>
                  <a:pt x="38582" y="145769"/>
                  <a:pt x="38582" y="151114"/>
                </a:cubicBezTo>
                <a:cubicBezTo>
                  <a:pt x="38582" y="156459"/>
                  <a:pt x="42883" y="160759"/>
                  <a:pt x="48228" y="160759"/>
                </a:cubicBezTo>
                <a:lnTo>
                  <a:pt x="106101" y="160759"/>
                </a:lnTo>
                <a:cubicBezTo>
                  <a:pt x="111447" y="160759"/>
                  <a:pt x="115747" y="156459"/>
                  <a:pt x="115747" y="151114"/>
                </a:cubicBezTo>
                <a:cubicBezTo>
                  <a:pt x="115747" y="145769"/>
                  <a:pt x="111447" y="141468"/>
                  <a:pt x="106101" y="141468"/>
                </a:cubicBezTo>
                <a:lnTo>
                  <a:pt x="48228" y="141468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67" name="Text 64"/>
          <p:cNvSpPr/>
          <p:nvPr/>
        </p:nvSpPr>
        <p:spPr>
          <a:xfrm>
            <a:off x="3862984" y="5830211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日志分析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3867271" y="6070278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全链路日志追踪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457039" y="5452962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70" name="Shape 67"/>
          <p:cNvSpPr/>
          <p:nvPr/>
        </p:nvSpPr>
        <p:spPr>
          <a:xfrm>
            <a:off x="7633999" y="5555848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2861" y="12861"/>
                </a:moveTo>
                <a:cubicBezTo>
                  <a:pt x="19974" y="12861"/>
                  <a:pt x="25722" y="18608"/>
                  <a:pt x="25722" y="25722"/>
                </a:cubicBezTo>
                <a:lnTo>
                  <a:pt x="25722" y="160759"/>
                </a:lnTo>
                <a:cubicBezTo>
                  <a:pt x="25722" y="164296"/>
                  <a:pt x="28615" y="167190"/>
                  <a:pt x="32152" y="167190"/>
                </a:cubicBezTo>
                <a:lnTo>
                  <a:pt x="192911" y="167190"/>
                </a:lnTo>
                <a:cubicBezTo>
                  <a:pt x="200025" y="167190"/>
                  <a:pt x="205772" y="172937"/>
                  <a:pt x="205772" y="180051"/>
                </a:cubicBezTo>
                <a:cubicBezTo>
                  <a:pt x="205772" y="187164"/>
                  <a:pt x="200025" y="192911"/>
                  <a:pt x="192911" y="192911"/>
                </a:cubicBezTo>
                <a:lnTo>
                  <a:pt x="32152" y="192911"/>
                </a:lnTo>
                <a:cubicBezTo>
                  <a:pt x="14388" y="192911"/>
                  <a:pt x="0" y="178523"/>
                  <a:pt x="0" y="160759"/>
                </a:cubicBezTo>
                <a:lnTo>
                  <a:pt x="0" y="25722"/>
                </a:lnTo>
                <a:cubicBezTo>
                  <a:pt x="0" y="18608"/>
                  <a:pt x="5747" y="12861"/>
                  <a:pt x="12861" y="12861"/>
                </a:cubicBezTo>
                <a:close/>
                <a:moveTo>
                  <a:pt x="51443" y="38582"/>
                </a:moveTo>
                <a:cubicBezTo>
                  <a:pt x="51443" y="31469"/>
                  <a:pt x="57190" y="25722"/>
                  <a:pt x="64304" y="25722"/>
                </a:cubicBezTo>
                <a:lnTo>
                  <a:pt x="141468" y="25722"/>
                </a:lnTo>
                <a:cubicBezTo>
                  <a:pt x="148582" y="25722"/>
                  <a:pt x="154329" y="31469"/>
                  <a:pt x="154329" y="38582"/>
                </a:cubicBezTo>
                <a:cubicBezTo>
                  <a:pt x="154329" y="45696"/>
                  <a:pt x="148582" y="51443"/>
                  <a:pt x="141468" y="51443"/>
                </a:cubicBezTo>
                <a:lnTo>
                  <a:pt x="64304" y="51443"/>
                </a:lnTo>
                <a:cubicBezTo>
                  <a:pt x="57190" y="51443"/>
                  <a:pt x="51443" y="45696"/>
                  <a:pt x="51443" y="38582"/>
                </a:cubicBezTo>
                <a:close/>
                <a:moveTo>
                  <a:pt x="64304" y="70734"/>
                </a:moveTo>
                <a:lnTo>
                  <a:pt x="115747" y="70734"/>
                </a:lnTo>
                <a:cubicBezTo>
                  <a:pt x="122860" y="70734"/>
                  <a:pt x="128608" y="76481"/>
                  <a:pt x="128608" y="83595"/>
                </a:cubicBezTo>
                <a:cubicBezTo>
                  <a:pt x="128608" y="90709"/>
                  <a:pt x="122860" y="96456"/>
                  <a:pt x="115747" y="96456"/>
                </a:cubicBezTo>
                <a:lnTo>
                  <a:pt x="64304" y="96456"/>
                </a:lnTo>
                <a:cubicBezTo>
                  <a:pt x="57190" y="96456"/>
                  <a:pt x="51443" y="90709"/>
                  <a:pt x="51443" y="83595"/>
                </a:cubicBezTo>
                <a:cubicBezTo>
                  <a:pt x="51443" y="76481"/>
                  <a:pt x="57190" y="70734"/>
                  <a:pt x="64304" y="70734"/>
                </a:cubicBezTo>
                <a:close/>
                <a:moveTo>
                  <a:pt x="64304" y="115747"/>
                </a:moveTo>
                <a:lnTo>
                  <a:pt x="167190" y="115747"/>
                </a:lnTo>
                <a:cubicBezTo>
                  <a:pt x="174303" y="115747"/>
                  <a:pt x="180051" y="121494"/>
                  <a:pt x="180051" y="128608"/>
                </a:cubicBezTo>
                <a:cubicBezTo>
                  <a:pt x="180051" y="135721"/>
                  <a:pt x="174303" y="141468"/>
                  <a:pt x="167190" y="141468"/>
                </a:cubicBezTo>
                <a:lnTo>
                  <a:pt x="64304" y="141468"/>
                </a:lnTo>
                <a:cubicBezTo>
                  <a:pt x="57190" y="141468"/>
                  <a:pt x="51443" y="135721"/>
                  <a:pt x="51443" y="128608"/>
                </a:cubicBezTo>
                <a:cubicBezTo>
                  <a:pt x="51443" y="121494"/>
                  <a:pt x="57190" y="115747"/>
                  <a:pt x="64304" y="11574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71" name="Text 68"/>
          <p:cNvSpPr/>
          <p:nvPr/>
        </p:nvSpPr>
        <p:spPr>
          <a:xfrm>
            <a:off x="6525630" y="5830211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效果评估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6529917" y="6070278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问答质量评估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9119685" y="5452962"/>
            <a:ext cx="2563578" cy="891679"/>
          </a:xfrm>
          <a:custGeom>
            <a:avLst/>
            <a:gdLst/>
            <a:ahLst/>
            <a:cxnLst/>
            <a:rect l="l" t="t" r="r" b="b"/>
            <a:pathLst>
              <a:path w="2563578" h="891679">
                <a:moveTo>
                  <a:pt x="68588" y="0"/>
                </a:moveTo>
                <a:lnTo>
                  <a:pt x="2494990" y="0"/>
                </a:lnTo>
                <a:cubicBezTo>
                  <a:pt x="2532870" y="0"/>
                  <a:pt x="2563578" y="30708"/>
                  <a:pt x="2563578" y="68588"/>
                </a:cubicBezTo>
                <a:lnTo>
                  <a:pt x="2563578" y="823091"/>
                </a:lnTo>
                <a:cubicBezTo>
                  <a:pt x="2563578" y="860971"/>
                  <a:pt x="2532870" y="891679"/>
                  <a:pt x="2494990" y="891679"/>
                </a:cubicBezTo>
                <a:lnTo>
                  <a:pt x="68588" y="891679"/>
                </a:lnTo>
                <a:cubicBezTo>
                  <a:pt x="30708" y="891679"/>
                  <a:pt x="0" y="860971"/>
                  <a:pt x="0" y="823091"/>
                </a:cubicBezTo>
                <a:lnTo>
                  <a:pt x="0" y="68588"/>
                </a:lnTo>
                <a:cubicBezTo>
                  <a:pt x="0" y="30708"/>
                  <a:pt x="30708" y="0"/>
                  <a:pt x="6858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74" name="Shape 71"/>
          <p:cNvSpPr/>
          <p:nvPr/>
        </p:nvSpPr>
        <p:spPr>
          <a:xfrm>
            <a:off x="10309506" y="5555848"/>
            <a:ext cx="180051" cy="205772"/>
          </a:xfrm>
          <a:custGeom>
            <a:avLst/>
            <a:gdLst/>
            <a:ahLst/>
            <a:cxnLst/>
            <a:rect l="l" t="t" r="r" b="b"/>
            <a:pathLst>
              <a:path w="180051" h="205772">
                <a:moveTo>
                  <a:pt x="90025" y="0"/>
                </a:moveTo>
                <a:cubicBezTo>
                  <a:pt x="82912" y="0"/>
                  <a:pt x="77165" y="5747"/>
                  <a:pt x="77165" y="12861"/>
                </a:cubicBezTo>
                <a:lnTo>
                  <a:pt x="77165" y="14147"/>
                </a:lnTo>
                <a:cubicBezTo>
                  <a:pt x="47826" y="20095"/>
                  <a:pt x="25722" y="46058"/>
                  <a:pt x="25722" y="77165"/>
                </a:cubicBezTo>
                <a:lnTo>
                  <a:pt x="25722" y="85886"/>
                </a:lnTo>
                <a:cubicBezTo>
                  <a:pt x="25722" y="105217"/>
                  <a:pt x="19130" y="123986"/>
                  <a:pt x="7073" y="139097"/>
                </a:cubicBezTo>
                <a:lnTo>
                  <a:pt x="3135" y="144000"/>
                </a:lnTo>
                <a:cubicBezTo>
                  <a:pt x="1085" y="146532"/>
                  <a:pt x="0" y="149667"/>
                  <a:pt x="0" y="152922"/>
                </a:cubicBezTo>
                <a:cubicBezTo>
                  <a:pt x="0" y="160800"/>
                  <a:pt x="6390" y="167190"/>
                  <a:pt x="14267" y="167190"/>
                </a:cubicBezTo>
                <a:lnTo>
                  <a:pt x="165743" y="167190"/>
                </a:lnTo>
                <a:cubicBezTo>
                  <a:pt x="173620" y="167190"/>
                  <a:pt x="180010" y="160800"/>
                  <a:pt x="180010" y="152922"/>
                </a:cubicBezTo>
                <a:cubicBezTo>
                  <a:pt x="180010" y="149667"/>
                  <a:pt x="178925" y="146532"/>
                  <a:pt x="176876" y="144000"/>
                </a:cubicBezTo>
                <a:lnTo>
                  <a:pt x="172937" y="139097"/>
                </a:lnTo>
                <a:cubicBezTo>
                  <a:pt x="160920" y="123986"/>
                  <a:pt x="154329" y="105217"/>
                  <a:pt x="154329" y="85886"/>
                </a:cubicBezTo>
                <a:lnTo>
                  <a:pt x="154329" y="77165"/>
                </a:lnTo>
                <a:cubicBezTo>
                  <a:pt x="154329" y="46058"/>
                  <a:pt x="132225" y="20095"/>
                  <a:pt x="102886" y="14147"/>
                </a:cubicBezTo>
                <a:lnTo>
                  <a:pt x="102886" y="12861"/>
                </a:lnTo>
                <a:cubicBezTo>
                  <a:pt x="102886" y="5747"/>
                  <a:pt x="97139" y="0"/>
                  <a:pt x="90025" y="0"/>
                </a:cubicBezTo>
                <a:close/>
                <a:moveTo>
                  <a:pt x="65108" y="186481"/>
                </a:moveTo>
                <a:cubicBezTo>
                  <a:pt x="67961" y="197573"/>
                  <a:pt x="78049" y="205772"/>
                  <a:pt x="90025" y="205772"/>
                </a:cubicBezTo>
                <a:cubicBezTo>
                  <a:pt x="102002" y="205772"/>
                  <a:pt x="112090" y="197573"/>
                  <a:pt x="114943" y="186481"/>
                </a:cubicBezTo>
                <a:lnTo>
                  <a:pt x="65108" y="186481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75" name="Text 72"/>
          <p:cNvSpPr/>
          <p:nvPr/>
        </p:nvSpPr>
        <p:spPr>
          <a:xfrm>
            <a:off x="9188276" y="5830211"/>
            <a:ext cx="2426397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告警通知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9192563" y="6070278"/>
            <a:ext cx="2417823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异常事件告警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0050" y="381000"/>
            <a:ext cx="2009775" cy="304800"/>
          </a:xfrm>
          <a:custGeom>
            <a:avLst/>
            <a:gdLst/>
            <a:ahLst/>
            <a:cxnLst/>
            <a:rect l="l" t="t" r="r" b="b"/>
            <a:pathLst>
              <a:path w="2009775" h="304800">
                <a:moveTo>
                  <a:pt x="0" y="0"/>
                </a:moveTo>
                <a:lnTo>
                  <a:pt x="2009775" y="0"/>
                </a:lnTo>
                <a:lnTo>
                  <a:pt x="20097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0005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71500" y="433705"/>
            <a:ext cx="270573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81000" y="1428750"/>
            <a:ext cx="3733800" cy="2686050"/>
          </a:xfrm>
          <a:custGeom>
            <a:avLst/>
            <a:gdLst/>
            <a:ahLst/>
            <a:cxnLst/>
            <a:rect l="l" t="t" r="r" b="b"/>
            <a:pathLst>
              <a:path w="3733800" h="26860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571759"/>
                </a:lnTo>
                <a:cubicBezTo>
                  <a:pt x="3733800" y="2634880"/>
                  <a:pt x="3682630" y="2686050"/>
                  <a:pt x="3619509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1000" y="14287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5334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640556" y="1704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Text 9"/>
          <p:cNvSpPr/>
          <p:nvPr/>
        </p:nvSpPr>
        <p:spPr>
          <a:xfrm>
            <a:off x="1028700" y="16573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基础底座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3400" y="2095500"/>
            <a:ext cx="3429000" cy="1866900"/>
          </a:xfrm>
          <a:custGeom>
            <a:avLst/>
            <a:gdLst/>
            <a:ahLst/>
            <a:cxnLst/>
            <a:rect l="l" t="t" r="r" b="b"/>
            <a:pathLst>
              <a:path w="3429000" h="1866900">
                <a:moveTo>
                  <a:pt x="76207" y="0"/>
                </a:moveTo>
                <a:lnTo>
                  <a:pt x="3352793" y="0"/>
                </a:lnTo>
                <a:cubicBezTo>
                  <a:pt x="3394881" y="0"/>
                  <a:pt x="3429000" y="34119"/>
                  <a:pt x="3429000" y="76207"/>
                </a:cubicBezTo>
                <a:lnTo>
                  <a:pt x="3429000" y="1790693"/>
                </a:lnTo>
                <a:cubicBezTo>
                  <a:pt x="3429000" y="1832781"/>
                  <a:pt x="3394881" y="1866900"/>
                  <a:pt x="3352793" y="1866900"/>
                </a:cubicBezTo>
                <a:lnTo>
                  <a:pt x="76207" y="1866900"/>
                </a:lnTo>
                <a:cubicBezTo>
                  <a:pt x="34119" y="1866900"/>
                  <a:pt x="0" y="1832781"/>
                  <a:pt x="0" y="179069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4" name="Text 11"/>
          <p:cNvSpPr/>
          <p:nvPr/>
        </p:nvSpPr>
        <p:spPr>
          <a:xfrm>
            <a:off x="647700" y="2801541"/>
            <a:ext cx="1477268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基于MaxKB二次开发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700" y="3053953"/>
            <a:ext cx="326707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复用RAG流水线与知识库管理模块,加速开发进程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29100" y="1428750"/>
            <a:ext cx="3733800" cy="2686050"/>
          </a:xfrm>
          <a:custGeom>
            <a:avLst/>
            <a:gdLst/>
            <a:ahLst/>
            <a:cxnLst/>
            <a:rect l="l" t="t" r="r" b="b"/>
            <a:pathLst>
              <a:path w="3733800" h="26860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571759"/>
                </a:lnTo>
                <a:cubicBezTo>
                  <a:pt x="3733800" y="2634880"/>
                  <a:pt x="3682630" y="2686050"/>
                  <a:pt x="3619509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29100" y="14287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18" name="Shape 15"/>
          <p:cNvSpPr/>
          <p:nvPr/>
        </p:nvSpPr>
        <p:spPr>
          <a:xfrm>
            <a:off x="43815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4488656" y="1704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0" name="Text 17"/>
          <p:cNvSpPr/>
          <p:nvPr/>
        </p:nvSpPr>
        <p:spPr>
          <a:xfrm>
            <a:off x="4876800" y="1657350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AI与检索技术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381500" y="2095500"/>
            <a:ext cx="3429000" cy="571500"/>
          </a:xfrm>
          <a:custGeom>
            <a:avLst/>
            <a:gdLst/>
            <a:ahLst/>
            <a:cxnLst/>
            <a:rect l="l" t="t" r="r" b="b"/>
            <a:pathLst>
              <a:path w="3429000" h="571500">
                <a:moveTo>
                  <a:pt x="76198" y="0"/>
                </a:moveTo>
                <a:lnTo>
                  <a:pt x="3352802" y="0"/>
                </a:lnTo>
                <a:cubicBezTo>
                  <a:pt x="3394885" y="0"/>
                  <a:pt x="3429000" y="34115"/>
                  <a:pt x="3429000" y="76198"/>
                </a:cubicBezTo>
                <a:lnTo>
                  <a:pt x="3429000" y="495302"/>
                </a:lnTo>
                <a:cubicBezTo>
                  <a:pt x="3429000" y="537385"/>
                  <a:pt x="3394885" y="571500"/>
                  <a:pt x="3352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2" name="Text 19"/>
          <p:cNvSpPr/>
          <p:nvPr/>
        </p:nvSpPr>
        <p:spPr>
          <a:xfrm>
            <a:off x="4457700" y="217170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457700" y="2400300"/>
            <a:ext cx="3343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Qwen-7B-Chat(主力) + GPT-4o Mini(fallback)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381500" y="2743200"/>
            <a:ext cx="3429000" cy="571500"/>
          </a:xfrm>
          <a:custGeom>
            <a:avLst/>
            <a:gdLst/>
            <a:ahLst/>
            <a:cxnLst/>
            <a:rect l="l" t="t" r="r" b="b"/>
            <a:pathLst>
              <a:path w="3429000" h="571500">
                <a:moveTo>
                  <a:pt x="76198" y="0"/>
                </a:moveTo>
                <a:lnTo>
                  <a:pt x="3352802" y="0"/>
                </a:lnTo>
                <a:cubicBezTo>
                  <a:pt x="3394885" y="0"/>
                  <a:pt x="3429000" y="34115"/>
                  <a:pt x="3429000" y="76198"/>
                </a:cubicBezTo>
                <a:lnTo>
                  <a:pt x="3429000" y="495302"/>
                </a:lnTo>
                <a:cubicBezTo>
                  <a:pt x="3429000" y="537385"/>
                  <a:pt x="3394885" y="571500"/>
                  <a:pt x="3352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5" name="Text 22"/>
          <p:cNvSpPr/>
          <p:nvPr/>
        </p:nvSpPr>
        <p:spPr>
          <a:xfrm>
            <a:off x="4457700" y="281940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检索引擎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457700" y="3048000"/>
            <a:ext cx="3343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+ DeepSearch(自主优化)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81500" y="3390900"/>
            <a:ext cx="3429000" cy="571500"/>
          </a:xfrm>
          <a:custGeom>
            <a:avLst/>
            <a:gdLst/>
            <a:ahLst/>
            <a:cxnLst/>
            <a:rect l="l" t="t" r="r" b="b"/>
            <a:pathLst>
              <a:path w="3429000" h="571500">
                <a:moveTo>
                  <a:pt x="76198" y="0"/>
                </a:moveTo>
                <a:lnTo>
                  <a:pt x="3352802" y="0"/>
                </a:lnTo>
                <a:cubicBezTo>
                  <a:pt x="3394885" y="0"/>
                  <a:pt x="3429000" y="34115"/>
                  <a:pt x="3429000" y="76198"/>
                </a:cubicBezTo>
                <a:lnTo>
                  <a:pt x="3429000" y="495302"/>
                </a:lnTo>
                <a:cubicBezTo>
                  <a:pt x="3429000" y="537385"/>
                  <a:pt x="3394885" y="571500"/>
                  <a:pt x="3352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8" name="Text 25"/>
          <p:cNvSpPr/>
          <p:nvPr/>
        </p:nvSpPr>
        <p:spPr>
          <a:xfrm>
            <a:off x="4457700" y="346710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57700" y="3695700"/>
            <a:ext cx="3343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FAISS(轻量化) / Qdrant(分布式)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077200" y="1428750"/>
            <a:ext cx="3733800" cy="2686050"/>
          </a:xfrm>
          <a:custGeom>
            <a:avLst/>
            <a:gdLst/>
            <a:ahLst/>
            <a:cxnLst/>
            <a:rect l="l" t="t" r="r" b="b"/>
            <a:pathLst>
              <a:path w="3733800" h="26860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571759"/>
                </a:lnTo>
                <a:cubicBezTo>
                  <a:pt x="3733800" y="2634880"/>
                  <a:pt x="3682630" y="2686050"/>
                  <a:pt x="3619509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077200" y="14287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2" name="Shape 29"/>
          <p:cNvSpPr/>
          <p:nvPr/>
        </p:nvSpPr>
        <p:spPr>
          <a:xfrm>
            <a:off x="82296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8326041" y="17049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4" name="Text 31"/>
          <p:cNvSpPr/>
          <p:nvPr/>
        </p:nvSpPr>
        <p:spPr>
          <a:xfrm>
            <a:off x="8724900" y="16573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工程技术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229600" y="2095500"/>
            <a:ext cx="3429000" cy="571500"/>
          </a:xfrm>
          <a:custGeom>
            <a:avLst/>
            <a:gdLst/>
            <a:ahLst/>
            <a:cxnLst/>
            <a:rect l="l" t="t" r="r" b="b"/>
            <a:pathLst>
              <a:path w="3429000" h="571500">
                <a:moveTo>
                  <a:pt x="76198" y="0"/>
                </a:moveTo>
                <a:lnTo>
                  <a:pt x="3352802" y="0"/>
                </a:lnTo>
                <a:cubicBezTo>
                  <a:pt x="3394885" y="0"/>
                  <a:pt x="3429000" y="34115"/>
                  <a:pt x="3429000" y="76198"/>
                </a:cubicBezTo>
                <a:lnTo>
                  <a:pt x="3429000" y="495302"/>
                </a:lnTo>
                <a:cubicBezTo>
                  <a:pt x="3429000" y="537385"/>
                  <a:pt x="3394885" y="571500"/>
                  <a:pt x="3352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6" name="Text 33"/>
          <p:cNvSpPr/>
          <p:nvPr/>
        </p:nvSpPr>
        <p:spPr>
          <a:xfrm>
            <a:off x="8305800" y="217170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305800" y="2400300"/>
            <a:ext cx="3343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/ TypeScript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229600" y="2743200"/>
            <a:ext cx="3429000" cy="571500"/>
          </a:xfrm>
          <a:custGeom>
            <a:avLst/>
            <a:gdLst/>
            <a:ahLst/>
            <a:cxnLst/>
            <a:rect l="l" t="t" r="r" b="b"/>
            <a:pathLst>
              <a:path w="3429000" h="571500">
                <a:moveTo>
                  <a:pt x="76198" y="0"/>
                </a:moveTo>
                <a:lnTo>
                  <a:pt x="3352802" y="0"/>
                </a:lnTo>
                <a:cubicBezTo>
                  <a:pt x="3394885" y="0"/>
                  <a:pt x="3429000" y="34115"/>
                  <a:pt x="3429000" y="76198"/>
                </a:cubicBezTo>
                <a:lnTo>
                  <a:pt x="3429000" y="495302"/>
                </a:lnTo>
                <a:cubicBezTo>
                  <a:pt x="3429000" y="537385"/>
                  <a:pt x="3394885" y="571500"/>
                  <a:pt x="3352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9" name="Text 36"/>
          <p:cNvSpPr/>
          <p:nvPr/>
        </p:nvSpPr>
        <p:spPr>
          <a:xfrm>
            <a:off x="8305800" y="281940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305800" y="3048000"/>
            <a:ext cx="3343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PostgreSQL / Redis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29600" y="3390900"/>
            <a:ext cx="3429000" cy="571500"/>
          </a:xfrm>
          <a:custGeom>
            <a:avLst/>
            <a:gdLst/>
            <a:ahLst/>
            <a:cxnLst/>
            <a:rect l="l" t="t" r="r" b="b"/>
            <a:pathLst>
              <a:path w="3429000" h="571500">
                <a:moveTo>
                  <a:pt x="76198" y="0"/>
                </a:moveTo>
                <a:lnTo>
                  <a:pt x="3352802" y="0"/>
                </a:lnTo>
                <a:cubicBezTo>
                  <a:pt x="3394885" y="0"/>
                  <a:pt x="3429000" y="34115"/>
                  <a:pt x="3429000" y="76198"/>
                </a:cubicBezTo>
                <a:lnTo>
                  <a:pt x="3429000" y="495302"/>
                </a:lnTo>
                <a:cubicBezTo>
                  <a:pt x="3429000" y="537385"/>
                  <a:pt x="3394885" y="571500"/>
                  <a:pt x="3352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2" name="Text 39"/>
          <p:cNvSpPr/>
          <p:nvPr/>
        </p:nvSpPr>
        <p:spPr>
          <a:xfrm>
            <a:off x="8305800" y="346710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305800" y="3695700"/>
            <a:ext cx="3343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/ 1Panel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81000" y="4229100"/>
            <a:ext cx="11430000" cy="1752600"/>
          </a:xfrm>
          <a:custGeom>
            <a:avLst/>
            <a:gdLst/>
            <a:ahLst/>
            <a:cxnLst/>
            <a:rect l="l" t="t" r="r" b="b"/>
            <a:pathLst>
              <a:path w="11430000" h="1752600">
                <a:moveTo>
                  <a:pt x="114305" y="0"/>
                </a:moveTo>
                <a:lnTo>
                  <a:pt x="11315695" y="0"/>
                </a:lnTo>
                <a:cubicBezTo>
                  <a:pt x="11378824" y="0"/>
                  <a:pt x="11430000" y="51176"/>
                  <a:pt x="11430000" y="114305"/>
                </a:cubicBezTo>
                <a:lnTo>
                  <a:pt x="11430000" y="1638295"/>
                </a:lnTo>
                <a:cubicBezTo>
                  <a:pt x="11430000" y="1701424"/>
                  <a:pt x="11378824" y="1752600"/>
                  <a:pt x="113156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561975" y="441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6" name="Text 43"/>
          <p:cNvSpPr/>
          <p:nvPr/>
        </p:nvSpPr>
        <p:spPr>
          <a:xfrm>
            <a:off x="933450" y="43815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技术栈设计原则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33400" y="4800600"/>
            <a:ext cx="3609975" cy="1028700"/>
          </a:xfrm>
          <a:custGeom>
            <a:avLst/>
            <a:gdLst/>
            <a:ahLst/>
            <a:cxnLst/>
            <a:rect l="l" t="t" r="r" b="b"/>
            <a:pathLst>
              <a:path w="3609975" h="1028700">
                <a:moveTo>
                  <a:pt x="76196" y="0"/>
                </a:moveTo>
                <a:lnTo>
                  <a:pt x="3533779" y="0"/>
                </a:lnTo>
                <a:cubicBezTo>
                  <a:pt x="3575861" y="0"/>
                  <a:pt x="3609975" y="34114"/>
                  <a:pt x="3609975" y="76196"/>
                </a:cubicBezTo>
                <a:lnTo>
                  <a:pt x="3609975" y="952504"/>
                </a:lnTo>
                <a:cubicBezTo>
                  <a:pt x="3609975" y="994586"/>
                  <a:pt x="3575861" y="1028700"/>
                  <a:pt x="353377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8" name="Text 45"/>
          <p:cNvSpPr/>
          <p:nvPr/>
        </p:nvSpPr>
        <p:spPr>
          <a:xfrm>
            <a:off x="647700" y="4914900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轻量化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7700" y="5257800"/>
            <a:ext cx="34575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优先选择轻量级组件,降低部署门槛,适配中小社区算力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4292575" y="4800600"/>
            <a:ext cx="3609975" cy="1028700"/>
          </a:xfrm>
          <a:custGeom>
            <a:avLst/>
            <a:gdLst/>
            <a:ahLst/>
            <a:cxnLst/>
            <a:rect l="l" t="t" r="r" b="b"/>
            <a:pathLst>
              <a:path w="3609975" h="1028700">
                <a:moveTo>
                  <a:pt x="76196" y="0"/>
                </a:moveTo>
                <a:lnTo>
                  <a:pt x="3533779" y="0"/>
                </a:lnTo>
                <a:cubicBezTo>
                  <a:pt x="3575861" y="0"/>
                  <a:pt x="3609975" y="34114"/>
                  <a:pt x="3609975" y="76196"/>
                </a:cubicBezTo>
                <a:lnTo>
                  <a:pt x="3609975" y="952504"/>
                </a:lnTo>
                <a:cubicBezTo>
                  <a:pt x="3609975" y="994586"/>
                  <a:pt x="3575861" y="1028700"/>
                  <a:pt x="353377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1" name="Text 48"/>
          <p:cNvSpPr/>
          <p:nvPr/>
        </p:nvSpPr>
        <p:spPr>
          <a:xfrm>
            <a:off x="4406875" y="4914900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4406875" y="5257800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支持从单机到分布式平滑扩展,满足业务增长需求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051750" y="4800600"/>
            <a:ext cx="3609975" cy="1028700"/>
          </a:xfrm>
          <a:custGeom>
            <a:avLst/>
            <a:gdLst/>
            <a:ahLst/>
            <a:cxnLst/>
            <a:rect l="l" t="t" r="r" b="b"/>
            <a:pathLst>
              <a:path w="3609975" h="1028700">
                <a:moveTo>
                  <a:pt x="76196" y="0"/>
                </a:moveTo>
                <a:lnTo>
                  <a:pt x="3533779" y="0"/>
                </a:lnTo>
                <a:cubicBezTo>
                  <a:pt x="3575861" y="0"/>
                  <a:pt x="3609975" y="34114"/>
                  <a:pt x="3609975" y="76196"/>
                </a:cubicBezTo>
                <a:lnTo>
                  <a:pt x="3609975" y="952504"/>
                </a:lnTo>
                <a:cubicBezTo>
                  <a:pt x="3609975" y="994586"/>
                  <a:pt x="3575861" y="1028700"/>
                  <a:pt x="353377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8166050" y="4914900"/>
            <a:ext cx="3467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易运维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166050" y="5257800"/>
            <a:ext cx="3457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Docker一键部署,1Panel可视化运维,降低运维成本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77" y="326644"/>
            <a:ext cx="1870039" cy="261315"/>
          </a:xfrm>
          <a:custGeom>
            <a:avLst/>
            <a:gdLst/>
            <a:ahLst/>
            <a:cxnLst/>
            <a:rect l="l" t="t" r="r" b="b"/>
            <a:pathLst>
              <a:path w="1870039" h="261315">
                <a:moveTo>
                  <a:pt x="0" y="0"/>
                </a:moveTo>
                <a:lnTo>
                  <a:pt x="1870039" y="0"/>
                </a:lnTo>
                <a:lnTo>
                  <a:pt x="1870039" y="261315"/>
                </a:lnTo>
                <a:lnTo>
                  <a:pt x="0" y="261315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42977" y="326644"/>
            <a:ext cx="32664" cy="261315"/>
          </a:xfrm>
          <a:custGeom>
            <a:avLst/>
            <a:gdLst/>
            <a:ahLst/>
            <a:cxnLst/>
            <a:rect l="l" t="t" r="r" b="b"/>
            <a:pathLst>
              <a:path w="32664" h="261315">
                <a:moveTo>
                  <a:pt x="0" y="0"/>
                </a:moveTo>
                <a:lnTo>
                  <a:pt x="32664" y="0"/>
                </a:lnTo>
                <a:lnTo>
                  <a:pt x="32664" y="261315"/>
                </a:lnTo>
                <a:lnTo>
                  <a:pt x="0" y="261315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89967" y="371558"/>
            <a:ext cx="1659506" cy="171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kern="0" spc="5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FUNCTION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6644" y="653289"/>
            <a:ext cx="11685701" cy="3266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核心功能一：智能问答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6644" y="1045262"/>
            <a:ext cx="653289" cy="32664"/>
          </a:xfrm>
          <a:custGeom>
            <a:avLst/>
            <a:gdLst/>
            <a:ahLst/>
            <a:cxnLst/>
            <a:rect l="l" t="t" r="r" b="b"/>
            <a:pathLst>
              <a:path w="653289" h="32664">
                <a:moveTo>
                  <a:pt x="0" y="0"/>
                </a:moveTo>
                <a:lnTo>
                  <a:pt x="653289" y="0"/>
                </a:lnTo>
                <a:lnTo>
                  <a:pt x="653289" y="32664"/>
                </a:lnTo>
                <a:lnTo>
                  <a:pt x="0" y="32664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42977" y="1241248"/>
            <a:ext cx="11522379" cy="489967"/>
          </a:xfrm>
          <a:custGeom>
            <a:avLst/>
            <a:gdLst/>
            <a:ahLst/>
            <a:cxnLst/>
            <a:rect l="l" t="t" r="r" b="b"/>
            <a:pathLst>
              <a:path w="11522379" h="489967">
                <a:moveTo>
                  <a:pt x="32664" y="0"/>
                </a:moveTo>
                <a:lnTo>
                  <a:pt x="11457052" y="0"/>
                </a:lnTo>
                <a:cubicBezTo>
                  <a:pt x="11493131" y="0"/>
                  <a:pt x="11522379" y="29248"/>
                  <a:pt x="11522379" y="65327"/>
                </a:cubicBezTo>
                <a:lnTo>
                  <a:pt x="11522379" y="424639"/>
                </a:lnTo>
                <a:cubicBezTo>
                  <a:pt x="11522379" y="460719"/>
                  <a:pt x="11493131" y="489967"/>
                  <a:pt x="11457052" y="489967"/>
                </a:cubicBezTo>
                <a:lnTo>
                  <a:pt x="32664" y="489967"/>
                </a:lnTo>
                <a:cubicBezTo>
                  <a:pt x="14624" y="489967"/>
                  <a:pt x="0" y="475342"/>
                  <a:pt x="0" y="457302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E5FF">
                  <a:alpha val="10000"/>
                </a:srgbClr>
              </a:gs>
              <a:gs pos="100000">
                <a:srgbClr val="00E5FF">
                  <a:alpha val="5000"/>
                </a:srgbClr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342977" y="1241248"/>
            <a:ext cx="32664" cy="489967"/>
          </a:xfrm>
          <a:custGeom>
            <a:avLst/>
            <a:gdLst/>
            <a:ahLst/>
            <a:cxnLst/>
            <a:rect l="l" t="t" r="r" b="b"/>
            <a:pathLst>
              <a:path w="32664" h="489967">
                <a:moveTo>
                  <a:pt x="32664" y="0"/>
                </a:moveTo>
                <a:lnTo>
                  <a:pt x="32664" y="0"/>
                </a:lnTo>
                <a:lnTo>
                  <a:pt x="32664" y="489967"/>
                </a:lnTo>
                <a:lnTo>
                  <a:pt x="32664" y="489967"/>
                </a:lnTo>
                <a:cubicBezTo>
                  <a:pt x="14624" y="489967"/>
                  <a:pt x="0" y="475342"/>
                  <a:pt x="0" y="457302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502216" y="1388238"/>
            <a:ext cx="220485" cy="195987"/>
          </a:xfrm>
          <a:custGeom>
            <a:avLst/>
            <a:gdLst/>
            <a:ahLst/>
            <a:cxnLst/>
            <a:rect l="l" t="t" r="r" b="b"/>
            <a:pathLst>
              <a:path w="220485" h="195987">
                <a:moveTo>
                  <a:pt x="118472" y="-7235"/>
                </a:moveTo>
                <a:cubicBezTo>
                  <a:pt x="116903" y="-10297"/>
                  <a:pt x="113726" y="-12249"/>
                  <a:pt x="110281" y="-12249"/>
                </a:cubicBezTo>
                <a:cubicBezTo>
                  <a:pt x="106836" y="-12249"/>
                  <a:pt x="103659" y="-10297"/>
                  <a:pt x="102089" y="-7235"/>
                </a:cubicBezTo>
                <a:lnTo>
                  <a:pt x="73916" y="47963"/>
                </a:lnTo>
                <a:lnTo>
                  <a:pt x="12709" y="57686"/>
                </a:lnTo>
                <a:cubicBezTo>
                  <a:pt x="9302" y="58222"/>
                  <a:pt x="6469" y="60633"/>
                  <a:pt x="5397" y="63925"/>
                </a:cubicBezTo>
                <a:cubicBezTo>
                  <a:pt x="4325" y="67217"/>
                  <a:pt x="5206" y="70815"/>
                  <a:pt x="7617" y="73265"/>
                </a:cubicBezTo>
                <a:lnTo>
                  <a:pt x="51408" y="117094"/>
                </a:lnTo>
                <a:lnTo>
                  <a:pt x="41762" y="178302"/>
                </a:lnTo>
                <a:cubicBezTo>
                  <a:pt x="41226" y="181709"/>
                  <a:pt x="42642" y="185154"/>
                  <a:pt x="45437" y="187183"/>
                </a:cubicBezTo>
                <a:cubicBezTo>
                  <a:pt x="48231" y="189211"/>
                  <a:pt x="51906" y="189518"/>
                  <a:pt x="55006" y="187948"/>
                </a:cubicBezTo>
                <a:lnTo>
                  <a:pt x="110281" y="159852"/>
                </a:lnTo>
                <a:lnTo>
                  <a:pt x="165517" y="187948"/>
                </a:lnTo>
                <a:cubicBezTo>
                  <a:pt x="168579" y="189518"/>
                  <a:pt x="172292" y="189211"/>
                  <a:pt x="175086" y="187183"/>
                </a:cubicBezTo>
                <a:cubicBezTo>
                  <a:pt x="177881" y="185154"/>
                  <a:pt x="179297" y="181747"/>
                  <a:pt x="178761" y="178302"/>
                </a:cubicBezTo>
                <a:lnTo>
                  <a:pt x="169077" y="117094"/>
                </a:lnTo>
                <a:lnTo>
                  <a:pt x="212867" y="73265"/>
                </a:lnTo>
                <a:cubicBezTo>
                  <a:pt x="215317" y="70815"/>
                  <a:pt x="216159" y="67217"/>
                  <a:pt x="215088" y="63925"/>
                </a:cubicBezTo>
                <a:cubicBezTo>
                  <a:pt x="214016" y="60633"/>
                  <a:pt x="211222" y="58222"/>
                  <a:pt x="207776" y="57686"/>
                </a:cubicBezTo>
                <a:lnTo>
                  <a:pt x="146607" y="47963"/>
                </a:lnTo>
                <a:lnTo>
                  <a:pt x="118472" y="-7235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Text 8"/>
          <p:cNvSpPr/>
          <p:nvPr/>
        </p:nvSpPr>
        <p:spPr>
          <a:xfrm>
            <a:off x="832943" y="1371906"/>
            <a:ext cx="3756410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功能亮点:</a:t>
            </a:r>
            <a:r>
              <a:rPr lang="en-US" sz="115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自然交互 + 多轮对话 + 精准应答 + 来源可追溯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6644" y="1878205"/>
            <a:ext cx="4540356" cy="3315440"/>
          </a:xfrm>
          <a:custGeom>
            <a:avLst/>
            <a:gdLst/>
            <a:ahLst/>
            <a:cxnLst/>
            <a:rect l="l" t="t" r="r" b="b"/>
            <a:pathLst>
              <a:path w="4540356" h="3315440">
                <a:moveTo>
                  <a:pt x="32664" y="0"/>
                </a:moveTo>
                <a:lnTo>
                  <a:pt x="4507692" y="0"/>
                </a:lnTo>
                <a:cubicBezTo>
                  <a:pt x="4525732" y="0"/>
                  <a:pt x="4540356" y="14624"/>
                  <a:pt x="4540356" y="32664"/>
                </a:cubicBezTo>
                <a:lnTo>
                  <a:pt x="4540356" y="3217436"/>
                </a:lnTo>
                <a:cubicBezTo>
                  <a:pt x="4540356" y="3271562"/>
                  <a:pt x="4496478" y="3315440"/>
                  <a:pt x="4442352" y="3315440"/>
                </a:cubicBezTo>
                <a:lnTo>
                  <a:pt x="98004" y="3315440"/>
                </a:lnTo>
                <a:cubicBezTo>
                  <a:pt x="43878" y="3315440"/>
                  <a:pt x="0" y="3271562"/>
                  <a:pt x="0" y="321743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644" y="1878205"/>
            <a:ext cx="4540356" cy="32664"/>
          </a:xfrm>
          <a:custGeom>
            <a:avLst/>
            <a:gdLst/>
            <a:ahLst/>
            <a:cxnLst/>
            <a:rect l="l" t="t" r="r" b="b"/>
            <a:pathLst>
              <a:path w="4540356" h="32664">
                <a:moveTo>
                  <a:pt x="32664" y="0"/>
                </a:moveTo>
                <a:lnTo>
                  <a:pt x="4507692" y="0"/>
                </a:lnTo>
                <a:cubicBezTo>
                  <a:pt x="4525732" y="0"/>
                  <a:pt x="4540356" y="14624"/>
                  <a:pt x="4540356" y="32664"/>
                </a:cubicBezTo>
                <a:lnTo>
                  <a:pt x="4540356" y="32664"/>
                </a:lnTo>
                <a:lnTo>
                  <a:pt x="0" y="32664"/>
                </a:ln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4" name="Shape 11"/>
          <p:cNvSpPr/>
          <p:nvPr/>
        </p:nvSpPr>
        <p:spPr>
          <a:xfrm>
            <a:off x="520589" y="2090524"/>
            <a:ext cx="142907" cy="163322"/>
          </a:xfrm>
          <a:custGeom>
            <a:avLst/>
            <a:gdLst/>
            <a:ahLst/>
            <a:cxnLst/>
            <a:rect l="l" t="t" r="r" b="b"/>
            <a:pathLst>
              <a:path w="142907" h="163322">
                <a:moveTo>
                  <a:pt x="71453" y="79109"/>
                </a:moveTo>
                <a:cubicBezTo>
                  <a:pt x="92580" y="79109"/>
                  <a:pt x="109732" y="61957"/>
                  <a:pt x="109732" y="40831"/>
                </a:cubicBezTo>
                <a:cubicBezTo>
                  <a:pt x="109732" y="19704"/>
                  <a:pt x="92580" y="2552"/>
                  <a:pt x="71453" y="2552"/>
                </a:cubicBezTo>
                <a:cubicBezTo>
                  <a:pt x="50327" y="2552"/>
                  <a:pt x="33175" y="19704"/>
                  <a:pt x="33175" y="40831"/>
                </a:cubicBezTo>
                <a:cubicBezTo>
                  <a:pt x="33175" y="61957"/>
                  <a:pt x="50327" y="79109"/>
                  <a:pt x="71453" y="79109"/>
                </a:cubicBezTo>
                <a:close/>
                <a:moveTo>
                  <a:pt x="61979" y="96973"/>
                </a:moveTo>
                <a:cubicBezTo>
                  <a:pt x="30559" y="96973"/>
                  <a:pt x="5104" y="122428"/>
                  <a:pt x="5104" y="153848"/>
                </a:cubicBezTo>
                <a:cubicBezTo>
                  <a:pt x="5104" y="159080"/>
                  <a:pt x="9346" y="163322"/>
                  <a:pt x="14578" y="163322"/>
                </a:cubicBezTo>
                <a:lnTo>
                  <a:pt x="128329" y="163322"/>
                </a:lnTo>
                <a:cubicBezTo>
                  <a:pt x="133561" y="163322"/>
                  <a:pt x="137803" y="159080"/>
                  <a:pt x="137803" y="153848"/>
                </a:cubicBezTo>
                <a:cubicBezTo>
                  <a:pt x="137803" y="122428"/>
                  <a:pt x="112348" y="96973"/>
                  <a:pt x="80927" y="96973"/>
                </a:cubicBezTo>
                <a:lnTo>
                  <a:pt x="61979" y="96973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5" name="Text 12"/>
          <p:cNvSpPr/>
          <p:nvPr/>
        </p:nvSpPr>
        <p:spPr>
          <a:xfrm>
            <a:off x="694119" y="2057859"/>
            <a:ext cx="4091220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用户提问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6299" y="2496788"/>
            <a:ext cx="4197380" cy="473634"/>
          </a:xfrm>
          <a:custGeom>
            <a:avLst/>
            <a:gdLst/>
            <a:ahLst/>
            <a:cxnLst/>
            <a:rect l="l" t="t" r="r" b="b"/>
            <a:pathLst>
              <a:path w="4197380" h="473634">
                <a:moveTo>
                  <a:pt x="32664" y="0"/>
                </a:moveTo>
                <a:lnTo>
                  <a:pt x="4132051" y="0"/>
                </a:lnTo>
                <a:cubicBezTo>
                  <a:pt x="4168131" y="0"/>
                  <a:pt x="4197380" y="29249"/>
                  <a:pt x="4197380" y="65328"/>
                </a:cubicBezTo>
                <a:lnTo>
                  <a:pt x="4197380" y="408306"/>
                </a:lnTo>
                <a:cubicBezTo>
                  <a:pt x="4197380" y="444386"/>
                  <a:pt x="4168131" y="473634"/>
                  <a:pt x="4132051" y="473634"/>
                </a:cubicBezTo>
                <a:lnTo>
                  <a:pt x="32664" y="473634"/>
                </a:lnTo>
                <a:cubicBezTo>
                  <a:pt x="14624" y="473634"/>
                  <a:pt x="0" y="459010"/>
                  <a:pt x="0" y="440970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506299" y="2496788"/>
            <a:ext cx="32664" cy="473634"/>
          </a:xfrm>
          <a:custGeom>
            <a:avLst/>
            <a:gdLst/>
            <a:ahLst/>
            <a:cxnLst/>
            <a:rect l="l" t="t" r="r" b="b"/>
            <a:pathLst>
              <a:path w="32664" h="473634">
                <a:moveTo>
                  <a:pt x="32664" y="0"/>
                </a:moveTo>
                <a:lnTo>
                  <a:pt x="32664" y="0"/>
                </a:lnTo>
                <a:lnTo>
                  <a:pt x="32664" y="473634"/>
                </a:lnTo>
                <a:lnTo>
                  <a:pt x="32664" y="473634"/>
                </a:lnTo>
                <a:cubicBezTo>
                  <a:pt x="14624" y="473634"/>
                  <a:pt x="0" y="459010"/>
                  <a:pt x="0" y="440970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8" name="Text 15"/>
          <p:cNvSpPr/>
          <p:nvPr/>
        </p:nvSpPr>
        <p:spPr>
          <a:xfrm>
            <a:off x="653289" y="2627445"/>
            <a:ext cx="3985061" cy="2123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0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"如何解决MaxKB部署时的8080端口冲突?"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05847" y="3194990"/>
            <a:ext cx="183737" cy="244983"/>
          </a:xfrm>
          <a:custGeom>
            <a:avLst/>
            <a:gdLst/>
            <a:ahLst/>
            <a:cxnLst/>
            <a:rect l="l" t="t" r="r" b="b"/>
            <a:pathLst>
              <a:path w="183737" h="244983">
                <a:moveTo>
                  <a:pt x="81055" y="240486"/>
                </a:moveTo>
                <a:cubicBezTo>
                  <a:pt x="87036" y="246467"/>
                  <a:pt x="96749" y="246467"/>
                  <a:pt x="102730" y="240486"/>
                </a:cubicBezTo>
                <a:lnTo>
                  <a:pt x="179288" y="163928"/>
                </a:lnTo>
                <a:cubicBezTo>
                  <a:pt x="185269" y="157947"/>
                  <a:pt x="185269" y="148234"/>
                  <a:pt x="179288" y="142253"/>
                </a:cubicBezTo>
                <a:cubicBezTo>
                  <a:pt x="173307" y="136272"/>
                  <a:pt x="163593" y="136272"/>
                  <a:pt x="157612" y="142253"/>
                </a:cubicBezTo>
                <a:lnTo>
                  <a:pt x="107180" y="192685"/>
                </a:lnTo>
                <a:lnTo>
                  <a:pt x="107180" y="15311"/>
                </a:lnTo>
                <a:cubicBezTo>
                  <a:pt x="107180" y="6842"/>
                  <a:pt x="100338" y="0"/>
                  <a:pt x="91869" y="0"/>
                </a:cubicBezTo>
                <a:cubicBezTo>
                  <a:pt x="83400" y="0"/>
                  <a:pt x="76557" y="6842"/>
                  <a:pt x="76557" y="15311"/>
                </a:cubicBezTo>
                <a:lnTo>
                  <a:pt x="76557" y="192685"/>
                </a:lnTo>
                <a:lnTo>
                  <a:pt x="26125" y="142253"/>
                </a:lnTo>
                <a:cubicBezTo>
                  <a:pt x="20144" y="136272"/>
                  <a:pt x="10431" y="136272"/>
                  <a:pt x="4450" y="142253"/>
                </a:cubicBezTo>
                <a:cubicBezTo>
                  <a:pt x="-1531" y="148234"/>
                  <a:pt x="-1531" y="157947"/>
                  <a:pt x="4450" y="163928"/>
                </a:cubicBezTo>
                <a:lnTo>
                  <a:pt x="81007" y="240486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20" name="Text 17"/>
          <p:cNvSpPr/>
          <p:nvPr/>
        </p:nvSpPr>
        <p:spPr>
          <a:xfrm>
            <a:off x="489967" y="3680873"/>
            <a:ext cx="4287207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系统处理流程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9967" y="4199421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7993" y="0"/>
                </a:moveTo>
                <a:lnTo>
                  <a:pt x="97993" y="0"/>
                </a:lnTo>
                <a:cubicBezTo>
                  <a:pt x="152077" y="0"/>
                  <a:pt x="195987" y="43909"/>
                  <a:pt x="195987" y="97993"/>
                </a:cubicBezTo>
                <a:lnTo>
                  <a:pt x="195987" y="97993"/>
                </a:lnTo>
                <a:cubicBezTo>
                  <a:pt x="195987" y="152077"/>
                  <a:pt x="152077" y="195987"/>
                  <a:pt x="97993" y="195987"/>
                </a:cubicBezTo>
                <a:lnTo>
                  <a:pt x="97993" y="195987"/>
                </a:lnTo>
                <a:cubicBezTo>
                  <a:pt x="43909" y="195987"/>
                  <a:pt x="0" y="152077"/>
                  <a:pt x="0" y="97993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2" name="Text 19"/>
          <p:cNvSpPr/>
          <p:nvPr/>
        </p:nvSpPr>
        <p:spPr>
          <a:xfrm>
            <a:off x="461385" y="4199421"/>
            <a:ext cx="25314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1282" y="4199421"/>
            <a:ext cx="1339242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自动识别项目: </a:t>
            </a:r>
            <a:r>
              <a:rPr lang="en-US" sz="1030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MaxKB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89967" y="4460737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7993" y="0"/>
                </a:moveTo>
                <a:lnTo>
                  <a:pt x="97993" y="0"/>
                </a:lnTo>
                <a:cubicBezTo>
                  <a:pt x="152077" y="0"/>
                  <a:pt x="195987" y="43909"/>
                  <a:pt x="195987" y="97993"/>
                </a:cubicBezTo>
                <a:lnTo>
                  <a:pt x="195987" y="97993"/>
                </a:lnTo>
                <a:cubicBezTo>
                  <a:pt x="195987" y="152077"/>
                  <a:pt x="152077" y="195987"/>
                  <a:pt x="97993" y="195987"/>
                </a:cubicBezTo>
                <a:lnTo>
                  <a:pt x="97993" y="195987"/>
                </a:lnTo>
                <a:cubicBezTo>
                  <a:pt x="43909" y="195987"/>
                  <a:pt x="0" y="152077"/>
                  <a:pt x="0" y="97993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5" name="Text 22"/>
          <p:cNvSpPr/>
          <p:nvPr/>
        </p:nvSpPr>
        <p:spPr>
          <a:xfrm>
            <a:off x="461385" y="4460737"/>
            <a:ext cx="25314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1282" y="4460737"/>
            <a:ext cx="144540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识别问题类型: </a:t>
            </a:r>
            <a:r>
              <a:rPr lang="en-US" sz="1030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部署问题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89967" y="4722052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7993" y="0"/>
                </a:moveTo>
                <a:lnTo>
                  <a:pt x="97993" y="0"/>
                </a:lnTo>
                <a:cubicBezTo>
                  <a:pt x="152077" y="0"/>
                  <a:pt x="195987" y="43909"/>
                  <a:pt x="195987" y="97993"/>
                </a:cubicBezTo>
                <a:lnTo>
                  <a:pt x="195987" y="97993"/>
                </a:lnTo>
                <a:cubicBezTo>
                  <a:pt x="195987" y="152077"/>
                  <a:pt x="152077" y="195987"/>
                  <a:pt x="97993" y="195987"/>
                </a:cubicBezTo>
                <a:lnTo>
                  <a:pt x="97993" y="195987"/>
                </a:lnTo>
                <a:cubicBezTo>
                  <a:pt x="43909" y="195987"/>
                  <a:pt x="0" y="152077"/>
                  <a:pt x="0" y="97993"/>
                </a:cubicBezTo>
                <a:lnTo>
                  <a:pt x="0" y="97993"/>
                </a:lnTo>
                <a:cubicBezTo>
                  <a:pt x="0" y="43909"/>
                  <a:pt x="43909" y="0"/>
                  <a:pt x="97993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8" name="Text 25"/>
          <p:cNvSpPr/>
          <p:nvPr/>
        </p:nvSpPr>
        <p:spPr>
          <a:xfrm>
            <a:off x="461385" y="4722052"/>
            <a:ext cx="253149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1282" y="4722052"/>
            <a:ext cx="1641388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提取关键词: </a:t>
            </a:r>
            <a:r>
              <a:rPr lang="en-US" sz="1030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8080端口冲突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995425" y="1878205"/>
            <a:ext cx="6875863" cy="3315440"/>
          </a:xfrm>
          <a:custGeom>
            <a:avLst/>
            <a:gdLst/>
            <a:ahLst/>
            <a:cxnLst/>
            <a:rect l="l" t="t" r="r" b="b"/>
            <a:pathLst>
              <a:path w="6875863" h="3315440">
                <a:moveTo>
                  <a:pt x="32664" y="0"/>
                </a:moveTo>
                <a:lnTo>
                  <a:pt x="6843199" y="0"/>
                </a:lnTo>
                <a:cubicBezTo>
                  <a:pt x="6861239" y="0"/>
                  <a:pt x="6875863" y="14624"/>
                  <a:pt x="6875863" y="32664"/>
                </a:cubicBezTo>
                <a:lnTo>
                  <a:pt x="6875863" y="3217436"/>
                </a:lnTo>
                <a:cubicBezTo>
                  <a:pt x="6875863" y="3271562"/>
                  <a:pt x="6831985" y="3315440"/>
                  <a:pt x="6777859" y="3315440"/>
                </a:cubicBezTo>
                <a:lnTo>
                  <a:pt x="98004" y="3315440"/>
                </a:lnTo>
                <a:cubicBezTo>
                  <a:pt x="43878" y="3315440"/>
                  <a:pt x="0" y="3271562"/>
                  <a:pt x="0" y="3217436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995425" y="1878205"/>
            <a:ext cx="6875863" cy="32664"/>
          </a:xfrm>
          <a:custGeom>
            <a:avLst/>
            <a:gdLst/>
            <a:ahLst/>
            <a:cxnLst/>
            <a:rect l="l" t="t" r="r" b="b"/>
            <a:pathLst>
              <a:path w="6875863" h="32664">
                <a:moveTo>
                  <a:pt x="32664" y="0"/>
                </a:moveTo>
                <a:lnTo>
                  <a:pt x="6843199" y="0"/>
                </a:lnTo>
                <a:cubicBezTo>
                  <a:pt x="6861239" y="0"/>
                  <a:pt x="6875863" y="14624"/>
                  <a:pt x="6875863" y="32664"/>
                </a:cubicBezTo>
                <a:lnTo>
                  <a:pt x="6875863" y="32664"/>
                </a:lnTo>
                <a:lnTo>
                  <a:pt x="0" y="32664"/>
                </a:ln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2" name="Shape 29"/>
          <p:cNvSpPr/>
          <p:nvPr/>
        </p:nvSpPr>
        <p:spPr>
          <a:xfrm>
            <a:off x="5158748" y="2090524"/>
            <a:ext cx="204153" cy="163322"/>
          </a:xfrm>
          <a:custGeom>
            <a:avLst/>
            <a:gdLst/>
            <a:ahLst/>
            <a:cxnLst/>
            <a:rect l="l" t="t" r="r" b="b"/>
            <a:pathLst>
              <a:path w="204153" h="163322">
                <a:moveTo>
                  <a:pt x="112284" y="0"/>
                </a:moveTo>
                <a:cubicBezTo>
                  <a:pt x="112284" y="-5646"/>
                  <a:pt x="107722" y="-10208"/>
                  <a:pt x="102076" y="-10208"/>
                </a:cubicBezTo>
                <a:cubicBezTo>
                  <a:pt x="96430" y="-10208"/>
                  <a:pt x="91869" y="-5646"/>
                  <a:pt x="91869" y="0"/>
                </a:cubicBezTo>
                <a:lnTo>
                  <a:pt x="91869" y="20415"/>
                </a:lnTo>
                <a:lnTo>
                  <a:pt x="61246" y="20415"/>
                </a:lnTo>
                <a:cubicBezTo>
                  <a:pt x="44339" y="20415"/>
                  <a:pt x="30623" y="34132"/>
                  <a:pt x="30623" y="51038"/>
                </a:cubicBezTo>
                <a:lnTo>
                  <a:pt x="30623" y="122492"/>
                </a:lnTo>
                <a:cubicBezTo>
                  <a:pt x="30623" y="139398"/>
                  <a:pt x="44339" y="153115"/>
                  <a:pt x="61246" y="153115"/>
                </a:cubicBezTo>
                <a:lnTo>
                  <a:pt x="142907" y="153115"/>
                </a:lnTo>
                <a:cubicBezTo>
                  <a:pt x="159813" y="153115"/>
                  <a:pt x="173530" y="139398"/>
                  <a:pt x="173530" y="122492"/>
                </a:cubicBezTo>
                <a:lnTo>
                  <a:pt x="173530" y="51038"/>
                </a:lnTo>
                <a:cubicBezTo>
                  <a:pt x="173530" y="34132"/>
                  <a:pt x="159813" y="20415"/>
                  <a:pt x="142907" y="20415"/>
                </a:cubicBezTo>
                <a:lnTo>
                  <a:pt x="112284" y="20415"/>
                </a:lnTo>
                <a:lnTo>
                  <a:pt x="112284" y="0"/>
                </a:lnTo>
                <a:close/>
                <a:moveTo>
                  <a:pt x="51038" y="117388"/>
                </a:moveTo>
                <a:cubicBezTo>
                  <a:pt x="51038" y="113145"/>
                  <a:pt x="54451" y="109732"/>
                  <a:pt x="58694" y="109732"/>
                </a:cubicBezTo>
                <a:lnTo>
                  <a:pt x="68902" y="109732"/>
                </a:lnTo>
                <a:cubicBezTo>
                  <a:pt x="73144" y="109732"/>
                  <a:pt x="76557" y="113145"/>
                  <a:pt x="76557" y="117388"/>
                </a:cubicBezTo>
                <a:cubicBezTo>
                  <a:pt x="76557" y="121630"/>
                  <a:pt x="73144" y="125044"/>
                  <a:pt x="68902" y="125044"/>
                </a:cubicBezTo>
                <a:lnTo>
                  <a:pt x="58694" y="125044"/>
                </a:lnTo>
                <a:cubicBezTo>
                  <a:pt x="54451" y="125044"/>
                  <a:pt x="51038" y="121630"/>
                  <a:pt x="51038" y="117388"/>
                </a:cubicBezTo>
                <a:close/>
                <a:moveTo>
                  <a:pt x="89317" y="117388"/>
                </a:moveTo>
                <a:cubicBezTo>
                  <a:pt x="89317" y="113145"/>
                  <a:pt x="92730" y="109732"/>
                  <a:pt x="96973" y="109732"/>
                </a:cubicBezTo>
                <a:lnTo>
                  <a:pt x="107180" y="109732"/>
                </a:lnTo>
                <a:cubicBezTo>
                  <a:pt x="111423" y="109732"/>
                  <a:pt x="114836" y="113145"/>
                  <a:pt x="114836" y="117388"/>
                </a:cubicBezTo>
                <a:cubicBezTo>
                  <a:pt x="114836" y="121630"/>
                  <a:pt x="111423" y="125044"/>
                  <a:pt x="107180" y="125044"/>
                </a:cubicBezTo>
                <a:lnTo>
                  <a:pt x="96973" y="125044"/>
                </a:lnTo>
                <a:cubicBezTo>
                  <a:pt x="92730" y="125044"/>
                  <a:pt x="89317" y="121630"/>
                  <a:pt x="89317" y="117388"/>
                </a:cubicBezTo>
                <a:close/>
                <a:moveTo>
                  <a:pt x="127595" y="117388"/>
                </a:moveTo>
                <a:cubicBezTo>
                  <a:pt x="127595" y="113145"/>
                  <a:pt x="131009" y="109732"/>
                  <a:pt x="135251" y="109732"/>
                </a:cubicBezTo>
                <a:lnTo>
                  <a:pt x="145459" y="109732"/>
                </a:lnTo>
                <a:cubicBezTo>
                  <a:pt x="149701" y="109732"/>
                  <a:pt x="153115" y="113145"/>
                  <a:pt x="153115" y="117388"/>
                </a:cubicBezTo>
                <a:cubicBezTo>
                  <a:pt x="153115" y="121630"/>
                  <a:pt x="149701" y="125044"/>
                  <a:pt x="145459" y="125044"/>
                </a:cubicBezTo>
                <a:lnTo>
                  <a:pt x="135251" y="125044"/>
                </a:lnTo>
                <a:cubicBezTo>
                  <a:pt x="131009" y="125044"/>
                  <a:pt x="127595" y="121630"/>
                  <a:pt x="127595" y="117388"/>
                </a:cubicBezTo>
                <a:close/>
                <a:moveTo>
                  <a:pt x="71453" y="56142"/>
                </a:moveTo>
                <a:cubicBezTo>
                  <a:pt x="79904" y="56142"/>
                  <a:pt x="86765" y="63003"/>
                  <a:pt x="86765" y="71453"/>
                </a:cubicBezTo>
                <a:cubicBezTo>
                  <a:pt x="86765" y="79904"/>
                  <a:pt x="79904" y="86765"/>
                  <a:pt x="71453" y="86765"/>
                </a:cubicBezTo>
                <a:cubicBezTo>
                  <a:pt x="63003" y="86765"/>
                  <a:pt x="56142" y="79904"/>
                  <a:pt x="56142" y="71453"/>
                </a:cubicBezTo>
                <a:cubicBezTo>
                  <a:pt x="56142" y="63003"/>
                  <a:pt x="63003" y="56142"/>
                  <a:pt x="71453" y="56142"/>
                </a:cubicBezTo>
                <a:close/>
                <a:moveTo>
                  <a:pt x="117388" y="71453"/>
                </a:moveTo>
                <a:cubicBezTo>
                  <a:pt x="117388" y="63003"/>
                  <a:pt x="124249" y="56142"/>
                  <a:pt x="132699" y="56142"/>
                </a:cubicBezTo>
                <a:cubicBezTo>
                  <a:pt x="141150" y="56142"/>
                  <a:pt x="148011" y="63003"/>
                  <a:pt x="148011" y="71453"/>
                </a:cubicBezTo>
                <a:cubicBezTo>
                  <a:pt x="148011" y="79904"/>
                  <a:pt x="141150" y="86765"/>
                  <a:pt x="132699" y="86765"/>
                </a:cubicBezTo>
                <a:cubicBezTo>
                  <a:pt x="124249" y="86765"/>
                  <a:pt x="117388" y="79904"/>
                  <a:pt x="117388" y="71453"/>
                </a:cubicBezTo>
                <a:close/>
                <a:moveTo>
                  <a:pt x="20415" y="71453"/>
                </a:moveTo>
                <a:cubicBezTo>
                  <a:pt x="20415" y="65807"/>
                  <a:pt x="15854" y="61246"/>
                  <a:pt x="10208" y="61246"/>
                </a:cubicBezTo>
                <a:cubicBezTo>
                  <a:pt x="4562" y="61246"/>
                  <a:pt x="0" y="65807"/>
                  <a:pt x="0" y="71453"/>
                </a:cubicBezTo>
                <a:lnTo>
                  <a:pt x="0" y="102076"/>
                </a:lnTo>
                <a:cubicBezTo>
                  <a:pt x="0" y="107722"/>
                  <a:pt x="4562" y="112284"/>
                  <a:pt x="10208" y="112284"/>
                </a:cubicBezTo>
                <a:cubicBezTo>
                  <a:pt x="15854" y="112284"/>
                  <a:pt x="20415" y="107722"/>
                  <a:pt x="20415" y="102076"/>
                </a:cubicBezTo>
                <a:lnTo>
                  <a:pt x="20415" y="71453"/>
                </a:lnTo>
                <a:close/>
                <a:moveTo>
                  <a:pt x="193945" y="61246"/>
                </a:moveTo>
                <a:cubicBezTo>
                  <a:pt x="188299" y="61246"/>
                  <a:pt x="183737" y="65807"/>
                  <a:pt x="183737" y="71453"/>
                </a:cubicBezTo>
                <a:lnTo>
                  <a:pt x="183737" y="102076"/>
                </a:lnTo>
                <a:cubicBezTo>
                  <a:pt x="183737" y="107722"/>
                  <a:pt x="188299" y="112284"/>
                  <a:pt x="193945" y="112284"/>
                </a:cubicBezTo>
                <a:cubicBezTo>
                  <a:pt x="199591" y="112284"/>
                  <a:pt x="204153" y="107722"/>
                  <a:pt x="204153" y="102076"/>
                </a:cubicBezTo>
                <a:lnTo>
                  <a:pt x="204153" y="71453"/>
                </a:lnTo>
                <a:cubicBezTo>
                  <a:pt x="204153" y="65807"/>
                  <a:pt x="199591" y="61246"/>
                  <a:pt x="193945" y="61246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3" name="Text 30"/>
          <p:cNvSpPr/>
          <p:nvPr/>
        </p:nvSpPr>
        <p:spPr>
          <a:xfrm>
            <a:off x="5362900" y="2057859"/>
            <a:ext cx="6426727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应答结果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158748" y="2384504"/>
            <a:ext cx="6549219" cy="620624"/>
          </a:xfrm>
          <a:custGeom>
            <a:avLst/>
            <a:gdLst/>
            <a:ahLst/>
            <a:cxnLst/>
            <a:rect l="l" t="t" r="r" b="b"/>
            <a:pathLst>
              <a:path w="6549219" h="620624">
                <a:moveTo>
                  <a:pt x="65327" y="0"/>
                </a:moveTo>
                <a:lnTo>
                  <a:pt x="6483892" y="0"/>
                </a:lnTo>
                <a:cubicBezTo>
                  <a:pt x="6519971" y="0"/>
                  <a:pt x="6549219" y="29248"/>
                  <a:pt x="6549219" y="65327"/>
                </a:cubicBezTo>
                <a:lnTo>
                  <a:pt x="6549219" y="555297"/>
                </a:lnTo>
                <a:cubicBezTo>
                  <a:pt x="6549219" y="591376"/>
                  <a:pt x="6519971" y="620624"/>
                  <a:pt x="6483892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5256741" y="2482497"/>
            <a:ext cx="641856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256741" y="2711148"/>
            <a:ext cx="641856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修改配置文件中的端口参数,切换至未占用端口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158748" y="3103121"/>
            <a:ext cx="6549219" cy="1208584"/>
          </a:xfrm>
          <a:custGeom>
            <a:avLst/>
            <a:gdLst/>
            <a:ahLst/>
            <a:cxnLst/>
            <a:rect l="l" t="t" r="r" b="b"/>
            <a:pathLst>
              <a:path w="6549219" h="1208584">
                <a:moveTo>
                  <a:pt x="65324" y="0"/>
                </a:moveTo>
                <a:lnTo>
                  <a:pt x="6483895" y="0"/>
                </a:lnTo>
                <a:cubicBezTo>
                  <a:pt x="6519972" y="0"/>
                  <a:pt x="6549219" y="29247"/>
                  <a:pt x="6549219" y="65324"/>
                </a:cubicBezTo>
                <a:lnTo>
                  <a:pt x="6549219" y="1143260"/>
                </a:lnTo>
                <a:cubicBezTo>
                  <a:pt x="6549219" y="1179338"/>
                  <a:pt x="6519972" y="1208584"/>
                  <a:pt x="6483895" y="1208584"/>
                </a:cubicBezTo>
                <a:lnTo>
                  <a:pt x="65324" y="1208584"/>
                </a:lnTo>
                <a:cubicBezTo>
                  <a:pt x="29247" y="1208584"/>
                  <a:pt x="0" y="1179338"/>
                  <a:pt x="0" y="1143260"/>
                </a:cubicBezTo>
                <a:lnTo>
                  <a:pt x="0" y="65324"/>
                </a:lnTo>
                <a:cubicBezTo>
                  <a:pt x="0" y="29247"/>
                  <a:pt x="29247" y="0"/>
                  <a:pt x="65324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8" name="Text 35"/>
          <p:cNvSpPr/>
          <p:nvPr/>
        </p:nvSpPr>
        <p:spPr>
          <a:xfrm>
            <a:off x="5256741" y="3201115"/>
            <a:ext cx="641856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操作步骤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256741" y="3462430"/>
            <a:ext cx="6410395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① 找到config.yaml文件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256741" y="3658417"/>
            <a:ext cx="6410395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② 定位port字段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256741" y="3854403"/>
            <a:ext cx="6410395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③ 修改为未占用端口(如8081)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256741" y="4050390"/>
            <a:ext cx="6410395" cy="1633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④ 重启服务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158748" y="4409699"/>
            <a:ext cx="6549219" cy="620624"/>
          </a:xfrm>
          <a:custGeom>
            <a:avLst/>
            <a:gdLst/>
            <a:ahLst/>
            <a:cxnLst/>
            <a:rect l="l" t="t" r="r" b="b"/>
            <a:pathLst>
              <a:path w="6549219" h="620624">
                <a:moveTo>
                  <a:pt x="65327" y="0"/>
                </a:moveTo>
                <a:lnTo>
                  <a:pt x="6483892" y="0"/>
                </a:lnTo>
                <a:cubicBezTo>
                  <a:pt x="6519971" y="0"/>
                  <a:pt x="6549219" y="29248"/>
                  <a:pt x="6549219" y="65327"/>
                </a:cubicBezTo>
                <a:lnTo>
                  <a:pt x="6549219" y="555297"/>
                </a:lnTo>
                <a:cubicBezTo>
                  <a:pt x="6549219" y="591376"/>
                  <a:pt x="6519971" y="620624"/>
                  <a:pt x="6483892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4" name="Text 41"/>
          <p:cNvSpPr/>
          <p:nvPr/>
        </p:nvSpPr>
        <p:spPr>
          <a:xfrm>
            <a:off x="5256741" y="4507692"/>
            <a:ext cx="641856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参考来源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256741" y="4736343"/>
            <a:ext cx="6418561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MaxKB官方文档v1.0 </a:t>
            </a:r>
            <a:r>
              <a:rPr lang="en-US" sz="1030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查看原文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326644" y="5324303"/>
            <a:ext cx="11538711" cy="1208584"/>
          </a:xfrm>
          <a:custGeom>
            <a:avLst/>
            <a:gdLst/>
            <a:ahLst/>
            <a:cxnLst/>
            <a:rect l="l" t="t" r="r" b="b"/>
            <a:pathLst>
              <a:path w="11538711" h="1208584">
                <a:moveTo>
                  <a:pt x="97992" y="0"/>
                </a:moveTo>
                <a:lnTo>
                  <a:pt x="11440719" y="0"/>
                </a:lnTo>
                <a:cubicBezTo>
                  <a:pt x="11494839" y="0"/>
                  <a:pt x="11538711" y="43873"/>
                  <a:pt x="11538711" y="97992"/>
                </a:cubicBezTo>
                <a:lnTo>
                  <a:pt x="11538711" y="1110592"/>
                </a:lnTo>
                <a:cubicBezTo>
                  <a:pt x="11538711" y="1164712"/>
                  <a:pt x="11494839" y="1208584"/>
                  <a:pt x="11440719" y="1208584"/>
                </a:cubicBezTo>
                <a:lnTo>
                  <a:pt x="97992" y="1208584"/>
                </a:lnTo>
                <a:cubicBezTo>
                  <a:pt x="43873" y="1208584"/>
                  <a:pt x="0" y="1164712"/>
                  <a:pt x="0" y="1110592"/>
                </a:cubicBezTo>
                <a:lnTo>
                  <a:pt x="0" y="97992"/>
                </a:lnTo>
                <a:cubicBezTo>
                  <a:pt x="0" y="43909"/>
                  <a:pt x="43909" y="0"/>
                  <a:pt x="9799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22492" dist="816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67510" y="5487625"/>
            <a:ext cx="183737" cy="163322"/>
          </a:xfrm>
          <a:custGeom>
            <a:avLst/>
            <a:gdLst/>
            <a:ahLst/>
            <a:cxnLst/>
            <a:rect l="l" t="t" r="r" b="b"/>
            <a:pathLst>
              <a:path w="183737" h="163322">
                <a:moveTo>
                  <a:pt x="122492" y="45934"/>
                </a:moveTo>
                <a:cubicBezTo>
                  <a:pt x="122492" y="76940"/>
                  <a:pt x="95059" y="102076"/>
                  <a:pt x="61246" y="102076"/>
                </a:cubicBezTo>
                <a:cubicBezTo>
                  <a:pt x="52729" y="102076"/>
                  <a:pt x="44627" y="100481"/>
                  <a:pt x="37258" y="97611"/>
                </a:cubicBezTo>
                <a:lnTo>
                  <a:pt x="11228" y="111391"/>
                </a:lnTo>
                <a:cubicBezTo>
                  <a:pt x="8262" y="112954"/>
                  <a:pt x="4625" y="112412"/>
                  <a:pt x="2233" y="110051"/>
                </a:cubicBezTo>
                <a:cubicBezTo>
                  <a:pt x="-159" y="107691"/>
                  <a:pt x="-702" y="104022"/>
                  <a:pt x="893" y="101056"/>
                </a:cubicBezTo>
                <a:lnTo>
                  <a:pt x="12249" y="79620"/>
                </a:lnTo>
                <a:cubicBezTo>
                  <a:pt x="4562" y="70241"/>
                  <a:pt x="0" y="58566"/>
                  <a:pt x="0" y="45934"/>
                </a:cubicBezTo>
                <a:cubicBezTo>
                  <a:pt x="0" y="14929"/>
                  <a:pt x="27433" y="-10208"/>
                  <a:pt x="61246" y="-10208"/>
                </a:cubicBezTo>
                <a:cubicBezTo>
                  <a:pt x="95059" y="-10208"/>
                  <a:pt x="122492" y="14929"/>
                  <a:pt x="122492" y="45934"/>
                </a:cubicBezTo>
                <a:close/>
                <a:moveTo>
                  <a:pt x="122492" y="163322"/>
                </a:moveTo>
                <a:cubicBezTo>
                  <a:pt x="92475" y="163322"/>
                  <a:pt x="67498" y="143513"/>
                  <a:pt x="62267" y="117388"/>
                </a:cubicBezTo>
                <a:cubicBezTo>
                  <a:pt x="100545" y="116909"/>
                  <a:pt x="133816" y="89668"/>
                  <a:pt x="137484" y="52729"/>
                </a:cubicBezTo>
                <a:cubicBezTo>
                  <a:pt x="164056" y="58853"/>
                  <a:pt x="183737" y="80896"/>
                  <a:pt x="183737" y="107180"/>
                </a:cubicBezTo>
                <a:cubicBezTo>
                  <a:pt x="183737" y="119812"/>
                  <a:pt x="179176" y="131487"/>
                  <a:pt x="171488" y="140865"/>
                </a:cubicBezTo>
                <a:lnTo>
                  <a:pt x="182844" y="162301"/>
                </a:lnTo>
                <a:cubicBezTo>
                  <a:pt x="184407" y="165268"/>
                  <a:pt x="183865" y="168904"/>
                  <a:pt x="181505" y="171297"/>
                </a:cubicBezTo>
                <a:cubicBezTo>
                  <a:pt x="179144" y="173689"/>
                  <a:pt x="175476" y="174232"/>
                  <a:pt x="172509" y="172637"/>
                </a:cubicBezTo>
                <a:lnTo>
                  <a:pt x="146480" y="158856"/>
                </a:lnTo>
                <a:cubicBezTo>
                  <a:pt x="139111" y="161727"/>
                  <a:pt x="131009" y="163322"/>
                  <a:pt x="122492" y="163322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8" name="Text 45"/>
          <p:cNvSpPr/>
          <p:nvPr/>
        </p:nvSpPr>
        <p:spPr>
          <a:xfrm>
            <a:off x="661455" y="5454960"/>
            <a:ext cx="11154904" cy="228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多轮对话能力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57302" y="5781605"/>
            <a:ext cx="5577452" cy="620624"/>
          </a:xfrm>
          <a:custGeom>
            <a:avLst/>
            <a:gdLst/>
            <a:ahLst/>
            <a:cxnLst/>
            <a:rect l="l" t="t" r="r" b="b"/>
            <a:pathLst>
              <a:path w="5577452" h="620624">
                <a:moveTo>
                  <a:pt x="65327" y="0"/>
                </a:moveTo>
                <a:lnTo>
                  <a:pt x="5512125" y="0"/>
                </a:lnTo>
                <a:cubicBezTo>
                  <a:pt x="5548204" y="0"/>
                  <a:pt x="5577452" y="29248"/>
                  <a:pt x="5577452" y="65327"/>
                </a:cubicBezTo>
                <a:lnTo>
                  <a:pt x="5577452" y="555297"/>
                </a:lnTo>
                <a:cubicBezTo>
                  <a:pt x="5577452" y="591376"/>
                  <a:pt x="5548204" y="620624"/>
                  <a:pt x="5512125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0" name="Text 47"/>
          <p:cNvSpPr/>
          <p:nvPr/>
        </p:nvSpPr>
        <p:spPr>
          <a:xfrm>
            <a:off x="555295" y="5879598"/>
            <a:ext cx="544679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用户追问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555295" y="6108249"/>
            <a:ext cx="544679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"修改后如何验证服务启动成功?"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162669" y="5781605"/>
            <a:ext cx="5577452" cy="620624"/>
          </a:xfrm>
          <a:custGeom>
            <a:avLst/>
            <a:gdLst/>
            <a:ahLst/>
            <a:cxnLst/>
            <a:rect l="l" t="t" r="r" b="b"/>
            <a:pathLst>
              <a:path w="5577452" h="620624">
                <a:moveTo>
                  <a:pt x="65327" y="0"/>
                </a:moveTo>
                <a:lnTo>
                  <a:pt x="5512125" y="0"/>
                </a:lnTo>
                <a:cubicBezTo>
                  <a:pt x="5548204" y="0"/>
                  <a:pt x="5577452" y="29248"/>
                  <a:pt x="5577452" y="65327"/>
                </a:cubicBezTo>
                <a:lnTo>
                  <a:pt x="5577452" y="555297"/>
                </a:lnTo>
                <a:cubicBezTo>
                  <a:pt x="5577452" y="591376"/>
                  <a:pt x="5548204" y="620624"/>
                  <a:pt x="5512125" y="620624"/>
                </a:cubicBezTo>
                <a:lnTo>
                  <a:pt x="65327" y="620624"/>
                </a:lnTo>
                <a:cubicBezTo>
                  <a:pt x="29248" y="620624"/>
                  <a:pt x="0" y="591376"/>
                  <a:pt x="0" y="555297"/>
                </a:cubicBezTo>
                <a:lnTo>
                  <a:pt x="0" y="65327"/>
                </a:lnTo>
                <a:cubicBezTo>
                  <a:pt x="0" y="29248"/>
                  <a:pt x="29248" y="0"/>
                  <a:pt x="653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3" name="Text 50"/>
          <p:cNvSpPr/>
          <p:nvPr/>
        </p:nvSpPr>
        <p:spPr>
          <a:xfrm>
            <a:off x="6260662" y="5879598"/>
            <a:ext cx="544679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系统应答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260662" y="6108249"/>
            <a:ext cx="5446794" cy="1959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自动关联前文上下文,提供验证命令与预期输出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0050" y="381000"/>
            <a:ext cx="2181225" cy="304800"/>
          </a:xfrm>
          <a:custGeom>
            <a:avLst/>
            <a:gdLst/>
            <a:ahLst/>
            <a:cxnLst/>
            <a:rect l="l" t="t" r="r" b="b"/>
            <a:pathLst>
              <a:path w="2181225" h="304800">
                <a:moveTo>
                  <a:pt x="0" y="0"/>
                </a:moveTo>
                <a:lnTo>
                  <a:pt x="2181225" y="0"/>
                </a:lnTo>
                <a:lnTo>
                  <a:pt x="21812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400050" y="381000"/>
            <a:ext cx="38100" cy="304800"/>
          </a:xfrm>
          <a:custGeom>
            <a:avLst/>
            <a:gdLst/>
            <a:ahLst/>
            <a:cxnLst/>
            <a:rect l="l" t="t" r="r" b="b"/>
            <a:pathLst>
              <a:path w="38100" h="304800">
                <a:moveTo>
                  <a:pt x="0" y="0"/>
                </a:moveTo>
                <a:lnTo>
                  <a:pt x="38100" y="0"/>
                </a:lnTo>
                <a:lnTo>
                  <a:pt x="381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71500" y="433388"/>
            <a:ext cx="1935659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FUNCTION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62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核心功能二：精准检索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400050" y="1447800"/>
            <a:ext cx="11410950" cy="2552700"/>
          </a:xfrm>
          <a:custGeom>
            <a:avLst/>
            <a:gdLst/>
            <a:ahLst/>
            <a:cxnLst/>
            <a:rect l="l" t="t" r="r" b="b"/>
            <a:pathLst>
              <a:path w="11410950" h="2552700">
                <a:moveTo>
                  <a:pt x="38100" y="0"/>
                </a:moveTo>
                <a:lnTo>
                  <a:pt x="11296640" y="0"/>
                </a:lnTo>
                <a:cubicBezTo>
                  <a:pt x="11359772" y="0"/>
                  <a:pt x="11410950" y="51178"/>
                  <a:pt x="11410950" y="114310"/>
                </a:cubicBezTo>
                <a:lnTo>
                  <a:pt x="11410950" y="2438390"/>
                </a:lnTo>
                <a:cubicBezTo>
                  <a:pt x="11410950" y="2501522"/>
                  <a:pt x="11359772" y="2552700"/>
                  <a:pt x="11296640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0050" y="14478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Text 7"/>
          <p:cNvSpPr/>
          <p:nvPr/>
        </p:nvSpPr>
        <p:spPr>
          <a:xfrm>
            <a:off x="609600" y="1638300"/>
            <a:ext cx="11106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双层检索机制工作原理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600" y="2057400"/>
            <a:ext cx="5410200" cy="1752600"/>
          </a:xfrm>
          <a:custGeom>
            <a:avLst/>
            <a:gdLst/>
            <a:ahLst/>
            <a:cxnLst/>
            <a:rect l="l" t="t" r="r" b="b"/>
            <a:pathLst>
              <a:path w="5410200" h="1752600">
                <a:moveTo>
                  <a:pt x="76203" y="0"/>
                </a:moveTo>
                <a:lnTo>
                  <a:pt x="5333997" y="0"/>
                </a:lnTo>
                <a:cubicBezTo>
                  <a:pt x="5376083" y="0"/>
                  <a:pt x="5410200" y="34117"/>
                  <a:pt x="5410200" y="76203"/>
                </a:cubicBezTo>
                <a:lnTo>
                  <a:pt x="5410200" y="1676397"/>
                </a:lnTo>
                <a:cubicBezTo>
                  <a:pt x="5410200" y="1718483"/>
                  <a:pt x="5376083" y="1752600"/>
                  <a:pt x="5333997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762000" y="2209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3" name="Text 10"/>
          <p:cNvSpPr/>
          <p:nvPr/>
        </p:nvSpPr>
        <p:spPr>
          <a:xfrm>
            <a:off x="719138" y="2209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57300" y="2266950"/>
            <a:ext cx="135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向量检索(粗筛)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2705100"/>
            <a:ext cx="518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快速筛选10-20条相关文档片段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81050" y="3048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7" name="Text 14"/>
          <p:cNvSpPr/>
          <p:nvPr/>
        </p:nvSpPr>
        <p:spPr>
          <a:xfrm>
            <a:off x="1028700" y="3009900"/>
            <a:ext cx="1200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响应耗时: </a:t>
            </a:r>
            <a:r>
              <a:rPr lang="en-US" sz="12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0.5s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3314700"/>
            <a:ext cx="518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基于语义相似度快速召回候选集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0300" y="2057400"/>
            <a:ext cx="5410200" cy="1752600"/>
          </a:xfrm>
          <a:custGeom>
            <a:avLst/>
            <a:gdLst/>
            <a:ahLst/>
            <a:cxnLst/>
            <a:rect l="l" t="t" r="r" b="b"/>
            <a:pathLst>
              <a:path w="5410200" h="1752600">
                <a:moveTo>
                  <a:pt x="76203" y="0"/>
                </a:moveTo>
                <a:lnTo>
                  <a:pt x="5333997" y="0"/>
                </a:lnTo>
                <a:cubicBezTo>
                  <a:pt x="5376083" y="0"/>
                  <a:pt x="5410200" y="34117"/>
                  <a:pt x="5410200" y="76203"/>
                </a:cubicBezTo>
                <a:lnTo>
                  <a:pt x="5410200" y="1676397"/>
                </a:lnTo>
                <a:cubicBezTo>
                  <a:pt x="5410200" y="1718483"/>
                  <a:pt x="5376083" y="1752600"/>
                  <a:pt x="5333997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6362700" y="2209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1" name="Text 18"/>
          <p:cNvSpPr/>
          <p:nvPr/>
        </p:nvSpPr>
        <p:spPr>
          <a:xfrm>
            <a:off x="6319838" y="22098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858000" y="2266950"/>
            <a:ext cx="2428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DeepSearch深度优化(精筛)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62700" y="2705100"/>
            <a:ext cx="518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多维度优化检索结果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62700" y="3009900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语义关联: 理解因果关系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62700" y="3238500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关键词权重: 提升技术术语权重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62700" y="3467100"/>
            <a:ext cx="517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版本匹配: 优先匹配项目版本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1000" y="4152900"/>
            <a:ext cx="11430000" cy="2247900"/>
          </a:xfrm>
          <a:custGeom>
            <a:avLst/>
            <a:gdLst/>
            <a:ahLst/>
            <a:cxnLst/>
            <a:rect l="l" t="t" r="r" b="b"/>
            <a:pathLst>
              <a:path w="11430000" h="2247900">
                <a:moveTo>
                  <a:pt x="114306" y="0"/>
                </a:moveTo>
                <a:lnTo>
                  <a:pt x="11315694" y="0"/>
                </a:lnTo>
                <a:cubicBezTo>
                  <a:pt x="11378824" y="0"/>
                  <a:pt x="11430000" y="51176"/>
                  <a:pt x="11430000" y="114306"/>
                </a:cubicBezTo>
                <a:lnTo>
                  <a:pt x="11430000" y="2133594"/>
                </a:lnTo>
                <a:cubicBezTo>
                  <a:pt x="11430000" y="2196724"/>
                  <a:pt x="11378824" y="2247900"/>
                  <a:pt x="11315694" y="2247900"/>
                </a:cubicBezTo>
                <a:lnTo>
                  <a:pt x="114306" y="2247900"/>
                </a:lnTo>
                <a:cubicBezTo>
                  <a:pt x="51176" y="2247900"/>
                  <a:pt x="0" y="2196724"/>
                  <a:pt x="0" y="2133594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71500" y="4343400"/>
            <a:ext cx="11163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效果对比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1500" y="4800600"/>
            <a:ext cx="3552825" cy="1409700"/>
          </a:xfrm>
          <a:custGeom>
            <a:avLst/>
            <a:gdLst/>
            <a:ahLst/>
            <a:cxnLst/>
            <a:rect l="l" t="t" r="r" b="b"/>
            <a:pathLst>
              <a:path w="3552825" h="1409700">
                <a:moveTo>
                  <a:pt x="76194" y="0"/>
                </a:moveTo>
                <a:lnTo>
                  <a:pt x="3476631" y="0"/>
                </a:lnTo>
                <a:cubicBezTo>
                  <a:pt x="3518683" y="0"/>
                  <a:pt x="3552825" y="34142"/>
                  <a:pt x="3552825" y="76194"/>
                </a:cubicBezTo>
                <a:lnTo>
                  <a:pt x="3552825" y="1333506"/>
                </a:lnTo>
                <a:cubicBezTo>
                  <a:pt x="3552825" y="1375587"/>
                  <a:pt x="3518712" y="1409700"/>
                  <a:pt x="347663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681038" y="495300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传统关键词检索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09600" y="5295900"/>
            <a:ext cx="34766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65%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5800" y="58293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基础匹配能力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317950" y="4800600"/>
            <a:ext cx="3552825" cy="1409700"/>
          </a:xfrm>
          <a:custGeom>
            <a:avLst/>
            <a:gdLst/>
            <a:ahLst/>
            <a:cxnLst/>
            <a:rect l="l" t="t" r="r" b="b"/>
            <a:pathLst>
              <a:path w="3552825" h="1409700">
                <a:moveTo>
                  <a:pt x="76194" y="0"/>
                </a:moveTo>
                <a:lnTo>
                  <a:pt x="3476631" y="0"/>
                </a:lnTo>
                <a:cubicBezTo>
                  <a:pt x="3518683" y="0"/>
                  <a:pt x="3552825" y="34142"/>
                  <a:pt x="3552825" y="76194"/>
                </a:cubicBezTo>
                <a:lnTo>
                  <a:pt x="3552825" y="1333506"/>
                </a:lnTo>
                <a:cubicBezTo>
                  <a:pt x="3552825" y="1375587"/>
                  <a:pt x="3518712" y="1409700"/>
                  <a:pt x="347663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4427488" y="495300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本系统检索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356050" y="5295900"/>
            <a:ext cx="34766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432250" y="58293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显著提升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064475" y="4800600"/>
            <a:ext cx="3552825" cy="1409700"/>
          </a:xfrm>
          <a:custGeom>
            <a:avLst/>
            <a:gdLst/>
            <a:ahLst/>
            <a:cxnLst/>
            <a:rect l="l" t="t" r="r" b="b"/>
            <a:pathLst>
              <a:path w="3552825" h="1409700">
                <a:moveTo>
                  <a:pt x="76194" y="0"/>
                </a:moveTo>
                <a:lnTo>
                  <a:pt x="3476631" y="0"/>
                </a:lnTo>
                <a:cubicBezTo>
                  <a:pt x="3518683" y="0"/>
                  <a:pt x="3552825" y="34142"/>
                  <a:pt x="3552825" y="76194"/>
                </a:cubicBezTo>
                <a:lnTo>
                  <a:pt x="3552825" y="1333506"/>
                </a:lnTo>
                <a:cubicBezTo>
                  <a:pt x="3552825" y="1375587"/>
                  <a:pt x="3518712" y="1409700"/>
                  <a:pt x="347663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8174013" y="4953000"/>
            <a:ext cx="3333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复杂问题提升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102575" y="5295900"/>
            <a:ext cx="34766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+25%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178775" y="5829300"/>
            <a:ext cx="3324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更显著的优化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7257" y="378340"/>
            <a:ext cx="2165995" cy="302672"/>
          </a:xfrm>
          <a:custGeom>
            <a:avLst/>
            <a:gdLst/>
            <a:ahLst/>
            <a:cxnLst/>
            <a:rect l="l" t="t" r="r" b="b"/>
            <a:pathLst>
              <a:path w="2165995" h="302672">
                <a:moveTo>
                  <a:pt x="0" y="0"/>
                </a:moveTo>
                <a:lnTo>
                  <a:pt x="2165995" y="0"/>
                </a:lnTo>
                <a:lnTo>
                  <a:pt x="2165995" y="302672"/>
                </a:lnTo>
                <a:lnTo>
                  <a:pt x="0" y="302672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97257" y="378340"/>
            <a:ext cx="37834" cy="302672"/>
          </a:xfrm>
          <a:custGeom>
            <a:avLst/>
            <a:gdLst/>
            <a:ahLst/>
            <a:cxnLst/>
            <a:rect l="l" t="t" r="r" b="b"/>
            <a:pathLst>
              <a:path w="37834" h="302672">
                <a:moveTo>
                  <a:pt x="0" y="0"/>
                </a:moveTo>
                <a:lnTo>
                  <a:pt x="37834" y="0"/>
                </a:lnTo>
                <a:lnTo>
                  <a:pt x="37834" y="302672"/>
                </a:lnTo>
                <a:lnTo>
                  <a:pt x="0" y="302672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67510" y="430362"/>
            <a:ext cx="1922144" cy="1986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kern="0" spc="6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FUNCTION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8340" y="756680"/>
            <a:ext cx="11605573" cy="378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核心功能三：工具增强与知识库管理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8340" y="1210687"/>
            <a:ext cx="756680" cy="37834"/>
          </a:xfrm>
          <a:custGeom>
            <a:avLst/>
            <a:gdLst/>
            <a:ahLst/>
            <a:cxnLst/>
            <a:rect l="l" t="t" r="r" b="b"/>
            <a:pathLst>
              <a:path w="756680" h="37834">
                <a:moveTo>
                  <a:pt x="0" y="0"/>
                </a:moveTo>
                <a:lnTo>
                  <a:pt x="756680" y="0"/>
                </a:lnTo>
                <a:lnTo>
                  <a:pt x="756680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97257" y="1399857"/>
            <a:ext cx="5618346" cy="4388742"/>
          </a:xfrm>
          <a:custGeom>
            <a:avLst/>
            <a:gdLst/>
            <a:ahLst/>
            <a:cxnLst/>
            <a:rect l="l" t="t" r="r" b="b"/>
            <a:pathLst>
              <a:path w="5618346" h="4388742">
                <a:moveTo>
                  <a:pt x="37834" y="0"/>
                </a:moveTo>
                <a:lnTo>
                  <a:pt x="5504853" y="0"/>
                </a:lnTo>
                <a:cubicBezTo>
                  <a:pt x="5567534" y="0"/>
                  <a:pt x="5618346" y="50812"/>
                  <a:pt x="5618346" y="113493"/>
                </a:cubicBezTo>
                <a:lnTo>
                  <a:pt x="5618346" y="4275249"/>
                </a:lnTo>
                <a:cubicBezTo>
                  <a:pt x="5618346" y="4337929"/>
                  <a:pt x="5567534" y="4388742"/>
                  <a:pt x="5504853" y="4388742"/>
                </a:cubicBezTo>
                <a:lnTo>
                  <a:pt x="37834" y="4388742"/>
                </a:lnTo>
                <a:cubicBezTo>
                  <a:pt x="16939" y="4388742"/>
                  <a:pt x="0" y="4371803"/>
                  <a:pt x="0" y="435090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1877" dist="945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97257" y="1399857"/>
            <a:ext cx="37834" cy="4388742"/>
          </a:xfrm>
          <a:custGeom>
            <a:avLst/>
            <a:gdLst/>
            <a:ahLst/>
            <a:cxnLst/>
            <a:rect l="l" t="t" r="r" b="b"/>
            <a:pathLst>
              <a:path w="37834" h="4388742">
                <a:moveTo>
                  <a:pt x="37834" y="0"/>
                </a:moveTo>
                <a:lnTo>
                  <a:pt x="37834" y="0"/>
                </a:lnTo>
                <a:lnTo>
                  <a:pt x="37834" y="4388742"/>
                </a:lnTo>
                <a:lnTo>
                  <a:pt x="37834" y="4388742"/>
                </a:lnTo>
                <a:cubicBezTo>
                  <a:pt x="16939" y="4388742"/>
                  <a:pt x="0" y="4371803"/>
                  <a:pt x="0" y="435090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605344" y="1589027"/>
            <a:ext cx="454008" cy="454008"/>
          </a:xfrm>
          <a:custGeom>
            <a:avLst/>
            <a:gdLst/>
            <a:ahLst/>
            <a:cxnLst/>
            <a:rect l="l" t="t" r="r" b="b"/>
            <a:pathLst>
              <a:path w="454008" h="454008">
                <a:moveTo>
                  <a:pt x="227004" y="0"/>
                </a:moveTo>
                <a:lnTo>
                  <a:pt x="227004" y="0"/>
                </a:lnTo>
                <a:cubicBezTo>
                  <a:pt x="352291" y="0"/>
                  <a:pt x="454008" y="101717"/>
                  <a:pt x="454008" y="227004"/>
                </a:cubicBezTo>
                <a:lnTo>
                  <a:pt x="454008" y="227004"/>
                </a:lnTo>
                <a:cubicBezTo>
                  <a:pt x="454008" y="352291"/>
                  <a:pt x="352291" y="454008"/>
                  <a:pt x="227004" y="454008"/>
                </a:cubicBezTo>
                <a:lnTo>
                  <a:pt x="227004" y="454008"/>
                </a:lnTo>
                <a:cubicBezTo>
                  <a:pt x="101717" y="454008"/>
                  <a:pt x="0" y="352291"/>
                  <a:pt x="0" y="227004"/>
                </a:cubicBezTo>
                <a:lnTo>
                  <a:pt x="0" y="227004"/>
                </a:lnTo>
                <a:cubicBezTo>
                  <a:pt x="0" y="101717"/>
                  <a:pt x="101717" y="0"/>
                  <a:pt x="22700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Text 8"/>
          <p:cNvSpPr/>
          <p:nvPr/>
        </p:nvSpPr>
        <p:spPr>
          <a:xfrm>
            <a:off x="558051" y="1589027"/>
            <a:ext cx="548593" cy="454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2853" y="1683612"/>
            <a:ext cx="1229604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工具增强功能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5344" y="2156537"/>
            <a:ext cx="5221089" cy="718846"/>
          </a:xfrm>
          <a:custGeom>
            <a:avLst/>
            <a:gdLst/>
            <a:ahLst/>
            <a:cxnLst/>
            <a:rect l="l" t="t" r="r" b="b"/>
            <a:pathLst>
              <a:path w="5221089" h="718846">
                <a:moveTo>
                  <a:pt x="75666" y="0"/>
                </a:moveTo>
                <a:lnTo>
                  <a:pt x="5145424" y="0"/>
                </a:lnTo>
                <a:cubicBezTo>
                  <a:pt x="5187213" y="0"/>
                  <a:pt x="5221089" y="33877"/>
                  <a:pt x="5221089" y="75666"/>
                </a:cubicBezTo>
                <a:lnTo>
                  <a:pt x="5221089" y="643180"/>
                </a:lnTo>
                <a:cubicBezTo>
                  <a:pt x="5221089" y="684969"/>
                  <a:pt x="5187213" y="718846"/>
                  <a:pt x="5145424" y="718846"/>
                </a:cubicBezTo>
                <a:lnTo>
                  <a:pt x="75666" y="718846"/>
                </a:lnTo>
                <a:cubicBezTo>
                  <a:pt x="33905" y="718846"/>
                  <a:pt x="0" y="684941"/>
                  <a:pt x="0" y="643180"/>
                </a:cubicBezTo>
                <a:lnTo>
                  <a:pt x="0" y="75666"/>
                </a:lnTo>
                <a:cubicBezTo>
                  <a:pt x="0" y="33905"/>
                  <a:pt x="33905" y="0"/>
                  <a:pt x="75666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718846" y="2270039"/>
            <a:ext cx="5069753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演示案例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8846" y="2534877"/>
            <a:ext cx="5069753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用户问: </a:t>
            </a:r>
            <a:r>
              <a:rPr lang="en-US" sz="1190" dirty="0">
                <a:solidFill>
                  <a:srgbClr val="0A2540"/>
                </a:solidFill>
                <a:highlight>
                  <a:srgbClr val="00E5F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"Issue #1234修复了吗?"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5344" y="2951050"/>
            <a:ext cx="5296757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处理流程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5344" y="3253722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13502" y="0"/>
                </a:moveTo>
                <a:lnTo>
                  <a:pt x="113502" y="0"/>
                </a:lnTo>
                <a:cubicBezTo>
                  <a:pt x="176145" y="0"/>
                  <a:pt x="227004" y="50859"/>
                  <a:pt x="227004" y="113502"/>
                </a:cubicBezTo>
                <a:lnTo>
                  <a:pt x="227004" y="113502"/>
                </a:lnTo>
                <a:cubicBezTo>
                  <a:pt x="227004" y="176145"/>
                  <a:pt x="176145" y="227004"/>
                  <a:pt x="113502" y="227004"/>
                </a:cubicBezTo>
                <a:lnTo>
                  <a:pt x="113502" y="227004"/>
                </a:lnTo>
                <a:cubicBezTo>
                  <a:pt x="50859" y="227004"/>
                  <a:pt x="0" y="176145"/>
                  <a:pt x="0" y="113502"/>
                </a:cubicBezTo>
                <a:lnTo>
                  <a:pt x="0" y="113502"/>
                </a:lnTo>
                <a:cubicBezTo>
                  <a:pt x="0" y="50859"/>
                  <a:pt x="50859" y="0"/>
                  <a:pt x="113502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8" name="Text 15"/>
          <p:cNvSpPr/>
          <p:nvPr/>
        </p:nvSpPr>
        <p:spPr>
          <a:xfrm>
            <a:off x="576968" y="3253722"/>
            <a:ext cx="283755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8016" y="3215888"/>
            <a:ext cx="1437691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自动调用GitHub API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5344" y="3556394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13502" y="0"/>
                </a:moveTo>
                <a:lnTo>
                  <a:pt x="113502" y="0"/>
                </a:lnTo>
                <a:cubicBezTo>
                  <a:pt x="176145" y="0"/>
                  <a:pt x="227004" y="50859"/>
                  <a:pt x="227004" y="113502"/>
                </a:cubicBezTo>
                <a:lnTo>
                  <a:pt x="227004" y="113502"/>
                </a:lnTo>
                <a:cubicBezTo>
                  <a:pt x="227004" y="176145"/>
                  <a:pt x="176145" y="227004"/>
                  <a:pt x="113502" y="227004"/>
                </a:cubicBezTo>
                <a:lnTo>
                  <a:pt x="113502" y="227004"/>
                </a:lnTo>
                <a:cubicBezTo>
                  <a:pt x="50859" y="227004"/>
                  <a:pt x="0" y="176145"/>
                  <a:pt x="0" y="113502"/>
                </a:cubicBezTo>
                <a:lnTo>
                  <a:pt x="0" y="113502"/>
                </a:lnTo>
                <a:cubicBezTo>
                  <a:pt x="0" y="50859"/>
                  <a:pt x="50859" y="0"/>
                  <a:pt x="113502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1" name="Text 18"/>
          <p:cNvSpPr/>
          <p:nvPr/>
        </p:nvSpPr>
        <p:spPr>
          <a:xfrm>
            <a:off x="576968" y="3556394"/>
            <a:ext cx="283755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8016" y="3518560"/>
            <a:ext cx="1560652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查询Issue状态: </a:t>
            </a:r>
            <a:r>
              <a:rPr lang="en-US" sz="1190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已关闭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05344" y="3859066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13502" y="0"/>
                </a:moveTo>
                <a:lnTo>
                  <a:pt x="113502" y="0"/>
                </a:lnTo>
                <a:cubicBezTo>
                  <a:pt x="176145" y="0"/>
                  <a:pt x="227004" y="50859"/>
                  <a:pt x="227004" y="113502"/>
                </a:cubicBezTo>
                <a:lnTo>
                  <a:pt x="227004" y="113502"/>
                </a:lnTo>
                <a:cubicBezTo>
                  <a:pt x="227004" y="176145"/>
                  <a:pt x="176145" y="227004"/>
                  <a:pt x="113502" y="227004"/>
                </a:cubicBezTo>
                <a:lnTo>
                  <a:pt x="113502" y="227004"/>
                </a:lnTo>
                <a:cubicBezTo>
                  <a:pt x="50859" y="227004"/>
                  <a:pt x="0" y="176145"/>
                  <a:pt x="0" y="113502"/>
                </a:cubicBezTo>
                <a:lnTo>
                  <a:pt x="0" y="113502"/>
                </a:lnTo>
                <a:cubicBezTo>
                  <a:pt x="0" y="50859"/>
                  <a:pt x="50859" y="0"/>
                  <a:pt x="113502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4" name="Text 21"/>
          <p:cNvSpPr/>
          <p:nvPr/>
        </p:nvSpPr>
        <p:spPr>
          <a:xfrm>
            <a:off x="576968" y="3859066"/>
            <a:ext cx="283755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08016" y="3821232"/>
            <a:ext cx="1494442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提取修复版本: </a:t>
            </a:r>
            <a:r>
              <a:rPr lang="en-US" sz="1190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v2.0.0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5344" y="4161738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13502" y="0"/>
                </a:moveTo>
                <a:lnTo>
                  <a:pt x="113502" y="0"/>
                </a:lnTo>
                <a:cubicBezTo>
                  <a:pt x="176145" y="0"/>
                  <a:pt x="227004" y="50859"/>
                  <a:pt x="227004" y="113502"/>
                </a:cubicBezTo>
                <a:lnTo>
                  <a:pt x="227004" y="113502"/>
                </a:lnTo>
                <a:cubicBezTo>
                  <a:pt x="227004" y="176145"/>
                  <a:pt x="176145" y="227004"/>
                  <a:pt x="113502" y="227004"/>
                </a:cubicBezTo>
                <a:lnTo>
                  <a:pt x="113502" y="227004"/>
                </a:lnTo>
                <a:cubicBezTo>
                  <a:pt x="50859" y="227004"/>
                  <a:pt x="0" y="176145"/>
                  <a:pt x="0" y="113502"/>
                </a:cubicBezTo>
                <a:lnTo>
                  <a:pt x="0" y="113502"/>
                </a:lnTo>
                <a:cubicBezTo>
                  <a:pt x="0" y="50859"/>
                  <a:pt x="50859" y="0"/>
                  <a:pt x="113502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7" name="Text 24"/>
          <p:cNvSpPr/>
          <p:nvPr/>
        </p:nvSpPr>
        <p:spPr>
          <a:xfrm>
            <a:off x="576968" y="4161738"/>
            <a:ext cx="283755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08016" y="4123904"/>
            <a:ext cx="983683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生成完整应答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05344" y="4464410"/>
            <a:ext cx="5221089" cy="1135019"/>
          </a:xfrm>
          <a:custGeom>
            <a:avLst/>
            <a:gdLst/>
            <a:ahLst/>
            <a:cxnLst/>
            <a:rect l="l" t="t" r="r" b="b"/>
            <a:pathLst>
              <a:path w="5221089" h="1135019">
                <a:moveTo>
                  <a:pt x="75672" y="0"/>
                </a:moveTo>
                <a:lnTo>
                  <a:pt x="5145417" y="0"/>
                </a:lnTo>
                <a:cubicBezTo>
                  <a:pt x="5187210" y="0"/>
                  <a:pt x="5221089" y="33879"/>
                  <a:pt x="5221089" y="75672"/>
                </a:cubicBezTo>
                <a:lnTo>
                  <a:pt x="5221089" y="1059348"/>
                </a:lnTo>
                <a:cubicBezTo>
                  <a:pt x="5221089" y="1101140"/>
                  <a:pt x="5187210" y="1135019"/>
                  <a:pt x="5145417" y="1135019"/>
                </a:cubicBezTo>
                <a:lnTo>
                  <a:pt x="75672" y="1135019"/>
                </a:lnTo>
                <a:cubicBezTo>
                  <a:pt x="33907" y="1135019"/>
                  <a:pt x="0" y="1101112"/>
                  <a:pt x="0" y="1059348"/>
                </a:cubicBezTo>
                <a:lnTo>
                  <a:pt x="0" y="75672"/>
                </a:lnTo>
                <a:cubicBezTo>
                  <a:pt x="0" y="33907"/>
                  <a:pt x="33907" y="0"/>
                  <a:pt x="75672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0" name="Text 27"/>
          <p:cNvSpPr/>
          <p:nvPr/>
        </p:nvSpPr>
        <p:spPr>
          <a:xfrm>
            <a:off x="718846" y="4577912"/>
            <a:ext cx="5069753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8846" y="4842749"/>
            <a:ext cx="506029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自动识别工具调用场景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18846" y="5069753"/>
            <a:ext cx="506029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参数解析与API调用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18846" y="5296757"/>
            <a:ext cx="506029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结果提取与答案生成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89994" y="1399857"/>
            <a:ext cx="5618346" cy="4388742"/>
          </a:xfrm>
          <a:custGeom>
            <a:avLst/>
            <a:gdLst/>
            <a:ahLst/>
            <a:cxnLst/>
            <a:rect l="l" t="t" r="r" b="b"/>
            <a:pathLst>
              <a:path w="5618346" h="4388742">
                <a:moveTo>
                  <a:pt x="37834" y="0"/>
                </a:moveTo>
                <a:lnTo>
                  <a:pt x="5504853" y="0"/>
                </a:lnTo>
                <a:cubicBezTo>
                  <a:pt x="5567534" y="0"/>
                  <a:pt x="5618346" y="50812"/>
                  <a:pt x="5618346" y="113493"/>
                </a:cubicBezTo>
                <a:lnTo>
                  <a:pt x="5618346" y="4275249"/>
                </a:lnTo>
                <a:cubicBezTo>
                  <a:pt x="5618346" y="4337929"/>
                  <a:pt x="5567534" y="4388742"/>
                  <a:pt x="5504853" y="4388742"/>
                </a:cubicBezTo>
                <a:lnTo>
                  <a:pt x="37834" y="4388742"/>
                </a:lnTo>
                <a:cubicBezTo>
                  <a:pt x="16939" y="4388742"/>
                  <a:pt x="0" y="4371803"/>
                  <a:pt x="0" y="435090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1877" dist="945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189994" y="1399857"/>
            <a:ext cx="37834" cy="4388742"/>
          </a:xfrm>
          <a:custGeom>
            <a:avLst/>
            <a:gdLst/>
            <a:ahLst/>
            <a:cxnLst/>
            <a:rect l="l" t="t" r="r" b="b"/>
            <a:pathLst>
              <a:path w="37834" h="4388742">
                <a:moveTo>
                  <a:pt x="37834" y="0"/>
                </a:moveTo>
                <a:lnTo>
                  <a:pt x="37834" y="0"/>
                </a:lnTo>
                <a:lnTo>
                  <a:pt x="37834" y="4388742"/>
                </a:lnTo>
                <a:lnTo>
                  <a:pt x="37834" y="4388742"/>
                </a:lnTo>
                <a:cubicBezTo>
                  <a:pt x="16939" y="4388742"/>
                  <a:pt x="0" y="4371803"/>
                  <a:pt x="0" y="4350908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6" name="Shape 33"/>
          <p:cNvSpPr/>
          <p:nvPr/>
        </p:nvSpPr>
        <p:spPr>
          <a:xfrm>
            <a:off x="6398081" y="1589027"/>
            <a:ext cx="454008" cy="454008"/>
          </a:xfrm>
          <a:custGeom>
            <a:avLst/>
            <a:gdLst/>
            <a:ahLst/>
            <a:cxnLst/>
            <a:rect l="l" t="t" r="r" b="b"/>
            <a:pathLst>
              <a:path w="454008" h="454008">
                <a:moveTo>
                  <a:pt x="227004" y="0"/>
                </a:moveTo>
                <a:lnTo>
                  <a:pt x="227004" y="0"/>
                </a:lnTo>
                <a:cubicBezTo>
                  <a:pt x="352291" y="0"/>
                  <a:pt x="454008" y="101717"/>
                  <a:pt x="454008" y="227004"/>
                </a:cubicBezTo>
                <a:lnTo>
                  <a:pt x="454008" y="227004"/>
                </a:lnTo>
                <a:cubicBezTo>
                  <a:pt x="454008" y="352291"/>
                  <a:pt x="352291" y="454008"/>
                  <a:pt x="227004" y="454008"/>
                </a:cubicBezTo>
                <a:lnTo>
                  <a:pt x="227004" y="454008"/>
                </a:lnTo>
                <a:cubicBezTo>
                  <a:pt x="101717" y="454008"/>
                  <a:pt x="0" y="352291"/>
                  <a:pt x="0" y="227004"/>
                </a:cubicBezTo>
                <a:lnTo>
                  <a:pt x="0" y="227004"/>
                </a:lnTo>
                <a:cubicBezTo>
                  <a:pt x="0" y="101717"/>
                  <a:pt x="101717" y="0"/>
                  <a:pt x="22700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7" name="Text 34"/>
          <p:cNvSpPr/>
          <p:nvPr/>
        </p:nvSpPr>
        <p:spPr>
          <a:xfrm>
            <a:off x="6350788" y="1589027"/>
            <a:ext cx="548593" cy="454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65590" y="1683612"/>
            <a:ext cx="1418774" cy="2648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知识库管理功能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98081" y="2200652"/>
            <a:ext cx="5221089" cy="983683"/>
          </a:xfrm>
          <a:custGeom>
            <a:avLst/>
            <a:gdLst/>
            <a:ahLst/>
            <a:cxnLst/>
            <a:rect l="l" t="t" r="r" b="b"/>
            <a:pathLst>
              <a:path w="5221089" h="983683">
                <a:moveTo>
                  <a:pt x="75665" y="0"/>
                </a:moveTo>
                <a:lnTo>
                  <a:pt x="5145424" y="0"/>
                </a:lnTo>
                <a:cubicBezTo>
                  <a:pt x="5187213" y="0"/>
                  <a:pt x="5221089" y="33876"/>
                  <a:pt x="5221089" y="75665"/>
                </a:cubicBezTo>
                <a:lnTo>
                  <a:pt x="5221089" y="908019"/>
                </a:lnTo>
                <a:cubicBezTo>
                  <a:pt x="5221089" y="949807"/>
                  <a:pt x="5187213" y="983683"/>
                  <a:pt x="5145424" y="983683"/>
                </a:cubicBezTo>
                <a:lnTo>
                  <a:pt x="75665" y="983683"/>
                </a:lnTo>
                <a:cubicBezTo>
                  <a:pt x="33876" y="983683"/>
                  <a:pt x="0" y="949807"/>
                  <a:pt x="0" y="908019"/>
                </a:cubicBezTo>
                <a:lnTo>
                  <a:pt x="0" y="75665"/>
                </a:lnTo>
                <a:cubicBezTo>
                  <a:pt x="0" y="33904"/>
                  <a:pt x="33904" y="0"/>
                  <a:pt x="75665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40" name="Shape 37"/>
          <p:cNvSpPr/>
          <p:nvPr/>
        </p:nvSpPr>
        <p:spPr>
          <a:xfrm>
            <a:off x="6521041" y="2351988"/>
            <a:ext cx="170253" cy="151336"/>
          </a:xfrm>
          <a:custGeom>
            <a:avLst/>
            <a:gdLst/>
            <a:ahLst/>
            <a:cxnLst/>
            <a:rect l="l" t="t" r="r" b="b"/>
            <a:pathLst>
              <a:path w="170253" h="151336">
                <a:moveTo>
                  <a:pt x="16552" y="66682"/>
                </a:moveTo>
                <a:lnTo>
                  <a:pt x="9577" y="87550"/>
                </a:lnTo>
                <a:lnTo>
                  <a:pt x="9577" y="28375"/>
                </a:lnTo>
                <a:cubicBezTo>
                  <a:pt x="9577" y="17942"/>
                  <a:pt x="18060" y="9458"/>
                  <a:pt x="28494" y="9458"/>
                </a:cubicBezTo>
                <a:lnTo>
                  <a:pt x="69490" y="9458"/>
                </a:lnTo>
                <a:cubicBezTo>
                  <a:pt x="73569" y="9458"/>
                  <a:pt x="77560" y="10789"/>
                  <a:pt x="80841" y="13242"/>
                </a:cubicBezTo>
                <a:lnTo>
                  <a:pt x="92191" y="21755"/>
                </a:lnTo>
                <a:cubicBezTo>
                  <a:pt x="93816" y="22996"/>
                  <a:pt x="95826" y="23646"/>
                  <a:pt x="97866" y="23646"/>
                </a:cubicBezTo>
                <a:lnTo>
                  <a:pt x="132537" y="23646"/>
                </a:lnTo>
                <a:cubicBezTo>
                  <a:pt x="142971" y="23646"/>
                  <a:pt x="151454" y="32129"/>
                  <a:pt x="151454" y="42563"/>
                </a:cubicBezTo>
                <a:lnTo>
                  <a:pt x="151454" y="47292"/>
                </a:lnTo>
                <a:lnTo>
                  <a:pt x="43450" y="47292"/>
                </a:lnTo>
                <a:cubicBezTo>
                  <a:pt x="31243" y="47292"/>
                  <a:pt x="20395" y="55096"/>
                  <a:pt x="16523" y="66682"/>
                </a:cubicBezTo>
                <a:close/>
                <a:moveTo>
                  <a:pt x="141227" y="132419"/>
                </a:moveTo>
                <a:lnTo>
                  <a:pt x="29262" y="132419"/>
                </a:lnTo>
                <a:cubicBezTo>
                  <a:pt x="19567" y="132419"/>
                  <a:pt x="12739" y="122931"/>
                  <a:pt x="15813" y="113738"/>
                </a:cubicBezTo>
                <a:lnTo>
                  <a:pt x="30001" y="71175"/>
                </a:lnTo>
                <a:cubicBezTo>
                  <a:pt x="31922" y="65382"/>
                  <a:pt x="37361" y="61480"/>
                  <a:pt x="43450" y="61480"/>
                </a:cubicBezTo>
                <a:lnTo>
                  <a:pt x="155415" y="61480"/>
                </a:lnTo>
                <a:cubicBezTo>
                  <a:pt x="165110" y="61480"/>
                  <a:pt x="171938" y="70968"/>
                  <a:pt x="168864" y="80161"/>
                </a:cubicBezTo>
                <a:lnTo>
                  <a:pt x="154676" y="122724"/>
                </a:lnTo>
                <a:cubicBezTo>
                  <a:pt x="152755" y="128517"/>
                  <a:pt x="147316" y="132419"/>
                  <a:pt x="141227" y="132419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1" name="Text 38"/>
          <p:cNvSpPr/>
          <p:nvPr/>
        </p:nvSpPr>
        <p:spPr>
          <a:xfrm>
            <a:off x="6776420" y="2314154"/>
            <a:ext cx="832348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多项目隔离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511583" y="2578992"/>
            <a:ext cx="506029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支持创建多个独立知识库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511583" y="2805996"/>
            <a:ext cx="633719" cy="264838"/>
          </a:xfrm>
          <a:custGeom>
            <a:avLst/>
            <a:gdLst/>
            <a:ahLst/>
            <a:cxnLst/>
            <a:rect l="l" t="t" r="r" b="b"/>
            <a:pathLst>
              <a:path w="633719" h="264838">
                <a:moveTo>
                  <a:pt x="37835" y="0"/>
                </a:moveTo>
                <a:lnTo>
                  <a:pt x="595884" y="0"/>
                </a:lnTo>
                <a:cubicBezTo>
                  <a:pt x="616780" y="0"/>
                  <a:pt x="633719" y="16939"/>
                  <a:pt x="633719" y="37835"/>
                </a:cubicBezTo>
                <a:lnTo>
                  <a:pt x="633719" y="227003"/>
                </a:lnTo>
                <a:cubicBezTo>
                  <a:pt x="633719" y="247899"/>
                  <a:pt x="616780" y="264838"/>
                  <a:pt x="595884" y="264838"/>
                </a:cubicBezTo>
                <a:lnTo>
                  <a:pt x="37835" y="264838"/>
                </a:lnTo>
                <a:cubicBezTo>
                  <a:pt x="16939" y="264838"/>
                  <a:pt x="0" y="247899"/>
                  <a:pt x="0" y="227003"/>
                </a:cubicBezTo>
                <a:lnTo>
                  <a:pt x="0" y="37835"/>
                </a:lnTo>
                <a:cubicBezTo>
                  <a:pt x="0" y="16953"/>
                  <a:pt x="16953" y="0"/>
                  <a:pt x="37835" y="0"/>
                </a:cubicBezTo>
                <a:close/>
              </a:path>
            </a:pathLst>
          </a:custGeom>
          <a:solidFill>
            <a:srgbClr val="00E5FF">
              <a:alpha val="20000"/>
            </a:srgbClr>
          </a:solidFill>
        </p:spPr>
      </p:sp>
      <p:sp>
        <p:nvSpPr>
          <p:cNvPr id="44" name="Text 41"/>
          <p:cNvSpPr/>
          <p:nvPr/>
        </p:nvSpPr>
        <p:spPr>
          <a:xfrm>
            <a:off x="6511583" y="2805996"/>
            <a:ext cx="699929" cy="264838"/>
          </a:xfrm>
          <a:prstGeom prst="rect">
            <a:avLst/>
          </a:prstGeom>
          <a:noFill/>
        </p:spPr>
        <p:txBody>
          <a:bodyPr wrap="square" lIns="75668" tIns="37834" rIns="75668" bIns="37834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A项目库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223039" y="2805996"/>
            <a:ext cx="633719" cy="264838"/>
          </a:xfrm>
          <a:custGeom>
            <a:avLst/>
            <a:gdLst/>
            <a:ahLst/>
            <a:cxnLst/>
            <a:rect l="l" t="t" r="r" b="b"/>
            <a:pathLst>
              <a:path w="633719" h="264838">
                <a:moveTo>
                  <a:pt x="37835" y="0"/>
                </a:moveTo>
                <a:lnTo>
                  <a:pt x="595884" y="0"/>
                </a:lnTo>
                <a:cubicBezTo>
                  <a:pt x="616780" y="0"/>
                  <a:pt x="633719" y="16939"/>
                  <a:pt x="633719" y="37835"/>
                </a:cubicBezTo>
                <a:lnTo>
                  <a:pt x="633719" y="227003"/>
                </a:lnTo>
                <a:cubicBezTo>
                  <a:pt x="633719" y="247899"/>
                  <a:pt x="616780" y="264838"/>
                  <a:pt x="595884" y="264838"/>
                </a:cubicBezTo>
                <a:lnTo>
                  <a:pt x="37835" y="264838"/>
                </a:lnTo>
                <a:cubicBezTo>
                  <a:pt x="16939" y="264838"/>
                  <a:pt x="0" y="247899"/>
                  <a:pt x="0" y="227003"/>
                </a:cubicBezTo>
                <a:lnTo>
                  <a:pt x="0" y="37835"/>
                </a:lnTo>
                <a:cubicBezTo>
                  <a:pt x="0" y="16953"/>
                  <a:pt x="16953" y="0"/>
                  <a:pt x="37835" y="0"/>
                </a:cubicBezTo>
                <a:close/>
              </a:path>
            </a:pathLst>
          </a:custGeom>
          <a:solidFill>
            <a:srgbClr val="5A7184">
              <a:alpha val="20000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7223039" y="2805996"/>
            <a:ext cx="699929" cy="264838"/>
          </a:xfrm>
          <a:prstGeom prst="rect">
            <a:avLst/>
          </a:prstGeom>
          <a:noFill/>
        </p:spPr>
        <p:txBody>
          <a:bodyPr wrap="square" lIns="75668" tIns="37834" rIns="75668" bIns="37834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B项目库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98081" y="3348233"/>
            <a:ext cx="5221089" cy="1135019"/>
          </a:xfrm>
          <a:custGeom>
            <a:avLst/>
            <a:gdLst/>
            <a:ahLst/>
            <a:cxnLst/>
            <a:rect l="l" t="t" r="r" b="b"/>
            <a:pathLst>
              <a:path w="5221089" h="1135019">
                <a:moveTo>
                  <a:pt x="75672" y="0"/>
                </a:moveTo>
                <a:lnTo>
                  <a:pt x="5145417" y="0"/>
                </a:lnTo>
                <a:cubicBezTo>
                  <a:pt x="5187210" y="0"/>
                  <a:pt x="5221089" y="33879"/>
                  <a:pt x="5221089" y="75672"/>
                </a:cubicBezTo>
                <a:lnTo>
                  <a:pt x="5221089" y="1059348"/>
                </a:lnTo>
                <a:cubicBezTo>
                  <a:pt x="5221089" y="1101140"/>
                  <a:pt x="5187210" y="1135019"/>
                  <a:pt x="5145417" y="1135019"/>
                </a:cubicBezTo>
                <a:lnTo>
                  <a:pt x="75672" y="1135019"/>
                </a:lnTo>
                <a:cubicBezTo>
                  <a:pt x="33907" y="1135019"/>
                  <a:pt x="0" y="1101112"/>
                  <a:pt x="0" y="1059348"/>
                </a:cubicBezTo>
                <a:lnTo>
                  <a:pt x="0" y="75672"/>
                </a:lnTo>
                <a:cubicBezTo>
                  <a:pt x="0" y="33907"/>
                  <a:pt x="33907" y="0"/>
                  <a:pt x="75672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48" name="Shape 45"/>
          <p:cNvSpPr/>
          <p:nvPr/>
        </p:nvSpPr>
        <p:spPr>
          <a:xfrm>
            <a:off x="6530500" y="3499569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141907" y="56751"/>
                </a:moveTo>
                <a:lnTo>
                  <a:pt x="144242" y="56751"/>
                </a:lnTo>
                <a:cubicBezTo>
                  <a:pt x="148173" y="56751"/>
                  <a:pt x="151336" y="53588"/>
                  <a:pt x="151336" y="49657"/>
                </a:cubicBezTo>
                <a:lnTo>
                  <a:pt x="151336" y="7094"/>
                </a:lnTo>
                <a:cubicBezTo>
                  <a:pt x="151336" y="4227"/>
                  <a:pt x="149622" y="1626"/>
                  <a:pt x="146961" y="532"/>
                </a:cubicBezTo>
                <a:cubicBezTo>
                  <a:pt x="144301" y="-562"/>
                  <a:pt x="141257" y="59"/>
                  <a:pt x="139217" y="2069"/>
                </a:cubicBezTo>
                <a:lnTo>
                  <a:pt x="123936" y="17380"/>
                </a:lnTo>
                <a:cubicBezTo>
                  <a:pt x="110842" y="6532"/>
                  <a:pt x="93994" y="0"/>
                  <a:pt x="75668" y="0"/>
                </a:cubicBezTo>
                <a:cubicBezTo>
                  <a:pt x="37538" y="0"/>
                  <a:pt x="6000" y="28198"/>
                  <a:pt x="769" y="64879"/>
                </a:cubicBezTo>
                <a:cubicBezTo>
                  <a:pt x="30" y="70052"/>
                  <a:pt x="3606" y="74840"/>
                  <a:pt x="8779" y="75579"/>
                </a:cubicBezTo>
                <a:cubicBezTo>
                  <a:pt x="13951" y="76318"/>
                  <a:pt x="18740" y="72712"/>
                  <a:pt x="19479" y="67569"/>
                </a:cubicBezTo>
                <a:cubicBezTo>
                  <a:pt x="23410" y="40051"/>
                  <a:pt x="47086" y="18917"/>
                  <a:pt x="75668" y="18917"/>
                </a:cubicBezTo>
                <a:cubicBezTo>
                  <a:pt x="88792" y="18917"/>
                  <a:pt x="100851" y="23351"/>
                  <a:pt x="110457" y="30829"/>
                </a:cubicBezTo>
                <a:lnTo>
                  <a:pt x="96654" y="44632"/>
                </a:lnTo>
                <a:cubicBezTo>
                  <a:pt x="94615" y="46672"/>
                  <a:pt x="94023" y="49716"/>
                  <a:pt x="95117" y="52376"/>
                </a:cubicBezTo>
                <a:cubicBezTo>
                  <a:pt x="96211" y="55037"/>
                  <a:pt x="98812" y="56751"/>
                  <a:pt x="101679" y="56751"/>
                </a:cubicBezTo>
                <a:lnTo>
                  <a:pt x="141907" y="56751"/>
                </a:lnTo>
                <a:close/>
                <a:moveTo>
                  <a:pt x="150597" y="86457"/>
                </a:moveTo>
                <a:cubicBezTo>
                  <a:pt x="151336" y="81284"/>
                  <a:pt x="147730" y="76496"/>
                  <a:pt x="142587" y="75757"/>
                </a:cubicBezTo>
                <a:cubicBezTo>
                  <a:pt x="137444" y="75018"/>
                  <a:pt x="132626" y="78624"/>
                  <a:pt x="131887" y="83767"/>
                </a:cubicBezTo>
                <a:cubicBezTo>
                  <a:pt x="127956" y="111256"/>
                  <a:pt x="104280" y="132389"/>
                  <a:pt x="75698" y="132389"/>
                </a:cubicBezTo>
                <a:cubicBezTo>
                  <a:pt x="62574" y="132389"/>
                  <a:pt x="50514" y="127956"/>
                  <a:pt x="40908" y="120478"/>
                </a:cubicBezTo>
                <a:lnTo>
                  <a:pt x="54682" y="106704"/>
                </a:lnTo>
                <a:cubicBezTo>
                  <a:pt x="56721" y="104664"/>
                  <a:pt x="57313" y="101620"/>
                  <a:pt x="56219" y="98960"/>
                </a:cubicBezTo>
                <a:cubicBezTo>
                  <a:pt x="55125" y="96299"/>
                  <a:pt x="52524" y="94585"/>
                  <a:pt x="49657" y="94585"/>
                </a:cubicBezTo>
                <a:lnTo>
                  <a:pt x="7094" y="94585"/>
                </a:lnTo>
                <a:cubicBezTo>
                  <a:pt x="3163" y="94585"/>
                  <a:pt x="0" y="97748"/>
                  <a:pt x="0" y="101679"/>
                </a:cubicBezTo>
                <a:lnTo>
                  <a:pt x="0" y="144242"/>
                </a:lnTo>
                <a:cubicBezTo>
                  <a:pt x="0" y="147109"/>
                  <a:pt x="1714" y="149710"/>
                  <a:pt x="4375" y="150804"/>
                </a:cubicBezTo>
                <a:cubicBezTo>
                  <a:pt x="7035" y="151898"/>
                  <a:pt x="10079" y="151277"/>
                  <a:pt x="12119" y="149267"/>
                </a:cubicBezTo>
                <a:lnTo>
                  <a:pt x="27430" y="133956"/>
                </a:lnTo>
                <a:cubicBezTo>
                  <a:pt x="40494" y="144804"/>
                  <a:pt x="57342" y="151336"/>
                  <a:pt x="75668" y="151336"/>
                </a:cubicBezTo>
                <a:cubicBezTo>
                  <a:pt x="113798" y="151336"/>
                  <a:pt x="145336" y="123138"/>
                  <a:pt x="150567" y="86457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49" name="Text 46"/>
          <p:cNvSpPr/>
          <p:nvPr/>
        </p:nvSpPr>
        <p:spPr>
          <a:xfrm>
            <a:off x="6776420" y="3461735"/>
            <a:ext cx="832348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自动化更新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511583" y="3726573"/>
            <a:ext cx="506029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定时同步新增文档/Issue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511583" y="3953577"/>
            <a:ext cx="506029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自动提取"问题+解决方案"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511583" y="4180581"/>
            <a:ext cx="5060295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知识库版本自动更新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98081" y="4647151"/>
            <a:ext cx="5221089" cy="908016"/>
          </a:xfrm>
          <a:custGeom>
            <a:avLst/>
            <a:gdLst/>
            <a:ahLst/>
            <a:cxnLst/>
            <a:rect l="l" t="t" r="r" b="b"/>
            <a:pathLst>
              <a:path w="5221089" h="908016">
                <a:moveTo>
                  <a:pt x="75665" y="0"/>
                </a:moveTo>
                <a:lnTo>
                  <a:pt x="5145424" y="0"/>
                </a:lnTo>
                <a:cubicBezTo>
                  <a:pt x="5187213" y="0"/>
                  <a:pt x="5221089" y="33876"/>
                  <a:pt x="5221089" y="75665"/>
                </a:cubicBezTo>
                <a:lnTo>
                  <a:pt x="5221089" y="832351"/>
                </a:lnTo>
                <a:cubicBezTo>
                  <a:pt x="5221089" y="874139"/>
                  <a:pt x="5187213" y="908016"/>
                  <a:pt x="5145424" y="908016"/>
                </a:cubicBezTo>
                <a:lnTo>
                  <a:pt x="75665" y="908016"/>
                </a:lnTo>
                <a:cubicBezTo>
                  <a:pt x="33876" y="908016"/>
                  <a:pt x="0" y="874139"/>
                  <a:pt x="0" y="832351"/>
                </a:cubicBezTo>
                <a:lnTo>
                  <a:pt x="0" y="75665"/>
                </a:lnTo>
                <a:cubicBezTo>
                  <a:pt x="0" y="33904"/>
                  <a:pt x="33904" y="0"/>
                  <a:pt x="75665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54" name="Shape 51"/>
          <p:cNvSpPr/>
          <p:nvPr/>
        </p:nvSpPr>
        <p:spPr>
          <a:xfrm>
            <a:off x="6530500" y="4798487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75668" y="0"/>
                </a:moveTo>
                <a:cubicBezTo>
                  <a:pt x="77028" y="0"/>
                  <a:pt x="78387" y="296"/>
                  <a:pt x="79629" y="857"/>
                </a:cubicBezTo>
                <a:lnTo>
                  <a:pt x="135316" y="24474"/>
                </a:lnTo>
                <a:cubicBezTo>
                  <a:pt x="141818" y="27223"/>
                  <a:pt x="146666" y="33637"/>
                  <a:pt x="146636" y="41381"/>
                </a:cubicBezTo>
                <a:cubicBezTo>
                  <a:pt x="146488" y="70702"/>
                  <a:pt x="134429" y="124350"/>
                  <a:pt x="83501" y="148735"/>
                </a:cubicBezTo>
                <a:cubicBezTo>
                  <a:pt x="78565" y="151099"/>
                  <a:pt x="72830" y="151099"/>
                  <a:pt x="67894" y="148735"/>
                </a:cubicBezTo>
                <a:cubicBezTo>
                  <a:pt x="16937" y="124350"/>
                  <a:pt x="4907" y="70702"/>
                  <a:pt x="4759" y="41381"/>
                </a:cubicBezTo>
                <a:cubicBezTo>
                  <a:pt x="4729" y="33637"/>
                  <a:pt x="9577" y="27223"/>
                  <a:pt x="16079" y="24474"/>
                </a:cubicBezTo>
                <a:lnTo>
                  <a:pt x="71737" y="857"/>
                </a:lnTo>
                <a:cubicBezTo>
                  <a:pt x="72978" y="296"/>
                  <a:pt x="74308" y="0"/>
                  <a:pt x="75668" y="0"/>
                </a:cubicBezTo>
                <a:close/>
                <a:moveTo>
                  <a:pt x="75668" y="19745"/>
                </a:moveTo>
                <a:lnTo>
                  <a:pt x="75668" y="131503"/>
                </a:lnTo>
                <a:cubicBezTo>
                  <a:pt x="116458" y="111758"/>
                  <a:pt x="127424" y="68012"/>
                  <a:pt x="127690" y="41824"/>
                </a:cubicBezTo>
                <a:lnTo>
                  <a:pt x="75668" y="19774"/>
                </a:lnTo>
                <a:lnTo>
                  <a:pt x="75668" y="19774"/>
                </a:lnTo>
                <a:close/>
              </a:path>
            </a:pathLst>
          </a:custGeom>
          <a:solidFill>
            <a:srgbClr val="5A7184"/>
          </a:solidFill>
        </p:spPr>
      </p:sp>
      <p:sp>
        <p:nvSpPr>
          <p:cNvPr id="55" name="Text 52"/>
          <p:cNvSpPr/>
          <p:nvPr/>
        </p:nvSpPr>
        <p:spPr>
          <a:xfrm>
            <a:off x="6776420" y="4760653"/>
            <a:ext cx="681012" cy="2270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权限分级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511583" y="5082241"/>
            <a:ext cx="75668" cy="75668"/>
          </a:xfrm>
          <a:custGeom>
            <a:avLst/>
            <a:gdLst/>
            <a:ahLst/>
            <a:cxnLst/>
            <a:rect l="l" t="t" r="r" b="b"/>
            <a:pathLst>
              <a:path w="75668" h="75668">
                <a:moveTo>
                  <a:pt x="37834" y="0"/>
                </a:moveTo>
                <a:lnTo>
                  <a:pt x="37834" y="0"/>
                </a:lnTo>
                <a:cubicBezTo>
                  <a:pt x="58715" y="0"/>
                  <a:pt x="75668" y="16953"/>
                  <a:pt x="75668" y="37834"/>
                </a:cubicBezTo>
                <a:lnTo>
                  <a:pt x="75668" y="37834"/>
                </a:lnTo>
                <a:cubicBezTo>
                  <a:pt x="75668" y="58715"/>
                  <a:pt x="58715" y="75668"/>
                  <a:pt x="37834" y="75668"/>
                </a:cubicBezTo>
                <a:lnTo>
                  <a:pt x="37834" y="75668"/>
                </a:lnTo>
                <a:cubicBezTo>
                  <a:pt x="16953" y="75668"/>
                  <a:pt x="0" y="58715"/>
                  <a:pt x="0" y="3783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7" name="Text 54"/>
          <p:cNvSpPr/>
          <p:nvPr/>
        </p:nvSpPr>
        <p:spPr>
          <a:xfrm>
            <a:off x="6662919" y="5025490"/>
            <a:ext cx="1324189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公开知识库: 全员可查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511583" y="5309245"/>
            <a:ext cx="75668" cy="75668"/>
          </a:xfrm>
          <a:custGeom>
            <a:avLst/>
            <a:gdLst/>
            <a:ahLst/>
            <a:cxnLst/>
            <a:rect l="l" t="t" r="r" b="b"/>
            <a:pathLst>
              <a:path w="75668" h="75668">
                <a:moveTo>
                  <a:pt x="37834" y="0"/>
                </a:moveTo>
                <a:lnTo>
                  <a:pt x="37834" y="0"/>
                </a:lnTo>
                <a:cubicBezTo>
                  <a:pt x="58715" y="0"/>
                  <a:pt x="75668" y="16953"/>
                  <a:pt x="75668" y="37834"/>
                </a:cubicBezTo>
                <a:lnTo>
                  <a:pt x="75668" y="37834"/>
                </a:lnTo>
                <a:cubicBezTo>
                  <a:pt x="75668" y="58715"/>
                  <a:pt x="58715" y="75668"/>
                  <a:pt x="37834" y="75668"/>
                </a:cubicBezTo>
                <a:lnTo>
                  <a:pt x="37834" y="75668"/>
                </a:lnTo>
                <a:cubicBezTo>
                  <a:pt x="16953" y="75668"/>
                  <a:pt x="0" y="58715"/>
                  <a:pt x="0" y="37834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59" name="Text 56"/>
          <p:cNvSpPr/>
          <p:nvPr/>
        </p:nvSpPr>
        <p:spPr>
          <a:xfrm>
            <a:off x="6662919" y="5252494"/>
            <a:ext cx="1589027" cy="189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内部知识库: 核心成员可查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378340" y="5902101"/>
            <a:ext cx="11435320" cy="576968"/>
          </a:xfrm>
          <a:custGeom>
            <a:avLst/>
            <a:gdLst/>
            <a:ahLst/>
            <a:cxnLst/>
            <a:rect l="l" t="t" r="r" b="b"/>
            <a:pathLst>
              <a:path w="11435320" h="576968">
                <a:moveTo>
                  <a:pt x="113501" y="0"/>
                </a:moveTo>
                <a:lnTo>
                  <a:pt x="11321819" y="0"/>
                </a:lnTo>
                <a:cubicBezTo>
                  <a:pt x="11384504" y="0"/>
                  <a:pt x="11435320" y="50816"/>
                  <a:pt x="11435320" y="113501"/>
                </a:cubicBezTo>
                <a:lnTo>
                  <a:pt x="11435320" y="463467"/>
                </a:lnTo>
                <a:cubicBezTo>
                  <a:pt x="11435320" y="526152"/>
                  <a:pt x="11384504" y="576968"/>
                  <a:pt x="11321819" y="576968"/>
                </a:cubicBezTo>
                <a:lnTo>
                  <a:pt x="113501" y="576968"/>
                </a:lnTo>
                <a:cubicBezTo>
                  <a:pt x="50816" y="576968"/>
                  <a:pt x="0" y="526152"/>
                  <a:pt x="0" y="463467"/>
                </a:cubicBezTo>
                <a:lnTo>
                  <a:pt x="0" y="113501"/>
                </a:lnTo>
                <a:cubicBezTo>
                  <a:pt x="0" y="50816"/>
                  <a:pt x="50816" y="0"/>
                  <a:pt x="11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41877" dist="945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58051" y="6078265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13502" y="227004"/>
                </a:moveTo>
                <a:cubicBezTo>
                  <a:pt x="176145" y="227004"/>
                  <a:pt x="227004" y="176145"/>
                  <a:pt x="227004" y="113502"/>
                </a:cubicBezTo>
                <a:cubicBezTo>
                  <a:pt x="227004" y="50859"/>
                  <a:pt x="176145" y="0"/>
                  <a:pt x="113502" y="0"/>
                </a:cubicBezTo>
                <a:cubicBezTo>
                  <a:pt x="50859" y="0"/>
                  <a:pt x="0" y="50859"/>
                  <a:pt x="0" y="113502"/>
                </a:cubicBezTo>
                <a:cubicBezTo>
                  <a:pt x="0" y="176145"/>
                  <a:pt x="50859" y="227004"/>
                  <a:pt x="113502" y="227004"/>
                </a:cubicBezTo>
                <a:close/>
                <a:moveTo>
                  <a:pt x="150922" y="94304"/>
                </a:moveTo>
                <a:lnTo>
                  <a:pt x="115453" y="151055"/>
                </a:lnTo>
                <a:cubicBezTo>
                  <a:pt x="113591" y="154026"/>
                  <a:pt x="110398" y="155888"/>
                  <a:pt x="106896" y="156065"/>
                </a:cubicBezTo>
                <a:cubicBezTo>
                  <a:pt x="103393" y="156243"/>
                  <a:pt x="100024" y="154646"/>
                  <a:pt x="97940" y="151809"/>
                </a:cubicBezTo>
                <a:lnTo>
                  <a:pt x="76658" y="123433"/>
                </a:lnTo>
                <a:cubicBezTo>
                  <a:pt x="73111" y="118734"/>
                  <a:pt x="74087" y="112083"/>
                  <a:pt x="78786" y="108536"/>
                </a:cubicBezTo>
                <a:cubicBezTo>
                  <a:pt x="83486" y="104989"/>
                  <a:pt x="90137" y="105965"/>
                  <a:pt x="93683" y="110664"/>
                </a:cubicBezTo>
                <a:lnTo>
                  <a:pt x="105654" y="126626"/>
                </a:lnTo>
                <a:lnTo>
                  <a:pt x="132877" y="83043"/>
                </a:lnTo>
                <a:cubicBezTo>
                  <a:pt x="135981" y="78077"/>
                  <a:pt x="142542" y="76525"/>
                  <a:pt x="147553" y="79673"/>
                </a:cubicBezTo>
                <a:cubicBezTo>
                  <a:pt x="152563" y="82821"/>
                  <a:pt x="154070" y="89338"/>
                  <a:pt x="150922" y="9434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62" name="Text 59"/>
          <p:cNvSpPr/>
          <p:nvPr/>
        </p:nvSpPr>
        <p:spPr>
          <a:xfrm>
            <a:off x="926933" y="6053437"/>
            <a:ext cx="5921018" cy="2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工具增强与知识库管理相结合,实现</a:t>
            </a:r>
            <a:r>
              <a:rPr lang="en-US" sz="134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自动化、智能化、精细化</a:t>
            </a:r>
            <a:r>
              <a:rPr lang="en-US" sz="134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的知识管理全流程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722" y="376878"/>
            <a:ext cx="2157626" cy="301502"/>
          </a:xfrm>
          <a:custGeom>
            <a:avLst/>
            <a:gdLst/>
            <a:ahLst/>
            <a:cxnLst/>
            <a:rect l="l" t="t" r="r" b="b"/>
            <a:pathLst>
              <a:path w="2157626" h="301502">
                <a:moveTo>
                  <a:pt x="0" y="0"/>
                </a:moveTo>
                <a:lnTo>
                  <a:pt x="2157626" y="0"/>
                </a:lnTo>
                <a:lnTo>
                  <a:pt x="2157626" y="301502"/>
                </a:lnTo>
                <a:lnTo>
                  <a:pt x="0" y="301502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95722" y="376878"/>
            <a:ext cx="37688" cy="301502"/>
          </a:xfrm>
          <a:custGeom>
            <a:avLst/>
            <a:gdLst/>
            <a:ahLst/>
            <a:cxnLst/>
            <a:rect l="l" t="t" r="r" b="b"/>
            <a:pathLst>
              <a:path w="37688" h="301502">
                <a:moveTo>
                  <a:pt x="0" y="0"/>
                </a:moveTo>
                <a:lnTo>
                  <a:pt x="37688" y="0"/>
                </a:lnTo>
                <a:lnTo>
                  <a:pt x="37688" y="301502"/>
                </a:lnTo>
                <a:lnTo>
                  <a:pt x="0" y="301502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65317" y="428699"/>
            <a:ext cx="1914716" cy="19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kern="0" spc="59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FUNCTION DEMO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6878" y="753756"/>
            <a:ext cx="11607839" cy="376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核心功能四：反馈迭代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6878" y="1206009"/>
            <a:ext cx="753756" cy="37688"/>
          </a:xfrm>
          <a:custGeom>
            <a:avLst/>
            <a:gdLst/>
            <a:ahLst/>
            <a:cxnLst/>
            <a:rect l="l" t="t" r="r" b="b"/>
            <a:pathLst>
              <a:path w="753756" h="37688">
                <a:moveTo>
                  <a:pt x="0" y="0"/>
                </a:moveTo>
                <a:lnTo>
                  <a:pt x="753756" y="0"/>
                </a:lnTo>
                <a:lnTo>
                  <a:pt x="753756" y="37688"/>
                </a:lnTo>
                <a:lnTo>
                  <a:pt x="0" y="37688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76878" y="1450980"/>
            <a:ext cx="5643747" cy="2656989"/>
          </a:xfrm>
          <a:custGeom>
            <a:avLst/>
            <a:gdLst/>
            <a:ahLst/>
            <a:cxnLst/>
            <a:rect l="l" t="t" r="r" b="b"/>
            <a:pathLst>
              <a:path w="5643747" h="2656989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2543934"/>
                </a:lnTo>
                <a:cubicBezTo>
                  <a:pt x="5643747" y="2606373"/>
                  <a:pt x="5593130" y="2656989"/>
                  <a:pt x="5530692" y="2656989"/>
                </a:cubicBezTo>
                <a:lnTo>
                  <a:pt x="113055" y="2656989"/>
                </a:lnTo>
                <a:cubicBezTo>
                  <a:pt x="50616" y="2656989"/>
                  <a:pt x="0" y="2606373"/>
                  <a:pt x="0" y="25439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6878" y="1450980"/>
            <a:ext cx="5643747" cy="37688"/>
          </a:xfrm>
          <a:custGeom>
            <a:avLst/>
            <a:gdLst/>
            <a:ahLst/>
            <a:cxnLst/>
            <a:rect l="l" t="t" r="r" b="b"/>
            <a:pathLst>
              <a:path w="5643747" h="37688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Text 7"/>
          <p:cNvSpPr/>
          <p:nvPr/>
        </p:nvSpPr>
        <p:spPr>
          <a:xfrm>
            <a:off x="565317" y="1658263"/>
            <a:ext cx="5361088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反馈入口设计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5317" y="2035141"/>
            <a:ext cx="5342244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答案下方设置四类评价按钮,支持文字补充反馈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0028" y="2379042"/>
            <a:ext cx="2591036" cy="461675"/>
          </a:xfrm>
          <a:custGeom>
            <a:avLst/>
            <a:gdLst/>
            <a:ahLst/>
            <a:cxnLst/>
            <a:rect l="l" t="t" r="r" b="b"/>
            <a:pathLst>
              <a:path w="2591036" h="461675">
                <a:moveTo>
                  <a:pt x="75378" y="0"/>
                </a:moveTo>
                <a:lnTo>
                  <a:pt x="2515658" y="0"/>
                </a:lnTo>
                <a:cubicBezTo>
                  <a:pt x="2557260" y="0"/>
                  <a:pt x="2591036" y="33776"/>
                  <a:pt x="2591036" y="75378"/>
                </a:cubicBezTo>
                <a:lnTo>
                  <a:pt x="2591036" y="386298"/>
                </a:lnTo>
                <a:cubicBezTo>
                  <a:pt x="2591036" y="427900"/>
                  <a:pt x="2557260" y="461675"/>
                  <a:pt x="2515658" y="461675"/>
                </a:cubicBezTo>
                <a:lnTo>
                  <a:pt x="75378" y="461675"/>
                </a:lnTo>
                <a:cubicBezTo>
                  <a:pt x="33776" y="461675"/>
                  <a:pt x="0" y="427900"/>
                  <a:pt x="0" y="386298"/>
                </a:cubicBezTo>
                <a:lnTo>
                  <a:pt x="0" y="75378"/>
                </a:lnTo>
                <a:cubicBezTo>
                  <a:pt x="0" y="33776"/>
                  <a:pt x="33776" y="0"/>
                  <a:pt x="75378" y="0"/>
                </a:cubicBezTo>
                <a:close/>
              </a:path>
            </a:pathLst>
          </a:custGeom>
          <a:solidFill>
            <a:srgbClr val="F0FDF4"/>
          </a:solidFill>
          <a:ln w="12700">
            <a:solidFill>
              <a:srgbClr val="B9F8C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1357" y="2525082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26499" y="52998"/>
                </a:moveTo>
                <a:cubicBezTo>
                  <a:pt x="32362" y="52998"/>
                  <a:pt x="37099" y="57735"/>
                  <a:pt x="37099" y="63598"/>
                </a:cubicBezTo>
                <a:lnTo>
                  <a:pt x="37099" y="148396"/>
                </a:lnTo>
                <a:cubicBezTo>
                  <a:pt x="37099" y="154259"/>
                  <a:pt x="32362" y="158995"/>
                  <a:pt x="26499" y="158995"/>
                </a:cubicBezTo>
                <a:lnTo>
                  <a:pt x="10600" y="158995"/>
                </a:lnTo>
                <a:cubicBezTo>
                  <a:pt x="4737" y="158995"/>
                  <a:pt x="0" y="154259"/>
                  <a:pt x="0" y="148396"/>
                </a:cubicBezTo>
                <a:lnTo>
                  <a:pt x="0" y="63598"/>
                </a:lnTo>
                <a:cubicBezTo>
                  <a:pt x="0" y="57735"/>
                  <a:pt x="4737" y="52998"/>
                  <a:pt x="10600" y="52998"/>
                </a:cubicBezTo>
                <a:lnTo>
                  <a:pt x="26499" y="52998"/>
                </a:lnTo>
                <a:close/>
                <a:moveTo>
                  <a:pt x="89634" y="5300"/>
                </a:moveTo>
                <a:cubicBezTo>
                  <a:pt x="98676" y="5300"/>
                  <a:pt x="105997" y="12620"/>
                  <a:pt x="105997" y="21663"/>
                </a:cubicBezTo>
                <a:lnTo>
                  <a:pt x="105997" y="23054"/>
                </a:lnTo>
                <a:cubicBezTo>
                  <a:pt x="105997" y="25307"/>
                  <a:pt x="105566" y="27559"/>
                  <a:pt x="104738" y="29646"/>
                </a:cubicBezTo>
                <a:lnTo>
                  <a:pt x="95397" y="52998"/>
                </a:lnTo>
                <a:lnTo>
                  <a:pt x="148396" y="52998"/>
                </a:lnTo>
                <a:cubicBezTo>
                  <a:pt x="157174" y="52998"/>
                  <a:pt x="164295" y="60120"/>
                  <a:pt x="164295" y="68898"/>
                </a:cubicBezTo>
                <a:cubicBezTo>
                  <a:pt x="164295" y="75423"/>
                  <a:pt x="160353" y="81021"/>
                  <a:pt x="154722" y="83473"/>
                </a:cubicBezTo>
                <a:cubicBezTo>
                  <a:pt x="160353" y="85924"/>
                  <a:pt x="164295" y="91522"/>
                  <a:pt x="164295" y="98047"/>
                </a:cubicBezTo>
                <a:cubicBezTo>
                  <a:pt x="164295" y="105798"/>
                  <a:pt x="158730" y="112257"/>
                  <a:pt x="151377" y="113649"/>
                </a:cubicBezTo>
                <a:cubicBezTo>
                  <a:pt x="152834" y="116067"/>
                  <a:pt x="153696" y="118882"/>
                  <a:pt x="153696" y="121896"/>
                </a:cubicBezTo>
                <a:cubicBezTo>
                  <a:pt x="153696" y="129250"/>
                  <a:pt x="148727" y="135411"/>
                  <a:pt x="141970" y="137233"/>
                </a:cubicBezTo>
                <a:cubicBezTo>
                  <a:pt x="142698" y="139055"/>
                  <a:pt x="143096" y="141042"/>
                  <a:pt x="143096" y="143096"/>
                </a:cubicBezTo>
                <a:cubicBezTo>
                  <a:pt x="143096" y="151874"/>
                  <a:pt x="135974" y="158995"/>
                  <a:pt x="127196" y="158995"/>
                </a:cubicBezTo>
                <a:lnTo>
                  <a:pt x="98080" y="158995"/>
                </a:lnTo>
                <a:cubicBezTo>
                  <a:pt x="86056" y="158995"/>
                  <a:pt x="74363" y="154888"/>
                  <a:pt x="64989" y="147369"/>
                </a:cubicBezTo>
                <a:lnTo>
                  <a:pt x="60948" y="144156"/>
                </a:lnTo>
                <a:cubicBezTo>
                  <a:pt x="55913" y="140148"/>
                  <a:pt x="52998" y="134053"/>
                  <a:pt x="52998" y="127594"/>
                </a:cubicBezTo>
                <a:lnTo>
                  <a:pt x="52998" y="65784"/>
                </a:lnTo>
                <a:cubicBezTo>
                  <a:pt x="52998" y="60849"/>
                  <a:pt x="54158" y="55980"/>
                  <a:pt x="56344" y="51574"/>
                </a:cubicBezTo>
                <a:lnTo>
                  <a:pt x="74960" y="14343"/>
                </a:lnTo>
                <a:cubicBezTo>
                  <a:pt x="77742" y="8811"/>
                  <a:pt x="83406" y="5300"/>
                  <a:pt x="89634" y="530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14" name="Text 11"/>
          <p:cNvSpPr/>
          <p:nvPr/>
        </p:nvSpPr>
        <p:spPr>
          <a:xfrm>
            <a:off x="975172" y="2496816"/>
            <a:ext cx="376878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有用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41665" y="2379042"/>
            <a:ext cx="2591036" cy="461675"/>
          </a:xfrm>
          <a:custGeom>
            <a:avLst/>
            <a:gdLst/>
            <a:ahLst/>
            <a:cxnLst/>
            <a:rect l="l" t="t" r="r" b="b"/>
            <a:pathLst>
              <a:path w="2591036" h="461675">
                <a:moveTo>
                  <a:pt x="75378" y="0"/>
                </a:moveTo>
                <a:lnTo>
                  <a:pt x="2515658" y="0"/>
                </a:lnTo>
                <a:cubicBezTo>
                  <a:pt x="2557260" y="0"/>
                  <a:pt x="2591036" y="33776"/>
                  <a:pt x="2591036" y="75378"/>
                </a:cubicBezTo>
                <a:lnTo>
                  <a:pt x="2591036" y="386298"/>
                </a:lnTo>
                <a:cubicBezTo>
                  <a:pt x="2591036" y="427900"/>
                  <a:pt x="2557260" y="461675"/>
                  <a:pt x="2515658" y="461675"/>
                </a:cubicBezTo>
                <a:lnTo>
                  <a:pt x="75378" y="461675"/>
                </a:lnTo>
                <a:cubicBezTo>
                  <a:pt x="33776" y="461675"/>
                  <a:pt x="0" y="427900"/>
                  <a:pt x="0" y="386298"/>
                </a:cubicBezTo>
                <a:lnTo>
                  <a:pt x="0" y="75378"/>
                </a:lnTo>
                <a:cubicBezTo>
                  <a:pt x="0" y="33776"/>
                  <a:pt x="33776" y="0"/>
                  <a:pt x="75378" y="0"/>
                </a:cubicBezTo>
                <a:close/>
              </a:path>
            </a:pathLst>
          </a:custGeom>
          <a:solidFill>
            <a:srgbClr val="FEF2F2"/>
          </a:solidFill>
          <a:ln w="12700">
            <a:solidFill>
              <a:srgbClr val="FFC9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2994" y="2525082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127196" y="10600"/>
                </a:moveTo>
                <a:cubicBezTo>
                  <a:pt x="135974" y="10600"/>
                  <a:pt x="143096" y="17721"/>
                  <a:pt x="143096" y="26499"/>
                </a:cubicBezTo>
                <a:cubicBezTo>
                  <a:pt x="143096" y="28586"/>
                  <a:pt x="142665" y="30540"/>
                  <a:pt x="141970" y="32362"/>
                </a:cubicBezTo>
                <a:cubicBezTo>
                  <a:pt x="148727" y="34184"/>
                  <a:pt x="153696" y="40345"/>
                  <a:pt x="153696" y="47699"/>
                </a:cubicBezTo>
                <a:cubicBezTo>
                  <a:pt x="153696" y="50713"/>
                  <a:pt x="152834" y="53528"/>
                  <a:pt x="151377" y="55946"/>
                </a:cubicBezTo>
                <a:cubicBezTo>
                  <a:pt x="158730" y="57338"/>
                  <a:pt x="164295" y="63797"/>
                  <a:pt x="164295" y="71548"/>
                </a:cubicBezTo>
                <a:cubicBezTo>
                  <a:pt x="164295" y="78073"/>
                  <a:pt x="160353" y="83671"/>
                  <a:pt x="154722" y="86122"/>
                </a:cubicBezTo>
                <a:cubicBezTo>
                  <a:pt x="160353" y="88574"/>
                  <a:pt x="164295" y="94172"/>
                  <a:pt x="164295" y="100697"/>
                </a:cubicBezTo>
                <a:cubicBezTo>
                  <a:pt x="164295" y="109475"/>
                  <a:pt x="157174" y="116597"/>
                  <a:pt x="148396" y="116597"/>
                </a:cubicBezTo>
                <a:lnTo>
                  <a:pt x="95397" y="116597"/>
                </a:lnTo>
                <a:lnTo>
                  <a:pt x="104738" y="139916"/>
                </a:lnTo>
                <a:cubicBezTo>
                  <a:pt x="105566" y="142003"/>
                  <a:pt x="105997" y="144255"/>
                  <a:pt x="105997" y="146508"/>
                </a:cubicBezTo>
                <a:lnTo>
                  <a:pt x="105997" y="147899"/>
                </a:lnTo>
                <a:cubicBezTo>
                  <a:pt x="105997" y="156942"/>
                  <a:pt x="98676" y="164262"/>
                  <a:pt x="89634" y="164262"/>
                </a:cubicBezTo>
                <a:cubicBezTo>
                  <a:pt x="83439" y="164262"/>
                  <a:pt x="77775" y="160751"/>
                  <a:pt x="74993" y="155219"/>
                </a:cubicBezTo>
                <a:lnTo>
                  <a:pt x="56344" y="118021"/>
                </a:lnTo>
                <a:cubicBezTo>
                  <a:pt x="54125" y="113615"/>
                  <a:pt x="52998" y="108746"/>
                  <a:pt x="52998" y="103811"/>
                </a:cubicBezTo>
                <a:lnTo>
                  <a:pt x="52998" y="42001"/>
                </a:lnTo>
                <a:cubicBezTo>
                  <a:pt x="52998" y="35575"/>
                  <a:pt x="55946" y="29480"/>
                  <a:pt x="60948" y="25439"/>
                </a:cubicBezTo>
                <a:lnTo>
                  <a:pt x="64989" y="22226"/>
                </a:lnTo>
                <a:cubicBezTo>
                  <a:pt x="74397" y="14707"/>
                  <a:pt x="86056" y="10600"/>
                  <a:pt x="98080" y="10600"/>
                </a:cubicBezTo>
                <a:lnTo>
                  <a:pt x="127196" y="10600"/>
                </a:lnTo>
                <a:close/>
                <a:moveTo>
                  <a:pt x="26499" y="31799"/>
                </a:moveTo>
                <a:cubicBezTo>
                  <a:pt x="32362" y="31799"/>
                  <a:pt x="37099" y="36536"/>
                  <a:pt x="37099" y="42399"/>
                </a:cubicBezTo>
                <a:lnTo>
                  <a:pt x="37099" y="127196"/>
                </a:lnTo>
                <a:cubicBezTo>
                  <a:pt x="37099" y="133059"/>
                  <a:pt x="32362" y="137796"/>
                  <a:pt x="26499" y="137796"/>
                </a:cubicBezTo>
                <a:lnTo>
                  <a:pt x="10600" y="137796"/>
                </a:lnTo>
                <a:cubicBezTo>
                  <a:pt x="4737" y="137796"/>
                  <a:pt x="0" y="133059"/>
                  <a:pt x="0" y="127196"/>
                </a:cubicBezTo>
                <a:lnTo>
                  <a:pt x="0" y="42399"/>
                </a:lnTo>
                <a:cubicBezTo>
                  <a:pt x="0" y="36536"/>
                  <a:pt x="4737" y="31799"/>
                  <a:pt x="10600" y="31799"/>
                </a:cubicBezTo>
                <a:lnTo>
                  <a:pt x="26499" y="31799"/>
                </a:lnTo>
                <a:close/>
              </a:path>
            </a:pathLst>
          </a:custGeom>
          <a:solidFill>
            <a:srgbClr val="E7000B"/>
          </a:solidFill>
        </p:spPr>
      </p:sp>
      <p:sp>
        <p:nvSpPr>
          <p:cNvPr id="17" name="Text 14"/>
          <p:cNvSpPr/>
          <p:nvPr/>
        </p:nvSpPr>
        <p:spPr>
          <a:xfrm>
            <a:off x="3646809" y="2496816"/>
            <a:ext cx="376878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C1000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无用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0028" y="2925515"/>
            <a:ext cx="2591036" cy="461675"/>
          </a:xfrm>
          <a:custGeom>
            <a:avLst/>
            <a:gdLst/>
            <a:ahLst/>
            <a:cxnLst/>
            <a:rect l="l" t="t" r="r" b="b"/>
            <a:pathLst>
              <a:path w="2591036" h="461675">
                <a:moveTo>
                  <a:pt x="75378" y="0"/>
                </a:moveTo>
                <a:lnTo>
                  <a:pt x="2515658" y="0"/>
                </a:lnTo>
                <a:cubicBezTo>
                  <a:pt x="2557260" y="0"/>
                  <a:pt x="2591036" y="33776"/>
                  <a:pt x="2591036" y="75378"/>
                </a:cubicBezTo>
                <a:lnTo>
                  <a:pt x="2591036" y="386298"/>
                </a:lnTo>
                <a:cubicBezTo>
                  <a:pt x="2591036" y="427900"/>
                  <a:pt x="2557260" y="461675"/>
                  <a:pt x="2515658" y="461675"/>
                </a:cubicBezTo>
                <a:lnTo>
                  <a:pt x="75378" y="461675"/>
                </a:lnTo>
                <a:cubicBezTo>
                  <a:pt x="33776" y="461675"/>
                  <a:pt x="0" y="427900"/>
                  <a:pt x="0" y="386298"/>
                </a:cubicBezTo>
                <a:lnTo>
                  <a:pt x="0" y="75378"/>
                </a:lnTo>
                <a:cubicBezTo>
                  <a:pt x="0" y="33776"/>
                  <a:pt x="33776" y="0"/>
                  <a:pt x="75378" y="0"/>
                </a:cubicBezTo>
                <a:close/>
              </a:path>
            </a:pathLst>
          </a:custGeom>
          <a:solidFill>
            <a:srgbClr val="FEFCE8"/>
          </a:solidFill>
          <a:ln w="12700">
            <a:solidFill>
              <a:srgbClr val="FFF08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1357" y="3071555"/>
            <a:ext cx="169595" cy="169595"/>
          </a:xfrm>
          <a:custGeom>
            <a:avLst/>
            <a:gdLst/>
            <a:ahLst/>
            <a:cxnLst/>
            <a:rect l="l" t="t" r="r" b="b"/>
            <a:pathLst>
              <a:path w="169595" h="169595">
                <a:moveTo>
                  <a:pt x="84798" y="0"/>
                </a:moveTo>
                <a:cubicBezTo>
                  <a:pt x="131599" y="0"/>
                  <a:pt x="169595" y="37996"/>
                  <a:pt x="169595" y="84798"/>
                </a:cubicBezTo>
                <a:cubicBezTo>
                  <a:pt x="169595" y="131599"/>
                  <a:pt x="131599" y="169595"/>
                  <a:pt x="84798" y="169595"/>
                </a:cubicBezTo>
                <a:cubicBezTo>
                  <a:pt x="37996" y="169595"/>
                  <a:pt x="0" y="131599"/>
                  <a:pt x="0" y="84798"/>
                </a:cubicBezTo>
                <a:cubicBezTo>
                  <a:pt x="0" y="37996"/>
                  <a:pt x="37996" y="0"/>
                  <a:pt x="84798" y="0"/>
                </a:cubicBezTo>
                <a:close/>
                <a:moveTo>
                  <a:pt x="76848" y="39749"/>
                </a:moveTo>
                <a:lnTo>
                  <a:pt x="76848" y="84798"/>
                </a:lnTo>
                <a:cubicBezTo>
                  <a:pt x="76848" y="87447"/>
                  <a:pt x="78173" y="89932"/>
                  <a:pt x="80392" y="91422"/>
                </a:cubicBezTo>
                <a:lnTo>
                  <a:pt x="112191" y="112622"/>
                </a:lnTo>
                <a:cubicBezTo>
                  <a:pt x="115835" y="115073"/>
                  <a:pt x="120770" y="114079"/>
                  <a:pt x="123221" y="110402"/>
                </a:cubicBezTo>
                <a:cubicBezTo>
                  <a:pt x="125673" y="106726"/>
                  <a:pt x="124679" y="101823"/>
                  <a:pt x="121002" y="99372"/>
                </a:cubicBezTo>
                <a:lnTo>
                  <a:pt x="92747" y="80558"/>
                </a:lnTo>
                <a:lnTo>
                  <a:pt x="92747" y="39749"/>
                </a:lnTo>
                <a:cubicBezTo>
                  <a:pt x="92747" y="35343"/>
                  <a:pt x="89203" y="31799"/>
                  <a:pt x="84798" y="31799"/>
                </a:cubicBezTo>
                <a:cubicBezTo>
                  <a:pt x="80392" y="31799"/>
                  <a:pt x="76848" y="35343"/>
                  <a:pt x="76848" y="39749"/>
                </a:cubicBezTo>
                <a:close/>
              </a:path>
            </a:pathLst>
          </a:custGeom>
          <a:solidFill>
            <a:srgbClr val="D08700"/>
          </a:solidFill>
        </p:spPr>
      </p:sp>
      <p:sp>
        <p:nvSpPr>
          <p:cNvPr id="20" name="Text 17"/>
          <p:cNvSpPr/>
          <p:nvPr/>
        </p:nvSpPr>
        <p:spPr>
          <a:xfrm>
            <a:off x="975172" y="3043289"/>
            <a:ext cx="678380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A65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答案过时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41665" y="2925515"/>
            <a:ext cx="2591036" cy="461675"/>
          </a:xfrm>
          <a:custGeom>
            <a:avLst/>
            <a:gdLst/>
            <a:ahLst/>
            <a:cxnLst/>
            <a:rect l="l" t="t" r="r" b="b"/>
            <a:pathLst>
              <a:path w="2591036" h="461675">
                <a:moveTo>
                  <a:pt x="75378" y="0"/>
                </a:moveTo>
                <a:lnTo>
                  <a:pt x="2515658" y="0"/>
                </a:lnTo>
                <a:cubicBezTo>
                  <a:pt x="2557260" y="0"/>
                  <a:pt x="2591036" y="33776"/>
                  <a:pt x="2591036" y="75378"/>
                </a:cubicBezTo>
                <a:lnTo>
                  <a:pt x="2591036" y="386298"/>
                </a:lnTo>
                <a:cubicBezTo>
                  <a:pt x="2591036" y="427900"/>
                  <a:pt x="2557260" y="461675"/>
                  <a:pt x="2515658" y="461675"/>
                </a:cubicBezTo>
                <a:lnTo>
                  <a:pt x="75378" y="461675"/>
                </a:lnTo>
                <a:cubicBezTo>
                  <a:pt x="33776" y="461675"/>
                  <a:pt x="0" y="427900"/>
                  <a:pt x="0" y="386298"/>
                </a:cubicBezTo>
                <a:lnTo>
                  <a:pt x="0" y="75378"/>
                </a:lnTo>
                <a:cubicBezTo>
                  <a:pt x="0" y="33776"/>
                  <a:pt x="33776" y="0"/>
                  <a:pt x="75378" y="0"/>
                </a:cubicBezTo>
                <a:close/>
              </a:path>
            </a:pathLst>
          </a:custGeom>
          <a:solidFill>
            <a:srgbClr val="EFF6FF"/>
          </a:solidFill>
          <a:ln w="12700">
            <a:solidFill>
              <a:srgbClr val="BEDB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93594" y="3071555"/>
            <a:ext cx="148396" cy="169595"/>
          </a:xfrm>
          <a:custGeom>
            <a:avLst/>
            <a:gdLst/>
            <a:ahLst/>
            <a:cxnLst/>
            <a:rect l="l" t="t" r="r" b="b"/>
            <a:pathLst>
              <a:path w="148396" h="169595">
                <a:moveTo>
                  <a:pt x="0" y="84798"/>
                </a:moveTo>
                <a:cubicBezTo>
                  <a:pt x="0" y="74560"/>
                  <a:pt x="8312" y="66248"/>
                  <a:pt x="18549" y="66248"/>
                </a:cubicBezTo>
                <a:cubicBezTo>
                  <a:pt x="28787" y="66248"/>
                  <a:pt x="37099" y="74560"/>
                  <a:pt x="37099" y="84798"/>
                </a:cubicBezTo>
                <a:cubicBezTo>
                  <a:pt x="37099" y="95035"/>
                  <a:pt x="28787" y="103347"/>
                  <a:pt x="18549" y="103347"/>
                </a:cubicBezTo>
                <a:cubicBezTo>
                  <a:pt x="8312" y="103347"/>
                  <a:pt x="0" y="95035"/>
                  <a:pt x="0" y="84798"/>
                </a:cubicBezTo>
                <a:close/>
                <a:moveTo>
                  <a:pt x="55648" y="84798"/>
                </a:moveTo>
                <a:cubicBezTo>
                  <a:pt x="55648" y="74560"/>
                  <a:pt x="63960" y="66248"/>
                  <a:pt x="74198" y="66248"/>
                </a:cubicBezTo>
                <a:cubicBezTo>
                  <a:pt x="84436" y="66248"/>
                  <a:pt x="92747" y="74560"/>
                  <a:pt x="92747" y="84798"/>
                </a:cubicBezTo>
                <a:cubicBezTo>
                  <a:pt x="92747" y="95035"/>
                  <a:pt x="84436" y="103347"/>
                  <a:pt x="74198" y="103347"/>
                </a:cubicBezTo>
                <a:cubicBezTo>
                  <a:pt x="63960" y="103347"/>
                  <a:pt x="55648" y="95035"/>
                  <a:pt x="55648" y="84798"/>
                </a:cubicBezTo>
                <a:close/>
                <a:moveTo>
                  <a:pt x="129846" y="66248"/>
                </a:moveTo>
                <a:cubicBezTo>
                  <a:pt x="140084" y="66248"/>
                  <a:pt x="148396" y="74560"/>
                  <a:pt x="148396" y="84798"/>
                </a:cubicBezTo>
                <a:cubicBezTo>
                  <a:pt x="148396" y="95035"/>
                  <a:pt x="140084" y="103347"/>
                  <a:pt x="129846" y="103347"/>
                </a:cubicBezTo>
                <a:cubicBezTo>
                  <a:pt x="119608" y="103347"/>
                  <a:pt x="111297" y="95035"/>
                  <a:pt x="111297" y="84798"/>
                </a:cubicBezTo>
                <a:cubicBezTo>
                  <a:pt x="111297" y="74560"/>
                  <a:pt x="119608" y="66248"/>
                  <a:pt x="129846" y="66248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23" name="Text 20"/>
          <p:cNvSpPr/>
          <p:nvPr/>
        </p:nvSpPr>
        <p:spPr>
          <a:xfrm>
            <a:off x="3646809" y="3043289"/>
            <a:ext cx="678380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信息不全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65317" y="3504964"/>
            <a:ext cx="5266869" cy="414566"/>
          </a:xfrm>
          <a:custGeom>
            <a:avLst/>
            <a:gdLst/>
            <a:ahLst/>
            <a:cxnLst/>
            <a:rect l="l" t="t" r="r" b="b"/>
            <a:pathLst>
              <a:path w="5266869" h="414566">
                <a:moveTo>
                  <a:pt x="75376" y="0"/>
                </a:moveTo>
                <a:lnTo>
                  <a:pt x="5191492" y="0"/>
                </a:lnTo>
                <a:cubicBezTo>
                  <a:pt x="5233121" y="0"/>
                  <a:pt x="5266869" y="33747"/>
                  <a:pt x="5266869" y="75376"/>
                </a:cubicBezTo>
                <a:lnTo>
                  <a:pt x="5266869" y="339189"/>
                </a:lnTo>
                <a:cubicBezTo>
                  <a:pt x="5266869" y="380819"/>
                  <a:pt x="5233121" y="414566"/>
                  <a:pt x="5191492" y="414566"/>
                </a:cubicBezTo>
                <a:lnTo>
                  <a:pt x="75376" y="414566"/>
                </a:lnTo>
                <a:cubicBezTo>
                  <a:pt x="33775" y="414566"/>
                  <a:pt x="0" y="380791"/>
                  <a:pt x="0" y="33918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25" name="Text 22"/>
          <p:cNvSpPr/>
          <p:nvPr/>
        </p:nvSpPr>
        <p:spPr>
          <a:xfrm>
            <a:off x="678380" y="3618028"/>
            <a:ext cx="5106696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用户可通过文字补充具体反馈,帮助系统精准优化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2406" y="1450980"/>
            <a:ext cx="5643747" cy="2656989"/>
          </a:xfrm>
          <a:custGeom>
            <a:avLst/>
            <a:gdLst/>
            <a:ahLst/>
            <a:cxnLst/>
            <a:rect l="l" t="t" r="r" b="b"/>
            <a:pathLst>
              <a:path w="5643747" h="2656989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2543934"/>
                </a:lnTo>
                <a:cubicBezTo>
                  <a:pt x="5643747" y="2606373"/>
                  <a:pt x="5593130" y="2656989"/>
                  <a:pt x="5530692" y="2656989"/>
                </a:cubicBezTo>
                <a:lnTo>
                  <a:pt x="113055" y="2656989"/>
                </a:lnTo>
                <a:cubicBezTo>
                  <a:pt x="50616" y="2656989"/>
                  <a:pt x="0" y="2606373"/>
                  <a:pt x="0" y="2543934"/>
                </a:cubicBez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72406" y="1450980"/>
            <a:ext cx="5643747" cy="37688"/>
          </a:xfrm>
          <a:custGeom>
            <a:avLst/>
            <a:gdLst/>
            <a:ahLst/>
            <a:cxnLst/>
            <a:rect l="l" t="t" r="r" b="b"/>
            <a:pathLst>
              <a:path w="5643747" h="37688">
                <a:moveTo>
                  <a:pt x="37688" y="0"/>
                </a:moveTo>
                <a:lnTo>
                  <a:pt x="5606059" y="0"/>
                </a:lnTo>
                <a:cubicBezTo>
                  <a:pt x="5626873" y="0"/>
                  <a:pt x="5643747" y="16873"/>
                  <a:pt x="5643747" y="37688"/>
                </a:cubicBezTo>
                <a:lnTo>
                  <a:pt x="5643747" y="37688"/>
                </a:lnTo>
                <a:lnTo>
                  <a:pt x="0" y="37688"/>
                </a:lnTo>
                <a:lnTo>
                  <a:pt x="0" y="37688"/>
                </a:lnTo>
                <a:cubicBezTo>
                  <a:pt x="0" y="16887"/>
                  <a:pt x="16887" y="0"/>
                  <a:pt x="37688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8" name="Text 25"/>
          <p:cNvSpPr/>
          <p:nvPr/>
        </p:nvSpPr>
        <p:spPr>
          <a:xfrm>
            <a:off x="6360845" y="1658263"/>
            <a:ext cx="5361088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迭代闭环流程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60845" y="2035141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0" name="Text 27"/>
          <p:cNvSpPr/>
          <p:nvPr/>
        </p:nvSpPr>
        <p:spPr>
          <a:xfrm>
            <a:off x="6327868" y="2035141"/>
            <a:ext cx="367456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775411" y="2035141"/>
            <a:ext cx="2148204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用户反馈 → 数据收集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775411" y="2261267"/>
            <a:ext cx="2138782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存储至PostgreSQL,建立反馈数据库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60845" y="2525082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4" name="Text 31"/>
          <p:cNvSpPr/>
          <p:nvPr/>
        </p:nvSpPr>
        <p:spPr>
          <a:xfrm>
            <a:off x="6327868" y="2525082"/>
            <a:ext cx="367456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775411" y="2525082"/>
            <a:ext cx="2317799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自动分析 → 生成报表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75411" y="2751209"/>
            <a:ext cx="2308377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高频无用答案TOP10、未解决问题分类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60845" y="3015023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1" y="0"/>
                </a:moveTo>
                <a:lnTo>
                  <a:pt x="150751" y="0"/>
                </a:lnTo>
                <a:cubicBezTo>
                  <a:pt x="233953" y="0"/>
                  <a:pt x="301502" y="67549"/>
                  <a:pt x="301502" y="150751"/>
                </a:cubicBezTo>
                <a:lnTo>
                  <a:pt x="301502" y="150751"/>
                </a:lnTo>
                <a:cubicBezTo>
                  <a:pt x="301502" y="233953"/>
                  <a:pt x="233953" y="301502"/>
                  <a:pt x="150751" y="301502"/>
                </a:cubicBezTo>
                <a:lnTo>
                  <a:pt x="150751" y="301502"/>
                </a:lnTo>
                <a:cubicBezTo>
                  <a:pt x="67549" y="301502"/>
                  <a:pt x="0" y="233953"/>
                  <a:pt x="0" y="150751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8" name="Text 35"/>
          <p:cNvSpPr/>
          <p:nvPr/>
        </p:nvSpPr>
        <p:spPr>
          <a:xfrm>
            <a:off x="6327868" y="3015023"/>
            <a:ext cx="367456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75411" y="3015023"/>
            <a:ext cx="2053985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精准优化 → 持续提升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775411" y="3241150"/>
            <a:ext cx="204456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知识库补充、参数调整、模型微调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76878" y="4258720"/>
            <a:ext cx="11438244" cy="2223580"/>
          </a:xfrm>
          <a:custGeom>
            <a:avLst/>
            <a:gdLst/>
            <a:ahLst/>
            <a:cxnLst/>
            <a:rect l="l" t="t" r="r" b="b"/>
            <a:pathLst>
              <a:path w="11438244" h="2223580">
                <a:moveTo>
                  <a:pt x="113069" y="0"/>
                </a:moveTo>
                <a:lnTo>
                  <a:pt x="11325175" y="0"/>
                </a:lnTo>
                <a:cubicBezTo>
                  <a:pt x="11387621" y="0"/>
                  <a:pt x="11438244" y="50623"/>
                  <a:pt x="11438244" y="113069"/>
                </a:cubicBezTo>
                <a:lnTo>
                  <a:pt x="11438244" y="2110511"/>
                </a:lnTo>
                <a:cubicBezTo>
                  <a:pt x="11438244" y="2172957"/>
                  <a:pt x="11387621" y="2223580"/>
                  <a:pt x="11325175" y="2223580"/>
                </a:cubicBezTo>
                <a:lnTo>
                  <a:pt x="113069" y="2223580"/>
                </a:lnTo>
                <a:cubicBezTo>
                  <a:pt x="50623" y="2223580"/>
                  <a:pt x="0" y="2172957"/>
                  <a:pt x="0" y="2110511"/>
                </a:cubicBezTo>
                <a:lnTo>
                  <a:pt x="0" y="113069"/>
                </a:lnTo>
                <a:cubicBezTo>
                  <a:pt x="0" y="50665"/>
                  <a:pt x="50665" y="0"/>
                  <a:pt x="113069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65317" y="4447159"/>
            <a:ext cx="11174430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优化效果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65317" y="4899413"/>
            <a:ext cx="3561496" cy="1394448"/>
          </a:xfrm>
          <a:custGeom>
            <a:avLst/>
            <a:gdLst/>
            <a:ahLst/>
            <a:cxnLst/>
            <a:rect l="l" t="t" r="r" b="b"/>
            <a:pathLst>
              <a:path w="3561496" h="1394448">
                <a:moveTo>
                  <a:pt x="75370" y="0"/>
                </a:moveTo>
                <a:lnTo>
                  <a:pt x="3486126" y="0"/>
                </a:lnTo>
                <a:cubicBezTo>
                  <a:pt x="3527752" y="0"/>
                  <a:pt x="3561496" y="33744"/>
                  <a:pt x="3561496" y="75370"/>
                </a:cubicBezTo>
                <a:lnTo>
                  <a:pt x="3561496" y="1319078"/>
                </a:lnTo>
                <a:cubicBezTo>
                  <a:pt x="3561496" y="1360704"/>
                  <a:pt x="3527752" y="1394448"/>
                  <a:pt x="3486126" y="1394448"/>
                </a:cubicBezTo>
                <a:lnTo>
                  <a:pt x="75370" y="1394448"/>
                </a:lnTo>
                <a:cubicBezTo>
                  <a:pt x="33744" y="1394448"/>
                  <a:pt x="0" y="1360704"/>
                  <a:pt x="0" y="1319078"/>
                </a:cubicBezTo>
                <a:lnTo>
                  <a:pt x="0" y="75370"/>
                </a:lnTo>
                <a:cubicBezTo>
                  <a:pt x="0" y="33772"/>
                  <a:pt x="33772" y="0"/>
                  <a:pt x="7537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4" name="Text 41"/>
          <p:cNvSpPr/>
          <p:nvPr/>
        </p:nvSpPr>
        <p:spPr>
          <a:xfrm>
            <a:off x="673669" y="5050164"/>
            <a:ext cx="334479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持续反馈驱动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03005" y="5389354"/>
            <a:ext cx="3486121" cy="4522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5-8%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78380" y="5916983"/>
            <a:ext cx="3335369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月均准确率提升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4315914" y="4899413"/>
            <a:ext cx="3561496" cy="1394448"/>
          </a:xfrm>
          <a:custGeom>
            <a:avLst/>
            <a:gdLst/>
            <a:ahLst/>
            <a:cxnLst/>
            <a:rect l="l" t="t" r="r" b="b"/>
            <a:pathLst>
              <a:path w="3561496" h="1394448">
                <a:moveTo>
                  <a:pt x="75370" y="0"/>
                </a:moveTo>
                <a:lnTo>
                  <a:pt x="3486126" y="0"/>
                </a:lnTo>
                <a:cubicBezTo>
                  <a:pt x="3527752" y="0"/>
                  <a:pt x="3561496" y="33744"/>
                  <a:pt x="3561496" y="75370"/>
                </a:cubicBezTo>
                <a:lnTo>
                  <a:pt x="3561496" y="1319078"/>
                </a:lnTo>
                <a:cubicBezTo>
                  <a:pt x="3561496" y="1360704"/>
                  <a:pt x="3527752" y="1394448"/>
                  <a:pt x="3486126" y="1394448"/>
                </a:cubicBezTo>
                <a:lnTo>
                  <a:pt x="75370" y="1394448"/>
                </a:lnTo>
                <a:cubicBezTo>
                  <a:pt x="33744" y="1394448"/>
                  <a:pt x="0" y="1360704"/>
                  <a:pt x="0" y="1319078"/>
                </a:cubicBezTo>
                <a:lnTo>
                  <a:pt x="0" y="75370"/>
                </a:lnTo>
                <a:cubicBezTo>
                  <a:pt x="0" y="33772"/>
                  <a:pt x="33772" y="0"/>
                  <a:pt x="7537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8" name="Text 45"/>
          <p:cNvSpPr/>
          <p:nvPr/>
        </p:nvSpPr>
        <p:spPr>
          <a:xfrm>
            <a:off x="4424267" y="5050164"/>
            <a:ext cx="334479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无需人工介入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4353602" y="5389354"/>
            <a:ext cx="3486121" cy="4522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0" b="1" dirty="0">
                <a:solidFill>
                  <a:srgbClr val="00E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4428978" y="5916983"/>
            <a:ext cx="3335369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自动迭代优化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066512" y="4899413"/>
            <a:ext cx="3561496" cy="1394448"/>
          </a:xfrm>
          <a:custGeom>
            <a:avLst/>
            <a:gdLst/>
            <a:ahLst/>
            <a:cxnLst/>
            <a:rect l="l" t="t" r="r" b="b"/>
            <a:pathLst>
              <a:path w="3561496" h="1394448">
                <a:moveTo>
                  <a:pt x="75370" y="0"/>
                </a:moveTo>
                <a:lnTo>
                  <a:pt x="3486126" y="0"/>
                </a:lnTo>
                <a:cubicBezTo>
                  <a:pt x="3527752" y="0"/>
                  <a:pt x="3561496" y="33744"/>
                  <a:pt x="3561496" y="75370"/>
                </a:cubicBezTo>
                <a:lnTo>
                  <a:pt x="3561496" y="1319078"/>
                </a:lnTo>
                <a:cubicBezTo>
                  <a:pt x="3561496" y="1360704"/>
                  <a:pt x="3527752" y="1394448"/>
                  <a:pt x="3486126" y="1394448"/>
                </a:cubicBezTo>
                <a:lnTo>
                  <a:pt x="75370" y="1394448"/>
                </a:lnTo>
                <a:cubicBezTo>
                  <a:pt x="33744" y="1394448"/>
                  <a:pt x="0" y="1360704"/>
                  <a:pt x="0" y="1319078"/>
                </a:cubicBezTo>
                <a:lnTo>
                  <a:pt x="0" y="75370"/>
                </a:lnTo>
                <a:cubicBezTo>
                  <a:pt x="0" y="33772"/>
                  <a:pt x="33772" y="0"/>
                  <a:pt x="7537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52" name="Text 49"/>
          <p:cNvSpPr/>
          <p:nvPr/>
        </p:nvSpPr>
        <p:spPr>
          <a:xfrm>
            <a:off x="8174864" y="5050164"/>
            <a:ext cx="3344791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长期趋势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104200" y="5389354"/>
            <a:ext cx="3486121" cy="4522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60" b="1" dirty="0">
                <a:solidFill>
                  <a:srgbClr val="00E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179575" y="5916983"/>
            <a:ext cx="3335369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自我进化能力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9532" y="332887"/>
            <a:ext cx="2305245" cy="266310"/>
          </a:xfrm>
          <a:custGeom>
            <a:avLst/>
            <a:gdLst/>
            <a:ahLst/>
            <a:cxnLst/>
            <a:rect l="l" t="t" r="r" b="b"/>
            <a:pathLst>
              <a:path w="2305245" h="266310">
                <a:moveTo>
                  <a:pt x="0" y="0"/>
                </a:moveTo>
                <a:lnTo>
                  <a:pt x="2305245" y="0"/>
                </a:lnTo>
                <a:lnTo>
                  <a:pt x="2305245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49532" y="332887"/>
            <a:ext cx="33289" cy="266310"/>
          </a:xfrm>
          <a:custGeom>
            <a:avLst/>
            <a:gdLst/>
            <a:ahLst/>
            <a:cxnLst/>
            <a:rect l="l" t="t" r="r" b="b"/>
            <a:pathLst>
              <a:path w="33289" h="266310">
                <a:moveTo>
                  <a:pt x="0" y="0"/>
                </a:moveTo>
                <a:lnTo>
                  <a:pt x="33289" y="0"/>
                </a:lnTo>
                <a:lnTo>
                  <a:pt x="33289" y="266310"/>
                </a:lnTo>
                <a:lnTo>
                  <a:pt x="0" y="26631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499331" y="378659"/>
            <a:ext cx="2089778" cy="174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kern="0" spc="52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INNOVATION &amp; ADVANTAGES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2887" y="665775"/>
            <a:ext cx="11676025" cy="3328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创新点与竞争优势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2887" y="1065240"/>
            <a:ext cx="665775" cy="33289"/>
          </a:xfrm>
          <a:custGeom>
            <a:avLst/>
            <a:gdLst/>
            <a:ahLst/>
            <a:cxnLst/>
            <a:rect l="l" t="t" r="r" b="b"/>
            <a:pathLst>
              <a:path w="665775" h="33289">
                <a:moveTo>
                  <a:pt x="0" y="0"/>
                </a:moveTo>
                <a:lnTo>
                  <a:pt x="665775" y="0"/>
                </a:lnTo>
                <a:lnTo>
                  <a:pt x="665775" y="33289"/>
                </a:lnTo>
                <a:lnTo>
                  <a:pt x="0" y="33289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49532" y="1264972"/>
            <a:ext cx="11509581" cy="3062564"/>
          </a:xfrm>
          <a:custGeom>
            <a:avLst/>
            <a:gdLst/>
            <a:ahLst/>
            <a:cxnLst/>
            <a:rect l="l" t="t" r="r" b="b"/>
            <a:pathLst>
              <a:path w="11509581" h="3062564">
                <a:moveTo>
                  <a:pt x="33289" y="0"/>
                </a:moveTo>
                <a:lnTo>
                  <a:pt x="11409711" y="0"/>
                </a:lnTo>
                <a:cubicBezTo>
                  <a:pt x="11464867" y="0"/>
                  <a:pt x="11509581" y="44713"/>
                  <a:pt x="11509581" y="99870"/>
                </a:cubicBezTo>
                <a:lnTo>
                  <a:pt x="11509581" y="2962694"/>
                </a:lnTo>
                <a:cubicBezTo>
                  <a:pt x="11509581" y="3017850"/>
                  <a:pt x="11464867" y="3062564"/>
                  <a:pt x="11409711" y="3062564"/>
                </a:cubicBezTo>
                <a:lnTo>
                  <a:pt x="33289" y="3062564"/>
                </a:lnTo>
                <a:cubicBezTo>
                  <a:pt x="14904" y="3062564"/>
                  <a:pt x="0" y="3047660"/>
                  <a:pt x="0" y="3029275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532" y="1264972"/>
            <a:ext cx="33289" cy="3062564"/>
          </a:xfrm>
          <a:custGeom>
            <a:avLst/>
            <a:gdLst/>
            <a:ahLst/>
            <a:cxnLst/>
            <a:rect l="l" t="t" r="r" b="b"/>
            <a:pathLst>
              <a:path w="33289" h="3062564">
                <a:moveTo>
                  <a:pt x="33289" y="0"/>
                </a:moveTo>
                <a:lnTo>
                  <a:pt x="33289" y="0"/>
                </a:lnTo>
                <a:lnTo>
                  <a:pt x="33289" y="3062564"/>
                </a:lnTo>
                <a:lnTo>
                  <a:pt x="33289" y="3062564"/>
                </a:lnTo>
                <a:cubicBezTo>
                  <a:pt x="14904" y="3062564"/>
                  <a:pt x="0" y="3047660"/>
                  <a:pt x="0" y="3029275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Text 7"/>
          <p:cNvSpPr/>
          <p:nvPr/>
        </p:nvSpPr>
        <p:spPr>
          <a:xfrm>
            <a:off x="532620" y="1431416"/>
            <a:ext cx="11259915" cy="266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四大核心创新点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2620" y="1830881"/>
            <a:ext cx="5509286" cy="1098528"/>
          </a:xfrm>
          <a:custGeom>
            <a:avLst/>
            <a:gdLst/>
            <a:ahLst/>
            <a:cxnLst/>
            <a:rect l="l" t="t" r="r" b="b"/>
            <a:pathLst>
              <a:path w="5509286" h="1098528">
                <a:moveTo>
                  <a:pt x="66582" y="0"/>
                </a:moveTo>
                <a:lnTo>
                  <a:pt x="5442704" y="0"/>
                </a:lnTo>
                <a:cubicBezTo>
                  <a:pt x="5479476" y="0"/>
                  <a:pt x="5509286" y="29810"/>
                  <a:pt x="5509286" y="66582"/>
                </a:cubicBezTo>
                <a:lnTo>
                  <a:pt x="5509286" y="1031947"/>
                </a:lnTo>
                <a:cubicBezTo>
                  <a:pt x="5509286" y="1068719"/>
                  <a:pt x="5479476" y="1098528"/>
                  <a:pt x="5442704" y="1098528"/>
                </a:cubicBezTo>
                <a:lnTo>
                  <a:pt x="66582" y="1098528"/>
                </a:lnTo>
                <a:cubicBezTo>
                  <a:pt x="29810" y="1098528"/>
                  <a:pt x="0" y="1068719"/>
                  <a:pt x="0" y="1031947"/>
                </a:cubicBezTo>
                <a:lnTo>
                  <a:pt x="0" y="66582"/>
                </a:lnTo>
                <a:cubicBezTo>
                  <a:pt x="0" y="29834"/>
                  <a:pt x="29834" y="0"/>
                  <a:pt x="66582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665775" y="1964035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166444" y="0"/>
                </a:moveTo>
                <a:lnTo>
                  <a:pt x="166444" y="0"/>
                </a:lnTo>
                <a:cubicBezTo>
                  <a:pt x="258368" y="0"/>
                  <a:pt x="332887" y="74519"/>
                  <a:pt x="332887" y="166444"/>
                </a:cubicBezTo>
                <a:lnTo>
                  <a:pt x="332887" y="166444"/>
                </a:lnTo>
                <a:cubicBezTo>
                  <a:pt x="332887" y="258368"/>
                  <a:pt x="258368" y="332887"/>
                  <a:pt x="166444" y="332887"/>
                </a:cubicBezTo>
                <a:lnTo>
                  <a:pt x="166444" y="332887"/>
                </a:lnTo>
                <a:cubicBezTo>
                  <a:pt x="74519" y="332887"/>
                  <a:pt x="0" y="258368"/>
                  <a:pt x="0" y="166444"/>
                </a:cubicBezTo>
                <a:lnTo>
                  <a:pt x="0" y="166444"/>
                </a:lnTo>
                <a:cubicBezTo>
                  <a:pt x="0" y="74519"/>
                  <a:pt x="74519" y="0"/>
                  <a:pt x="16644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3" name="Text 10"/>
          <p:cNvSpPr/>
          <p:nvPr/>
        </p:nvSpPr>
        <p:spPr>
          <a:xfrm>
            <a:off x="628325" y="1964035"/>
            <a:ext cx="407787" cy="3328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65240" y="2013969"/>
            <a:ext cx="748997" cy="2330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5775" y="2363500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RAG+DeepSearch双层检索机制,复杂问题匹配精度提升25%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65775" y="2629810"/>
            <a:ext cx="5301231" cy="166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粗筛+精筛,兼顾效率与精度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78702" y="1830881"/>
            <a:ext cx="5509286" cy="1098528"/>
          </a:xfrm>
          <a:custGeom>
            <a:avLst/>
            <a:gdLst/>
            <a:ahLst/>
            <a:cxnLst/>
            <a:rect l="l" t="t" r="r" b="b"/>
            <a:pathLst>
              <a:path w="5509286" h="1098528">
                <a:moveTo>
                  <a:pt x="66582" y="0"/>
                </a:moveTo>
                <a:lnTo>
                  <a:pt x="5442704" y="0"/>
                </a:lnTo>
                <a:cubicBezTo>
                  <a:pt x="5479476" y="0"/>
                  <a:pt x="5509286" y="29810"/>
                  <a:pt x="5509286" y="66582"/>
                </a:cubicBezTo>
                <a:lnTo>
                  <a:pt x="5509286" y="1031947"/>
                </a:lnTo>
                <a:cubicBezTo>
                  <a:pt x="5509286" y="1068719"/>
                  <a:pt x="5479476" y="1098528"/>
                  <a:pt x="5442704" y="1098528"/>
                </a:cubicBezTo>
                <a:lnTo>
                  <a:pt x="66582" y="1098528"/>
                </a:lnTo>
                <a:cubicBezTo>
                  <a:pt x="29810" y="1098528"/>
                  <a:pt x="0" y="1068719"/>
                  <a:pt x="0" y="1031947"/>
                </a:cubicBezTo>
                <a:lnTo>
                  <a:pt x="0" y="66582"/>
                </a:lnTo>
                <a:cubicBezTo>
                  <a:pt x="0" y="29834"/>
                  <a:pt x="29834" y="0"/>
                  <a:pt x="66582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6311857" y="1964035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166444" y="0"/>
                </a:moveTo>
                <a:lnTo>
                  <a:pt x="166444" y="0"/>
                </a:lnTo>
                <a:cubicBezTo>
                  <a:pt x="258368" y="0"/>
                  <a:pt x="332887" y="74519"/>
                  <a:pt x="332887" y="166444"/>
                </a:cubicBezTo>
                <a:lnTo>
                  <a:pt x="332887" y="166444"/>
                </a:lnTo>
                <a:cubicBezTo>
                  <a:pt x="332887" y="258368"/>
                  <a:pt x="258368" y="332887"/>
                  <a:pt x="166444" y="332887"/>
                </a:cubicBezTo>
                <a:lnTo>
                  <a:pt x="166444" y="332887"/>
                </a:lnTo>
                <a:cubicBezTo>
                  <a:pt x="74519" y="332887"/>
                  <a:pt x="0" y="258368"/>
                  <a:pt x="0" y="166444"/>
                </a:cubicBezTo>
                <a:lnTo>
                  <a:pt x="0" y="166444"/>
                </a:lnTo>
                <a:cubicBezTo>
                  <a:pt x="0" y="74519"/>
                  <a:pt x="74519" y="0"/>
                  <a:pt x="16644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19" name="Text 16"/>
          <p:cNvSpPr/>
          <p:nvPr/>
        </p:nvSpPr>
        <p:spPr>
          <a:xfrm>
            <a:off x="6274407" y="1964035"/>
            <a:ext cx="407787" cy="3328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11322" y="2013969"/>
            <a:ext cx="748997" cy="2330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体验创新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11857" y="2363500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上下文记忆+模糊问题澄清,多轮对话自然度接近人工交互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11857" y="2629810"/>
            <a:ext cx="5301231" cy="166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理解深层意图,主动澄清问题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2620" y="3062564"/>
            <a:ext cx="5509286" cy="1098528"/>
          </a:xfrm>
          <a:custGeom>
            <a:avLst/>
            <a:gdLst/>
            <a:ahLst/>
            <a:cxnLst/>
            <a:rect l="l" t="t" r="r" b="b"/>
            <a:pathLst>
              <a:path w="5509286" h="1098528">
                <a:moveTo>
                  <a:pt x="66582" y="0"/>
                </a:moveTo>
                <a:lnTo>
                  <a:pt x="5442704" y="0"/>
                </a:lnTo>
                <a:cubicBezTo>
                  <a:pt x="5479476" y="0"/>
                  <a:pt x="5509286" y="29810"/>
                  <a:pt x="5509286" y="66582"/>
                </a:cubicBezTo>
                <a:lnTo>
                  <a:pt x="5509286" y="1031947"/>
                </a:lnTo>
                <a:cubicBezTo>
                  <a:pt x="5509286" y="1068719"/>
                  <a:pt x="5479476" y="1098528"/>
                  <a:pt x="5442704" y="1098528"/>
                </a:cubicBezTo>
                <a:lnTo>
                  <a:pt x="66582" y="1098528"/>
                </a:lnTo>
                <a:cubicBezTo>
                  <a:pt x="29810" y="1098528"/>
                  <a:pt x="0" y="1068719"/>
                  <a:pt x="0" y="1031947"/>
                </a:cubicBezTo>
                <a:lnTo>
                  <a:pt x="0" y="66582"/>
                </a:lnTo>
                <a:cubicBezTo>
                  <a:pt x="0" y="29834"/>
                  <a:pt x="29834" y="0"/>
                  <a:pt x="66582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665775" y="3195719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166444" y="0"/>
                </a:moveTo>
                <a:lnTo>
                  <a:pt x="166444" y="0"/>
                </a:lnTo>
                <a:cubicBezTo>
                  <a:pt x="258368" y="0"/>
                  <a:pt x="332887" y="74519"/>
                  <a:pt x="332887" y="166444"/>
                </a:cubicBezTo>
                <a:lnTo>
                  <a:pt x="332887" y="166444"/>
                </a:lnTo>
                <a:cubicBezTo>
                  <a:pt x="332887" y="258368"/>
                  <a:pt x="258368" y="332887"/>
                  <a:pt x="166444" y="332887"/>
                </a:cubicBezTo>
                <a:lnTo>
                  <a:pt x="166444" y="332887"/>
                </a:lnTo>
                <a:cubicBezTo>
                  <a:pt x="74519" y="332887"/>
                  <a:pt x="0" y="258368"/>
                  <a:pt x="0" y="166444"/>
                </a:cubicBezTo>
                <a:lnTo>
                  <a:pt x="0" y="166444"/>
                </a:lnTo>
                <a:cubicBezTo>
                  <a:pt x="0" y="74519"/>
                  <a:pt x="74519" y="0"/>
                  <a:pt x="166444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25" name="Text 22"/>
          <p:cNvSpPr/>
          <p:nvPr/>
        </p:nvSpPr>
        <p:spPr>
          <a:xfrm>
            <a:off x="628325" y="3195719"/>
            <a:ext cx="407787" cy="3328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65240" y="3245652"/>
            <a:ext cx="748997" cy="2330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架构创新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65775" y="3595184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轻量化可扩展架构,Docker一键部署,开发周期缩短50%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5775" y="3861494"/>
            <a:ext cx="5301231" cy="166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适配中小社区算力,降低部署门槛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78702" y="3062564"/>
            <a:ext cx="5509286" cy="1098528"/>
          </a:xfrm>
          <a:custGeom>
            <a:avLst/>
            <a:gdLst/>
            <a:ahLst/>
            <a:cxnLst/>
            <a:rect l="l" t="t" r="r" b="b"/>
            <a:pathLst>
              <a:path w="5509286" h="1098528">
                <a:moveTo>
                  <a:pt x="66582" y="0"/>
                </a:moveTo>
                <a:lnTo>
                  <a:pt x="5442704" y="0"/>
                </a:lnTo>
                <a:cubicBezTo>
                  <a:pt x="5479476" y="0"/>
                  <a:pt x="5509286" y="29810"/>
                  <a:pt x="5509286" y="66582"/>
                </a:cubicBezTo>
                <a:lnTo>
                  <a:pt x="5509286" y="1031947"/>
                </a:lnTo>
                <a:cubicBezTo>
                  <a:pt x="5509286" y="1068719"/>
                  <a:pt x="5479476" y="1098528"/>
                  <a:pt x="5442704" y="1098528"/>
                </a:cubicBezTo>
                <a:lnTo>
                  <a:pt x="66582" y="1098528"/>
                </a:lnTo>
                <a:cubicBezTo>
                  <a:pt x="29810" y="1098528"/>
                  <a:pt x="0" y="1068719"/>
                  <a:pt x="0" y="1031947"/>
                </a:cubicBezTo>
                <a:lnTo>
                  <a:pt x="0" y="66582"/>
                </a:lnTo>
                <a:cubicBezTo>
                  <a:pt x="0" y="29834"/>
                  <a:pt x="29834" y="0"/>
                  <a:pt x="66582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6311857" y="3195719"/>
            <a:ext cx="332887" cy="332887"/>
          </a:xfrm>
          <a:custGeom>
            <a:avLst/>
            <a:gdLst/>
            <a:ahLst/>
            <a:cxnLst/>
            <a:rect l="l" t="t" r="r" b="b"/>
            <a:pathLst>
              <a:path w="332887" h="332887">
                <a:moveTo>
                  <a:pt x="166444" y="0"/>
                </a:moveTo>
                <a:lnTo>
                  <a:pt x="166444" y="0"/>
                </a:lnTo>
                <a:cubicBezTo>
                  <a:pt x="258368" y="0"/>
                  <a:pt x="332887" y="74519"/>
                  <a:pt x="332887" y="166444"/>
                </a:cubicBezTo>
                <a:lnTo>
                  <a:pt x="332887" y="166444"/>
                </a:lnTo>
                <a:cubicBezTo>
                  <a:pt x="332887" y="258368"/>
                  <a:pt x="258368" y="332887"/>
                  <a:pt x="166444" y="332887"/>
                </a:cubicBezTo>
                <a:lnTo>
                  <a:pt x="166444" y="332887"/>
                </a:lnTo>
                <a:cubicBezTo>
                  <a:pt x="74519" y="332887"/>
                  <a:pt x="0" y="258368"/>
                  <a:pt x="0" y="166444"/>
                </a:cubicBezTo>
                <a:lnTo>
                  <a:pt x="0" y="166444"/>
                </a:lnTo>
                <a:cubicBezTo>
                  <a:pt x="0" y="74519"/>
                  <a:pt x="74519" y="0"/>
                  <a:pt x="166444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31" name="Text 28"/>
          <p:cNvSpPr/>
          <p:nvPr/>
        </p:nvSpPr>
        <p:spPr>
          <a:xfrm>
            <a:off x="6274407" y="3195719"/>
            <a:ext cx="407787" cy="33288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711322" y="3245652"/>
            <a:ext cx="748997" cy="2330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模式创新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11857" y="3595184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反馈驱动的自动迭代闭环,无需人工持续介入即可提升效果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11857" y="3861494"/>
            <a:ext cx="5301231" cy="1664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系统自我进化,持续优化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32887" y="4460691"/>
            <a:ext cx="11526225" cy="2063902"/>
          </a:xfrm>
          <a:custGeom>
            <a:avLst/>
            <a:gdLst/>
            <a:ahLst/>
            <a:cxnLst/>
            <a:rect l="l" t="t" r="r" b="b"/>
            <a:pathLst>
              <a:path w="11526225" h="2063902">
                <a:moveTo>
                  <a:pt x="99872" y="0"/>
                </a:moveTo>
                <a:lnTo>
                  <a:pt x="11426353" y="0"/>
                </a:lnTo>
                <a:cubicBezTo>
                  <a:pt x="11481511" y="0"/>
                  <a:pt x="11526225" y="44714"/>
                  <a:pt x="11526225" y="99872"/>
                </a:cubicBezTo>
                <a:lnTo>
                  <a:pt x="11526225" y="1964030"/>
                </a:lnTo>
                <a:cubicBezTo>
                  <a:pt x="11526225" y="2019187"/>
                  <a:pt x="11481511" y="2063902"/>
                  <a:pt x="11426353" y="2063902"/>
                </a:cubicBezTo>
                <a:lnTo>
                  <a:pt x="99872" y="2063902"/>
                </a:lnTo>
                <a:cubicBezTo>
                  <a:pt x="44714" y="2063902"/>
                  <a:pt x="0" y="2019187"/>
                  <a:pt x="0" y="1964030"/>
                </a:cubicBezTo>
                <a:lnTo>
                  <a:pt x="0" y="99872"/>
                </a:lnTo>
                <a:cubicBezTo>
                  <a:pt x="0" y="44751"/>
                  <a:pt x="44751" y="0"/>
                  <a:pt x="99872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99331" y="4627134"/>
            <a:ext cx="11293204" cy="266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竞争优势对比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99331" y="5026599"/>
            <a:ext cx="5509286" cy="1331549"/>
          </a:xfrm>
          <a:custGeom>
            <a:avLst/>
            <a:gdLst/>
            <a:ahLst/>
            <a:cxnLst/>
            <a:rect l="l" t="t" r="r" b="b"/>
            <a:pathLst>
              <a:path w="5509286" h="1331549">
                <a:moveTo>
                  <a:pt x="66577" y="0"/>
                </a:moveTo>
                <a:lnTo>
                  <a:pt x="5442709" y="0"/>
                </a:lnTo>
                <a:cubicBezTo>
                  <a:pt x="5479478" y="0"/>
                  <a:pt x="5509286" y="29808"/>
                  <a:pt x="5509286" y="66577"/>
                </a:cubicBezTo>
                <a:lnTo>
                  <a:pt x="5509286" y="1264972"/>
                </a:lnTo>
                <a:cubicBezTo>
                  <a:pt x="5509286" y="1301742"/>
                  <a:pt x="5479478" y="1331549"/>
                  <a:pt x="5442709" y="1331549"/>
                </a:cubicBezTo>
                <a:lnTo>
                  <a:pt x="66577" y="1331549"/>
                </a:lnTo>
                <a:cubicBezTo>
                  <a:pt x="29808" y="1331549"/>
                  <a:pt x="0" y="1301742"/>
                  <a:pt x="0" y="1264972"/>
                </a:cubicBezTo>
                <a:lnTo>
                  <a:pt x="0" y="66577"/>
                </a:lnTo>
                <a:cubicBezTo>
                  <a:pt x="0" y="29808"/>
                  <a:pt x="29808" y="0"/>
                  <a:pt x="6657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632486" y="5159754"/>
            <a:ext cx="5326198" cy="2330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00E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对比传统问答工具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2486" y="5492642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检索精度更高: 90% vs 65%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32486" y="5758952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交互更自然: 多轮对话支持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32486" y="6025261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来源可追溯: 提供参考链接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178702" y="5026599"/>
            <a:ext cx="5509286" cy="1331549"/>
          </a:xfrm>
          <a:custGeom>
            <a:avLst/>
            <a:gdLst/>
            <a:ahLst/>
            <a:cxnLst/>
            <a:rect l="l" t="t" r="r" b="b"/>
            <a:pathLst>
              <a:path w="5509286" h="1331549">
                <a:moveTo>
                  <a:pt x="66577" y="0"/>
                </a:moveTo>
                <a:lnTo>
                  <a:pt x="5442709" y="0"/>
                </a:lnTo>
                <a:cubicBezTo>
                  <a:pt x="5479478" y="0"/>
                  <a:pt x="5509286" y="29808"/>
                  <a:pt x="5509286" y="66577"/>
                </a:cubicBezTo>
                <a:lnTo>
                  <a:pt x="5509286" y="1264972"/>
                </a:lnTo>
                <a:cubicBezTo>
                  <a:pt x="5509286" y="1301742"/>
                  <a:pt x="5479478" y="1331549"/>
                  <a:pt x="5442709" y="1331549"/>
                </a:cubicBezTo>
                <a:lnTo>
                  <a:pt x="66577" y="1331549"/>
                </a:lnTo>
                <a:cubicBezTo>
                  <a:pt x="29808" y="1331549"/>
                  <a:pt x="0" y="1301742"/>
                  <a:pt x="0" y="1264972"/>
                </a:cubicBezTo>
                <a:lnTo>
                  <a:pt x="0" y="66577"/>
                </a:lnTo>
                <a:cubicBezTo>
                  <a:pt x="0" y="29808"/>
                  <a:pt x="29808" y="0"/>
                  <a:pt x="6657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6311857" y="5159754"/>
            <a:ext cx="5326198" cy="2330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00E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对比商业答疑系统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11857" y="5492642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开源免费: 零成本使用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311857" y="5758952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可私有化部署: 数据安全可控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311857" y="6025261"/>
            <a:ext cx="5309554" cy="199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适配技术社区: 场景化定制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8811" y="370296"/>
            <a:ext cx="2277321" cy="296237"/>
          </a:xfrm>
          <a:custGeom>
            <a:avLst/>
            <a:gdLst/>
            <a:ahLst/>
            <a:cxnLst/>
            <a:rect l="l" t="t" r="r" b="b"/>
            <a:pathLst>
              <a:path w="2277321" h="296237">
                <a:moveTo>
                  <a:pt x="0" y="0"/>
                </a:moveTo>
                <a:lnTo>
                  <a:pt x="2277321" y="0"/>
                </a:lnTo>
                <a:lnTo>
                  <a:pt x="2277321" y="296237"/>
                </a:lnTo>
                <a:lnTo>
                  <a:pt x="0" y="296237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88811" y="370296"/>
            <a:ext cx="37030" cy="296237"/>
          </a:xfrm>
          <a:custGeom>
            <a:avLst/>
            <a:gdLst/>
            <a:ahLst/>
            <a:cxnLst/>
            <a:rect l="l" t="t" r="r" b="b"/>
            <a:pathLst>
              <a:path w="37030" h="296237">
                <a:moveTo>
                  <a:pt x="0" y="0"/>
                </a:moveTo>
                <a:lnTo>
                  <a:pt x="37030" y="0"/>
                </a:lnTo>
                <a:lnTo>
                  <a:pt x="37030" y="296237"/>
                </a:lnTo>
                <a:lnTo>
                  <a:pt x="0" y="296237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55625" y="368300"/>
            <a:ext cx="2277110" cy="247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 SCENARIOS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0296" y="740592"/>
            <a:ext cx="11618041" cy="370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0296" y="1184948"/>
            <a:ext cx="740592" cy="37030"/>
          </a:xfrm>
          <a:custGeom>
            <a:avLst/>
            <a:gdLst/>
            <a:ahLst/>
            <a:cxnLst/>
            <a:rect l="l" t="t" r="r" b="b"/>
            <a:pathLst>
              <a:path w="740592" h="37030">
                <a:moveTo>
                  <a:pt x="0" y="0"/>
                </a:moveTo>
                <a:lnTo>
                  <a:pt x="740592" y="0"/>
                </a:lnTo>
                <a:lnTo>
                  <a:pt x="740592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70296" y="1425640"/>
            <a:ext cx="3721476" cy="4239891"/>
          </a:xfrm>
          <a:custGeom>
            <a:avLst/>
            <a:gdLst/>
            <a:ahLst/>
            <a:cxnLst/>
            <a:rect l="l" t="t" r="r" b="b"/>
            <a:pathLst>
              <a:path w="3721476" h="4239891">
                <a:moveTo>
                  <a:pt x="37030" y="0"/>
                </a:moveTo>
                <a:lnTo>
                  <a:pt x="3684446" y="0"/>
                </a:lnTo>
                <a:cubicBezTo>
                  <a:pt x="3704897" y="0"/>
                  <a:pt x="3721476" y="16579"/>
                  <a:pt x="3721476" y="37030"/>
                </a:cubicBezTo>
                <a:lnTo>
                  <a:pt x="3721476" y="4128805"/>
                </a:lnTo>
                <a:cubicBezTo>
                  <a:pt x="3721476" y="4190156"/>
                  <a:pt x="3671741" y="4239891"/>
                  <a:pt x="3610390" y="4239891"/>
                </a:cubicBezTo>
                <a:lnTo>
                  <a:pt x="111086" y="4239891"/>
                </a:lnTo>
                <a:cubicBezTo>
                  <a:pt x="49735" y="4239891"/>
                  <a:pt x="0" y="4190156"/>
                  <a:pt x="0" y="4128805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861" dist="92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0296" y="1425640"/>
            <a:ext cx="3721476" cy="37030"/>
          </a:xfrm>
          <a:custGeom>
            <a:avLst/>
            <a:gdLst/>
            <a:ahLst/>
            <a:cxnLst/>
            <a:rect l="l" t="t" r="r" b="b"/>
            <a:pathLst>
              <a:path w="3721476" h="37030">
                <a:moveTo>
                  <a:pt x="37030" y="0"/>
                </a:moveTo>
                <a:lnTo>
                  <a:pt x="3684446" y="0"/>
                </a:lnTo>
                <a:cubicBezTo>
                  <a:pt x="3704897" y="0"/>
                  <a:pt x="3721476" y="16579"/>
                  <a:pt x="3721476" y="37030"/>
                </a:cubicBezTo>
                <a:lnTo>
                  <a:pt x="3721476" y="37030"/>
                </a:lnTo>
                <a:lnTo>
                  <a:pt x="0" y="37030"/>
                </a:ln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555444" y="1629303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259207" y="0"/>
                </a:moveTo>
                <a:lnTo>
                  <a:pt x="259207" y="0"/>
                </a:lnTo>
                <a:cubicBezTo>
                  <a:pt x="402268" y="0"/>
                  <a:pt x="518415" y="116147"/>
                  <a:pt x="518415" y="259207"/>
                </a:cubicBezTo>
                <a:lnTo>
                  <a:pt x="518415" y="259207"/>
                </a:lnTo>
                <a:cubicBezTo>
                  <a:pt x="518415" y="402268"/>
                  <a:pt x="402268" y="518415"/>
                  <a:pt x="259207" y="518415"/>
                </a:cubicBezTo>
                <a:lnTo>
                  <a:pt x="259207" y="518415"/>
                </a:lnTo>
                <a:cubicBezTo>
                  <a:pt x="116147" y="518415"/>
                  <a:pt x="0" y="402268"/>
                  <a:pt x="0" y="259207"/>
                </a:cubicBezTo>
                <a:lnTo>
                  <a:pt x="0" y="259207"/>
                </a:lnTo>
                <a:cubicBezTo>
                  <a:pt x="0" y="116147"/>
                  <a:pt x="116147" y="0"/>
                  <a:pt x="259207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660747" y="1749649"/>
            <a:ext cx="312437" cy="277722"/>
          </a:xfrm>
          <a:custGeom>
            <a:avLst/>
            <a:gdLst/>
            <a:ahLst/>
            <a:cxnLst/>
            <a:rect l="l" t="t" r="r" b="b"/>
            <a:pathLst>
              <a:path w="312437" h="277722">
                <a:moveTo>
                  <a:pt x="26036" y="106207"/>
                </a:moveTo>
                <a:lnTo>
                  <a:pt x="139512" y="152910"/>
                </a:lnTo>
                <a:cubicBezTo>
                  <a:pt x="144828" y="155080"/>
                  <a:pt x="150469" y="156219"/>
                  <a:pt x="156219" y="156219"/>
                </a:cubicBezTo>
                <a:cubicBezTo>
                  <a:pt x="161968" y="156219"/>
                  <a:pt x="167610" y="155080"/>
                  <a:pt x="172925" y="152910"/>
                </a:cubicBezTo>
                <a:lnTo>
                  <a:pt x="304409" y="98776"/>
                </a:lnTo>
                <a:cubicBezTo>
                  <a:pt x="309291" y="96769"/>
                  <a:pt x="312437" y="92050"/>
                  <a:pt x="312437" y="86788"/>
                </a:cubicBezTo>
                <a:cubicBezTo>
                  <a:pt x="312437" y="81527"/>
                  <a:pt x="309291" y="76808"/>
                  <a:pt x="304409" y="74801"/>
                </a:cubicBezTo>
                <a:lnTo>
                  <a:pt x="172925" y="20666"/>
                </a:lnTo>
                <a:cubicBezTo>
                  <a:pt x="167610" y="18497"/>
                  <a:pt x="161968" y="17358"/>
                  <a:pt x="156219" y="17358"/>
                </a:cubicBezTo>
                <a:cubicBezTo>
                  <a:pt x="150469" y="17358"/>
                  <a:pt x="144828" y="18497"/>
                  <a:pt x="139512" y="20666"/>
                </a:cubicBezTo>
                <a:lnTo>
                  <a:pt x="8028" y="74801"/>
                </a:lnTo>
                <a:cubicBezTo>
                  <a:pt x="3146" y="76808"/>
                  <a:pt x="0" y="81527"/>
                  <a:pt x="0" y="86788"/>
                </a:cubicBezTo>
                <a:lnTo>
                  <a:pt x="0" y="247346"/>
                </a:lnTo>
                <a:cubicBezTo>
                  <a:pt x="0" y="254561"/>
                  <a:pt x="5804" y="260364"/>
                  <a:pt x="13018" y="260364"/>
                </a:cubicBezTo>
                <a:cubicBezTo>
                  <a:pt x="20232" y="260364"/>
                  <a:pt x="26036" y="254561"/>
                  <a:pt x="26036" y="247346"/>
                </a:cubicBezTo>
                <a:lnTo>
                  <a:pt x="26036" y="106207"/>
                </a:lnTo>
                <a:close/>
                <a:moveTo>
                  <a:pt x="52073" y="145099"/>
                </a:moveTo>
                <a:lnTo>
                  <a:pt x="52073" y="208292"/>
                </a:lnTo>
                <a:cubicBezTo>
                  <a:pt x="52073" y="237040"/>
                  <a:pt x="98722" y="260364"/>
                  <a:pt x="156219" y="260364"/>
                </a:cubicBezTo>
                <a:cubicBezTo>
                  <a:pt x="213716" y="260364"/>
                  <a:pt x="260364" y="237040"/>
                  <a:pt x="260364" y="208292"/>
                </a:cubicBezTo>
                <a:lnTo>
                  <a:pt x="260364" y="145045"/>
                </a:lnTo>
                <a:lnTo>
                  <a:pt x="182852" y="176994"/>
                </a:lnTo>
                <a:cubicBezTo>
                  <a:pt x="174390" y="180465"/>
                  <a:pt x="165386" y="182255"/>
                  <a:pt x="156219" y="182255"/>
                </a:cubicBezTo>
                <a:cubicBezTo>
                  <a:pt x="147052" y="182255"/>
                  <a:pt x="138047" y="180465"/>
                  <a:pt x="129586" y="176994"/>
                </a:cubicBezTo>
                <a:lnTo>
                  <a:pt x="52073" y="145045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12" name="Text 9"/>
          <p:cNvSpPr/>
          <p:nvPr/>
        </p:nvSpPr>
        <p:spPr>
          <a:xfrm>
            <a:off x="1184948" y="1740392"/>
            <a:ext cx="1444155" cy="2962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高校科创平台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5444" y="2258806"/>
            <a:ext cx="3351180" cy="925740"/>
          </a:xfrm>
          <a:custGeom>
            <a:avLst/>
            <a:gdLst/>
            <a:ahLst/>
            <a:cxnLst/>
            <a:rect l="l" t="t" r="r" b="b"/>
            <a:pathLst>
              <a:path w="3351180" h="925740">
                <a:moveTo>
                  <a:pt x="74059" y="0"/>
                </a:moveTo>
                <a:lnTo>
                  <a:pt x="3277121" y="0"/>
                </a:lnTo>
                <a:cubicBezTo>
                  <a:pt x="3318023" y="0"/>
                  <a:pt x="3351180" y="33157"/>
                  <a:pt x="3351180" y="74059"/>
                </a:cubicBezTo>
                <a:lnTo>
                  <a:pt x="3351180" y="851681"/>
                </a:lnTo>
                <a:cubicBezTo>
                  <a:pt x="3351180" y="892583"/>
                  <a:pt x="3318023" y="925740"/>
                  <a:pt x="3277121" y="925740"/>
                </a:cubicBezTo>
                <a:lnTo>
                  <a:pt x="74059" y="925740"/>
                </a:lnTo>
                <a:cubicBezTo>
                  <a:pt x="33157" y="925740"/>
                  <a:pt x="0" y="892583"/>
                  <a:pt x="0" y="851681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4" name="Text 11"/>
          <p:cNvSpPr/>
          <p:nvPr/>
        </p:nvSpPr>
        <p:spPr>
          <a:xfrm>
            <a:off x="666533" y="2369895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6533" y="2629103"/>
            <a:ext cx="3203062" cy="444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为学生科创项目提供技术答疑,降低指导老师负担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5444" y="3295636"/>
            <a:ext cx="3351180" cy="1147918"/>
          </a:xfrm>
          <a:custGeom>
            <a:avLst/>
            <a:gdLst/>
            <a:ahLst/>
            <a:cxnLst/>
            <a:rect l="l" t="t" r="r" b="b"/>
            <a:pathLst>
              <a:path w="3351180" h="1147918">
                <a:moveTo>
                  <a:pt x="74064" y="0"/>
                </a:moveTo>
                <a:lnTo>
                  <a:pt x="3277116" y="0"/>
                </a:lnTo>
                <a:cubicBezTo>
                  <a:pt x="3318021" y="0"/>
                  <a:pt x="3351180" y="33159"/>
                  <a:pt x="3351180" y="74064"/>
                </a:cubicBezTo>
                <a:lnTo>
                  <a:pt x="3351180" y="1073854"/>
                </a:lnTo>
                <a:cubicBezTo>
                  <a:pt x="3351180" y="1114759"/>
                  <a:pt x="3318021" y="1147918"/>
                  <a:pt x="3277116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17" name="Text 14"/>
          <p:cNvSpPr/>
          <p:nvPr/>
        </p:nvSpPr>
        <p:spPr>
          <a:xfrm>
            <a:off x="666533" y="3406724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6533" y="3665932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学生项目开发中的技术问题解答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6533" y="3888109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编程竞赛、创新大赛的技术支持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6533" y="4110287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跨专业协作的技术知识桥梁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5444" y="4554642"/>
            <a:ext cx="3351180" cy="925740"/>
          </a:xfrm>
          <a:custGeom>
            <a:avLst/>
            <a:gdLst/>
            <a:ahLst/>
            <a:cxnLst/>
            <a:rect l="l" t="t" r="r" b="b"/>
            <a:pathLst>
              <a:path w="3351180" h="925740">
                <a:moveTo>
                  <a:pt x="74059" y="0"/>
                </a:moveTo>
                <a:lnTo>
                  <a:pt x="3277121" y="0"/>
                </a:lnTo>
                <a:cubicBezTo>
                  <a:pt x="3318023" y="0"/>
                  <a:pt x="3351180" y="33157"/>
                  <a:pt x="3351180" y="74059"/>
                </a:cubicBezTo>
                <a:lnTo>
                  <a:pt x="3351180" y="851681"/>
                </a:lnTo>
                <a:cubicBezTo>
                  <a:pt x="3351180" y="892583"/>
                  <a:pt x="3318023" y="925740"/>
                  <a:pt x="3277121" y="925740"/>
                </a:cubicBezTo>
                <a:lnTo>
                  <a:pt x="74059" y="925740"/>
                </a:lnTo>
                <a:cubicBezTo>
                  <a:pt x="33157" y="925740"/>
                  <a:pt x="0" y="892583"/>
                  <a:pt x="0" y="851681"/>
                </a:cubicBezTo>
                <a:lnTo>
                  <a:pt x="0" y="74059"/>
                </a:lnTo>
                <a:cubicBezTo>
                  <a:pt x="0" y="33157"/>
                  <a:pt x="33157" y="0"/>
                  <a:pt x="74059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666533" y="4665731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6533" y="4924938"/>
            <a:ext cx="3203062" cy="444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学生问题解决效率提升</a:t>
            </a:r>
            <a:r>
              <a:rPr lang="en-US" sz="1165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,老师答疑负担减轻</a:t>
            </a:r>
            <a:r>
              <a:rPr lang="en-US" sz="1165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37793" y="1425640"/>
            <a:ext cx="3721476" cy="4239891"/>
          </a:xfrm>
          <a:custGeom>
            <a:avLst/>
            <a:gdLst/>
            <a:ahLst/>
            <a:cxnLst/>
            <a:rect l="l" t="t" r="r" b="b"/>
            <a:pathLst>
              <a:path w="3721476" h="4239891">
                <a:moveTo>
                  <a:pt x="37030" y="0"/>
                </a:moveTo>
                <a:lnTo>
                  <a:pt x="3684446" y="0"/>
                </a:lnTo>
                <a:cubicBezTo>
                  <a:pt x="3704897" y="0"/>
                  <a:pt x="3721476" y="16579"/>
                  <a:pt x="3721476" y="37030"/>
                </a:cubicBezTo>
                <a:lnTo>
                  <a:pt x="3721476" y="4128805"/>
                </a:lnTo>
                <a:cubicBezTo>
                  <a:pt x="3721476" y="4190156"/>
                  <a:pt x="3671741" y="4239891"/>
                  <a:pt x="3610390" y="4239891"/>
                </a:cubicBezTo>
                <a:lnTo>
                  <a:pt x="111086" y="4239891"/>
                </a:lnTo>
                <a:cubicBezTo>
                  <a:pt x="49735" y="4239891"/>
                  <a:pt x="0" y="4190156"/>
                  <a:pt x="0" y="4128805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861" dist="92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37793" y="1425640"/>
            <a:ext cx="3721476" cy="37030"/>
          </a:xfrm>
          <a:custGeom>
            <a:avLst/>
            <a:gdLst/>
            <a:ahLst/>
            <a:cxnLst/>
            <a:rect l="l" t="t" r="r" b="b"/>
            <a:pathLst>
              <a:path w="3721476" h="37030">
                <a:moveTo>
                  <a:pt x="37030" y="0"/>
                </a:moveTo>
                <a:lnTo>
                  <a:pt x="3684446" y="0"/>
                </a:lnTo>
                <a:cubicBezTo>
                  <a:pt x="3704897" y="0"/>
                  <a:pt x="3721476" y="16579"/>
                  <a:pt x="3721476" y="37030"/>
                </a:cubicBezTo>
                <a:lnTo>
                  <a:pt x="3721476" y="37030"/>
                </a:lnTo>
                <a:lnTo>
                  <a:pt x="0" y="37030"/>
                </a:ln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6" name="Shape 23"/>
          <p:cNvSpPr/>
          <p:nvPr/>
        </p:nvSpPr>
        <p:spPr>
          <a:xfrm>
            <a:off x="4422941" y="1629303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259207" y="0"/>
                </a:moveTo>
                <a:lnTo>
                  <a:pt x="259207" y="0"/>
                </a:lnTo>
                <a:cubicBezTo>
                  <a:pt x="402268" y="0"/>
                  <a:pt x="518415" y="116147"/>
                  <a:pt x="518415" y="259207"/>
                </a:cubicBezTo>
                <a:lnTo>
                  <a:pt x="518415" y="259207"/>
                </a:lnTo>
                <a:cubicBezTo>
                  <a:pt x="518415" y="402268"/>
                  <a:pt x="402268" y="518415"/>
                  <a:pt x="259207" y="518415"/>
                </a:cubicBezTo>
                <a:lnTo>
                  <a:pt x="259207" y="518415"/>
                </a:lnTo>
                <a:cubicBezTo>
                  <a:pt x="116147" y="518415"/>
                  <a:pt x="0" y="402268"/>
                  <a:pt x="0" y="259207"/>
                </a:cubicBezTo>
                <a:lnTo>
                  <a:pt x="0" y="259207"/>
                </a:lnTo>
                <a:cubicBezTo>
                  <a:pt x="0" y="116147"/>
                  <a:pt x="116147" y="0"/>
                  <a:pt x="259207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4562960" y="1749649"/>
            <a:ext cx="243007" cy="277722"/>
          </a:xfrm>
          <a:custGeom>
            <a:avLst/>
            <a:gdLst/>
            <a:ahLst/>
            <a:cxnLst/>
            <a:rect l="l" t="t" r="r" b="b"/>
            <a:pathLst>
              <a:path w="243007" h="277722">
                <a:moveTo>
                  <a:pt x="43394" y="56412"/>
                </a:moveTo>
                <a:cubicBezTo>
                  <a:pt x="50579" y="56412"/>
                  <a:pt x="56412" y="50579"/>
                  <a:pt x="56412" y="43394"/>
                </a:cubicBezTo>
                <a:cubicBezTo>
                  <a:pt x="56412" y="36209"/>
                  <a:pt x="50579" y="30376"/>
                  <a:pt x="43394" y="30376"/>
                </a:cubicBezTo>
                <a:cubicBezTo>
                  <a:pt x="36209" y="30376"/>
                  <a:pt x="30376" y="36209"/>
                  <a:pt x="30376" y="43394"/>
                </a:cubicBezTo>
                <a:cubicBezTo>
                  <a:pt x="30376" y="50579"/>
                  <a:pt x="36209" y="56412"/>
                  <a:pt x="43394" y="56412"/>
                </a:cubicBezTo>
                <a:close/>
                <a:moveTo>
                  <a:pt x="86788" y="43394"/>
                </a:moveTo>
                <a:cubicBezTo>
                  <a:pt x="86788" y="61186"/>
                  <a:pt x="76102" y="76482"/>
                  <a:pt x="60752" y="83154"/>
                </a:cubicBezTo>
                <a:lnTo>
                  <a:pt x="60752" y="121503"/>
                </a:lnTo>
                <a:lnTo>
                  <a:pt x="156219" y="121503"/>
                </a:lnTo>
                <a:cubicBezTo>
                  <a:pt x="170593" y="121503"/>
                  <a:pt x="182255" y="109841"/>
                  <a:pt x="182255" y="95467"/>
                </a:cubicBezTo>
                <a:lnTo>
                  <a:pt x="182255" y="83154"/>
                </a:lnTo>
                <a:cubicBezTo>
                  <a:pt x="166904" y="76482"/>
                  <a:pt x="156219" y="61186"/>
                  <a:pt x="156219" y="43394"/>
                </a:cubicBezTo>
                <a:cubicBezTo>
                  <a:pt x="156219" y="19419"/>
                  <a:pt x="175638" y="0"/>
                  <a:pt x="199613" y="0"/>
                </a:cubicBezTo>
                <a:cubicBezTo>
                  <a:pt x="223588" y="0"/>
                  <a:pt x="243007" y="19419"/>
                  <a:pt x="243007" y="43394"/>
                </a:cubicBezTo>
                <a:cubicBezTo>
                  <a:pt x="243007" y="61186"/>
                  <a:pt x="232321" y="76482"/>
                  <a:pt x="216970" y="83154"/>
                </a:cubicBezTo>
                <a:lnTo>
                  <a:pt x="216970" y="95467"/>
                </a:lnTo>
                <a:cubicBezTo>
                  <a:pt x="216970" y="129043"/>
                  <a:pt x="189795" y="156219"/>
                  <a:pt x="156219" y="156219"/>
                </a:cubicBezTo>
                <a:lnTo>
                  <a:pt x="60752" y="156219"/>
                </a:lnTo>
                <a:lnTo>
                  <a:pt x="60752" y="194568"/>
                </a:lnTo>
                <a:cubicBezTo>
                  <a:pt x="76102" y="201240"/>
                  <a:pt x="86788" y="216536"/>
                  <a:pt x="86788" y="234328"/>
                </a:cubicBezTo>
                <a:cubicBezTo>
                  <a:pt x="86788" y="258303"/>
                  <a:pt x="67369" y="277722"/>
                  <a:pt x="43394" y="277722"/>
                </a:cubicBezTo>
                <a:cubicBezTo>
                  <a:pt x="19419" y="277722"/>
                  <a:pt x="0" y="258303"/>
                  <a:pt x="0" y="234328"/>
                </a:cubicBezTo>
                <a:cubicBezTo>
                  <a:pt x="0" y="216536"/>
                  <a:pt x="10686" y="201240"/>
                  <a:pt x="26036" y="194568"/>
                </a:cubicBezTo>
                <a:lnTo>
                  <a:pt x="26036" y="83208"/>
                </a:lnTo>
                <a:cubicBezTo>
                  <a:pt x="10686" y="76482"/>
                  <a:pt x="0" y="61186"/>
                  <a:pt x="0" y="43394"/>
                </a:cubicBezTo>
                <a:cubicBezTo>
                  <a:pt x="0" y="19419"/>
                  <a:pt x="19419" y="0"/>
                  <a:pt x="43394" y="0"/>
                </a:cubicBezTo>
                <a:cubicBezTo>
                  <a:pt x="67369" y="0"/>
                  <a:pt x="86788" y="19419"/>
                  <a:pt x="86788" y="43394"/>
                </a:cubicBezTo>
                <a:close/>
                <a:moveTo>
                  <a:pt x="212631" y="43394"/>
                </a:moveTo>
                <a:cubicBezTo>
                  <a:pt x="212631" y="36209"/>
                  <a:pt x="206798" y="30376"/>
                  <a:pt x="199613" y="30376"/>
                </a:cubicBezTo>
                <a:cubicBezTo>
                  <a:pt x="192428" y="30376"/>
                  <a:pt x="186595" y="36209"/>
                  <a:pt x="186595" y="43394"/>
                </a:cubicBezTo>
                <a:cubicBezTo>
                  <a:pt x="186595" y="50579"/>
                  <a:pt x="192428" y="56412"/>
                  <a:pt x="199613" y="56412"/>
                </a:cubicBezTo>
                <a:cubicBezTo>
                  <a:pt x="206798" y="56412"/>
                  <a:pt x="212631" y="50579"/>
                  <a:pt x="212631" y="43394"/>
                </a:cubicBezTo>
                <a:close/>
                <a:moveTo>
                  <a:pt x="43394" y="247346"/>
                </a:moveTo>
                <a:cubicBezTo>
                  <a:pt x="50579" y="247346"/>
                  <a:pt x="56412" y="241513"/>
                  <a:pt x="56412" y="234328"/>
                </a:cubicBezTo>
                <a:cubicBezTo>
                  <a:pt x="56412" y="227143"/>
                  <a:pt x="50579" y="221310"/>
                  <a:pt x="43394" y="221310"/>
                </a:cubicBezTo>
                <a:cubicBezTo>
                  <a:pt x="36209" y="221310"/>
                  <a:pt x="30376" y="227143"/>
                  <a:pt x="30376" y="234328"/>
                </a:cubicBezTo>
                <a:cubicBezTo>
                  <a:pt x="30376" y="241513"/>
                  <a:pt x="36209" y="247346"/>
                  <a:pt x="43394" y="247346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8" name="Text 25"/>
          <p:cNvSpPr/>
          <p:nvPr/>
        </p:nvSpPr>
        <p:spPr>
          <a:xfrm>
            <a:off x="5052445" y="1740392"/>
            <a:ext cx="999800" cy="2962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开源社区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422941" y="2258806"/>
            <a:ext cx="3351180" cy="703563"/>
          </a:xfrm>
          <a:custGeom>
            <a:avLst/>
            <a:gdLst/>
            <a:ahLst/>
            <a:cxnLst/>
            <a:rect l="l" t="t" r="r" b="b"/>
            <a:pathLst>
              <a:path w="3351180" h="703563">
                <a:moveTo>
                  <a:pt x="74057" y="0"/>
                </a:moveTo>
                <a:lnTo>
                  <a:pt x="3277123" y="0"/>
                </a:lnTo>
                <a:cubicBezTo>
                  <a:pt x="3318024" y="0"/>
                  <a:pt x="3351180" y="33156"/>
                  <a:pt x="3351180" y="74057"/>
                </a:cubicBezTo>
                <a:lnTo>
                  <a:pt x="3351180" y="629506"/>
                </a:lnTo>
                <a:cubicBezTo>
                  <a:pt x="3351180" y="670406"/>
                  <a:pt x="3318024" y="703563"/>
                  <a:pt x="3277123" y="703563"/>
                </a:cubicBezTo>
                <a:lnTo>
                  <a:pt x="74057" y="703563"/>
                </a:lnTo>
                <a:cubicBezTo>
                  <a:pt x="33156" y="703563"/>
                  <a:pt x="0" y="670406"/>
                  <a:pt x="0" y="629506"/>
                </a:cubicBezTo>
                <a:lnTo>
                  <a:pt x="0" y="74057"/>
                </a:lnTo>
                <a:cubicBezTo>
                  <a:pt x="0" y="33156"/>
                  <a:pt x="33156" y="0"/>
                  <a:pt x="7405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0" name="Text 27"/>
          <p:cNvSpPr/>
          <p:nvPr/>
        </p:nvSpPr>
        <p:spPr>
          <a:xfrm>
            <a:off x="4534030" y="2369895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534030" y="2629103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适配中小型开源项目,提升社区答疑效率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422941" y="3073458"/>
            <a:ext cx="3351180" cy="1147918"/>
          </a:xfrm>
          <a:custGeom>
            <a:avLst/>
            <a:gdLst/>
            <a:ahLst/>
            <a:cxnLst/>
            <a:rect l="l" t="t" r="r" b="b"/>
            <a:pathLst>
              <a:path w="3351180" h="1147918">
                <a:moveTo>
                  <a:pt x="74064" y="0"/>
                </a:moveTo>
                <a:lnTo>
                  <a:pt x="3277116" y="0"/>
                </a:lnTo>
                <a:cubicBezTo>
                  <a:pt x="3318021" y="0"/>
                  <a:pt x="3351180" y="33159"/>
                  <a:pt x="3351180" y="74064"/>
                </a:cubicBezTo>
                <a:lnTo>
                  <a:pt x="3351180" y="1073854"/>
                </a:lnTo>
                <a:cubicBezTo>
                  <a:pt x="3351180" y="1114759"/>
                  <a:pt x="3318021" y="1147918"/>
                  <a:pt x="3277116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33" name="Text 30"/>
          <p:cNvSpPr/>
          <p:nvPr/>
        </p:nvSpPr>
        <p:spPr>
          <a:xfrm>
            <a:off x="4534030" y="3184547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34030" y="3443754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Issue/PR的智能回复与处理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534030" y="3665932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社区常见问题自动解答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534030" y="3888109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文档知识的智能检索与推荐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422941" y="4332465"/>
            <a:ext cx="3351180" cy="703563"/>
          </a:xfrm>
          <a:custGeom>
            <a:avLst/>
            <a:gdLst/>
            <a:ahLst/>
            <a:cxnLst/>
            <a:rect l="l" t="t" r="r" b="b"/>
            <a:pathLst>
              <a:path w="3351180" h="703563">
                <a:moveTo>
                  <a:pt x="74057" y="0"/>
                </a:moveTo>
                <a:lnTo>
                  <a:pt x="3277123" y="0"/>
                </a:lnTo>
                <a:cubicBezTo>
                  <a:pt x="3318024" y="0"/>
                  <a:pt x="3351180" y="33156"/>
                  <a:pt x="3351180" y="74057"/>
                </a:cubicBezTo>
                <a:lnTo>
                  <a:pt x="3351180" y="629506"/>
                </a:lnTo>
                <a:cubicBezTo>
                  <a:pt x="3351180" y="670406"/>
                  <a:pt x="3318024" y="703563"/>
                  <a:pt x="3277123" y="703563"/>
                </a:cubicBezTo>
                <a:lnTo>
                  <a:pt x="74057" y="703563"/>
                </a:lnTo>
                <a:cubicBezTo>
                  <a:pt x="33156" y="703563"/>
                  <a:pt x="0" y="670406"/>
                  <a:pt x="0" y="629506"/>
                </a:cubicBezTo>
                <a:lnTo>
                  <a:pt x="0" y="74057"/>
                </a:lnTo>
                <a:cubicBezTo>
                  <a:pt x="0" y="33156"/>
                  <a:pt x="33156" y="0"/>
                  <a:pt x="74057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4534030" y="4443554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534030" y="4702761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重复问题减少</a:t>
            </a:r>
            <a:r>
              <a:rPr lang="en-US" sz="1165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</a:t>
            </a: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,维护者精力释放</a:t>
            </a:r>
            <a:r>
              <a:rPr lang="en-US" sz="1165" b="1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50%+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105290" y="1425640"/>
            <a:ext cx="3721476" cy="4239891"/>
          </a:xfrm>
          <a:custGeom>
            <a:avLst/>
            <a:gdLst/>
            <a:ahLst/>
            <a:cxnLst/>
            <a:rect l="l" t="t" r="r" b="b"/>
            <a:pathLst>
              <a:path w="3721476" h="4239891">
                <a:moveTo>
                  <a:pt x="37030" y="0"/>
                </a:moveTo>
                <a:lnTo>
                  <a:pt x="3684446" y="0"/>
                </a:lnTo>
                <a:cubicBezTo>
                  <a:pt x="3704897" y="0"/>
                  <a:pt x="3721476" y="16579"/>
                  <a:pt x="3721476" y="37030"/>
                </a:cubicBezTo>
                <a:lnTo>
                  <a:pt x="3721476" y="4128805"/>
                </a:lnTo>
                <a:cubicBezTo>
                  <a:pt x="3721476" y="4190156"/>
                  <a:pt x="3671741" y="4239891"/>
                  <a:pt x="3610390" y="4239891"/>
                </a:cubicBezTo>
                <a:lnTo>
                  <a:pt x="111086" y="4239891"/>
                </a:lnTo>
                <a:cubicBezTo>
                  <a:pt x="49735" y="4239891"/>
                  <a:pt x="0" y="4190156"/>
                  <a:pt x="0" y="4128805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8861" dist="92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105290" y="1425640"/>
            <a:ext cx="3721476" cy="37030"/>
          </a:xfrm>
          <a:custGeom>
            <a:avLst/>
            <a:gdLst/>
            <a:ahLst/>
            <a:cxnLst/>
            <a:rect l="l" t="t" r="r" b="b"/>
            <a:pathLst>
              <a:path w="3721476" h="37030">
                <a:moveTo>
                  <a:pt x="37030" y="0"/>
                </a:moveTo>
                <a:lnTo>
                  <a:pt x="3684446" y="0"/>
                </a:lnTo>
                <a:cubicBezTo>
                  <a:pt x="3704897" y="0"/>
                  <a:pt x="3721476" y="16579"/>
                  <a:pt x="3721476" y="37030"/>
                </a:cubicBezTo>
                <a:lnTo>
                  <a:pt x="3721476" y="37030"/>
                </a:lnTo>
                <a:lnTo>
                  <a:pt x="0" y="37030"/>
                </a:ln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2" name="Shape 39"/>
          <p:cNvSpPr/>
          <p:nvPr/>
        </p:nvSpPr>
        <p:spPr>
          <a:xfrm>
            <a:off x="8290438" y="1629303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259207" y="0"/>
                </a:moveTo>
                <a:lnTo>
                  <a:pt x="259207" y="0"/>
                </a:lnTo>
                <a:cubicBezTo>
                  <a:pt x="402268" y="0"/>
                  <a:pt x="518415" y="116147"/>
                  <a:pt x="518415" y="259207"/>
                </a:cubicBezTo>
                <a:lnTo>
                  <a:pt x="518415" y="259207"/>
                </a:lnTo>
                <a:cubicBezTo>
                  <a:pt x="518415" y="402268"/>
                  <a:pt x="402268" y="518415"/>
                  <a:pt x="259207" y="518415"/>
                </a:cubicBezTo>
                <a:lnTo>
                  <a:pt x="259207" y="518415"/>
                </a:lnTo>
                <a:cubicBezTo>
                  <a:pt x="116147" y="518415"/>
                  <a:pt x="0" y="402268"/>
                  <a:pt x="0" y="259207"/>
                </a:cubicBezTo>
                <a:lnTo>
                  <a:pt x="0" y="259207"/>
                </a:lnTo>
                <a:cubicBezTo>
                  <a:pt x="0" y="116147"/>
                  <a:pt x="116147" y="0"/>
                  <a:pt x="259207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8447814" y="1749649"/>
            <a:ext cx="208292" cy="277722"/>
          </a:xfrm>
          <a:custGeom>
            <a:avLst/>
            <a:gdLst/>
            <a:ahLst/>
            <a:cxnLst/>
            <a:rect l="l" t="t" r="r" b="b"/>
            <a:pathLst>
              <a:path w="208292" h="277722">
                <a:moveTo>
                  <a:pt x="34715" y="0"/>
                </a:moveTo>
                <a:cubicBezTo>
                  <a:pt x="15568" y="0"/>
                  <a:pt x="0" y="15568"/>
                  <a:pt x="0" y="34715"/>
                </a:cubicBezTo>
                <a:lnTo>
                  <a:pt x="0" y="243007"/>
                </a:lnTo>
                <a:cubicBezTo>
                  <a:pt x="0" y="262154"/>
                  <a:pt x="15568" y="277722"/>
                  <a:pt x="34715" y="277722"/>
                </a:cubicBezTo>
                <a:lnTo>
                  <a:pt x="173576" y="277722"/>
                </a:lnTo>
                <a:cubicBezTo>
                  <a:pt x="192724" y="277722"/>
                  <a:pt x="208292" y="262154"/>
                  <a:pt x="208292" y="243007"/>
                </a:cubicBezTo>
                <a:lnTo>
                  <a:pt x="208292" y="34715"/>
                </a:lnTo>
                <a:cubicBezTo>
                  <a:pt x="208292" y="15568"/>
                  <a:pt x="192724" y="0"/>
                  <a:pt x="173576" y="0"/>
                </a:cubicBezTo>
                <a:lnTo>
                  <a:pt x="34715" y="0"/>
                </a:lnTo>
                <a:close/>
                <a:moveTo>
                  <a:pt x="95467" y="190934"/>
                </a:moveTo>
                <a:lnTo>
                  <a:pt x="112825" y="190934"/>
                </a:lnTo>
                <a:cubicBezTo>
                  <a:pt x="122426" y="190934"/>
                  <a:pt x="130182" y="198691"/>
                  <a:pt x="130182" y="208292"/>
                </a:cubicBezTo>
                <a:lnTo>
                  <a:pt x="130182" y="251686"/>
                </a:lnTo>
                <a:lnTo>
                  <a:pt x="78109" y="251686"/>
                </a:lnTo>
                <a:lnTo>
                  <a:pt x="78109" y="208292"/>
                </a:lnTo>
                <a:cubicBezTo>
                  <a:pt x="78109" y="198691"/>
                  <a:pt x="85866" y="190934"/>
                  <a:pt x="95467" y="190934"/>
                </a:cubicBezTo>
                <a:close/>
                <a:moveTo>
                  <a:pt x="52073" y="60752"/>
                </a:moveTo>
                <a:cubicBezTo>
                  <a:pt x="52073" y="55978"/>
                  <a:pt x="55978" y="52073"/>
                  <a:pt x="60752" y="52073"/>
                </a:cubicBezTo>
                <a:lnTo>
                  <a:pt x="78109" y="52073"/>
                </a:lnTo>
                <a:cubicBezTo>
                  <a:pt x="82883" y="52073"/>
                  <a:pt x="86788" y="55978"/>
                  <a:pt x="86788" y="60752"/>
                </a:cubicBezTo>
                <a:lnTo>
                  <a:pt x="86788" y="78109"/>
                </a:lnTo>
                <a:cubicBezTo>
                  <a:pt x="86788" y="82883"/>
                  <a:pt x="82883" y="86788"/>
                  <a:pt x="78109" y="86788"/>
                </a:cubicBezTo>
                <a:lnTo>
                  <a:pt x="60752" y="86788"/>
                </a:lnTo>
                <a:cubicBezTo>
                  <a:pt x="55978" y="86788"/>
                  <a:pt x="52073" y="82883"/>
                  <a:pt x="52073" y="78109"/>
                </a:cubicBezTo>
                <a:lnTo>
                  <a:pt x="52073" y="60752"/>
                </a:lnTo>
                <a:close/>
                <a:moveTo>
                  <a:pt x="130182" y="52073"/>
                </a:moveTo>
                <a:lnTo>
                  <a:pt x="147540" y="52073"/>
                </a:lnTo>
                <a:cubicBezTo>
                  <a:pt x="152313" y="52073"/>
                  <a:pt x="156219" y="55978"/>
                  <a:pt x="156219" y="60752"/>
                </a:cubicBezTo>
                <a:lnTo>
                  <a:pt x="156219" y="78109"/>
                </a:lnTo>
                <a:cubicBezTo>
                  <a:pt x="156219" y="82883"/>
                  <a:pt x="152313" y="86788"/>
                  <a:pt x="147540" y="86788"/>
                </a:cubicBezTo>
                <a:lnTo>
                  <a:pt x="130182" y="86788"/>
                </a:lnTo>
                <a:cubicBezTo>
                  <a:pt x="125409" y="86788"/>
                  <a:pt x="121503" y="82883"/>
                  <a:pt x="121503" y="78109"/>
                </a:cubicBezTo>
                <a:lnTo>
                  <a:pt x="121503" y="60752"/>
                </a:lnTo>
                <a:cubicBezTo>
                  <a:pt x="121503" y="55978"/>
                  <a:pt x="125409" y="52073"/>
                  <a:pt x="130182" y="52073"/>
                </a:cubicBezTo>
                <a:close/>
                <a:moveTo>
                  <a:pt x="52073" y="130182"/>
                </a:moveTo>
                <a:cubicBezTo>
                  <a:pt x="52073" y="125409"/>
                  <a:pt x="55978" y="121503"/>
                  <a:pt x="60752" y="121503"/>
                </a:cubicBezTo>
                <a:lnTo>
                  <a:pt x="78109" y="121503"/>
                </a:lnTo>
                <a:cubicBezTo>
                  <a:pt x="82883" y="121503"/>
                  <a:pt x="86788" y="125409"/>
                  <a:pt x="86788" y="130182"/>
                </a:cubicBezTo>
                <a:lnTo>
                  <a:pt x="86788" y="147540"/>
                </a:lnTo>
                <a:cubicBezTo>
                  <a:pt x="86788" y="152313"/>
                  <a:pt x="82883" y="156219"/>
                  <a:pt x="78109" y="156219"/>
                </a:cubicBezTo>
                <a:lnTo>
                  <a:pt x="60752" y="156219"/>
                </a:lnTo>
                <a:cubicBezTo>
                  <a:pt x="55978" y="156219"/>
                  <a:pt x="52073" y="152313"/>
                  <a:pt x="52073" y="147540"/>
                </a:cubicBezTo>
                <a:lnTo>
                  <a:pt x="52073" y="130182"/>
                </a:lnTo>
                <a:close/>
                <a:moveTo>
                  <a:pt x="130182" y="121503"/>
                </a:moveTo>
                <a:lnTo>
                  <a:pt x="147540" y="121503"/>
                </a:lnTo>
                <a:cubicBezTo>
                  <a:pt x="152313" y="121503"/>
                  <a:pt x="156219" y="125409"/>
                  <a:pt x="156219" y="130182"/>
                </a:cubicBezTo>
                <a:lnTo>
                  <a:pt x="156219" y="147540"/>
                </a:lnTo>
                <a:cubicBezTo>
                  <a:pt x="156219" y="152313"/>
                  <a:pt x="152313" y="156219"/>
                  <a:pt x="147540" y="156219"/>
                </a:cubicBezTo>
                <a:lnTo>
                  <a:pt x="130182" y="156219"/>
                </a:lnTo>
                <a:cubicBezTo>
                  <a:pt x="125409" y="156219"/>
                  <a:pt x="121503" y="152313"/>
                  <a:pt x="121503" y="147540"/>
                </a:cubicBezTo>
                <a:lnTo>
                  <a:pt x="121503" y="130182"/>
                </a:lnTo>
                <a:cubicBezTo>
                  <a:pt x="121503" y="125409"/>
                  <a:pt x="125409" y="121503"/>
                  <a:pt x="130182" y="121503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44" name="Text 41"/>
          <p:cNvSpPr/>
          <p:nvPr/>
        </p:nvSpPr>
        <p:spPr>
          <a:xfrm>
            <a:off x="8919942" y="1740392"/>
            <a:ext cx="999800" cy="2962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企业内部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90438" y="2258806"/>
            <a:ext cx="3351180" cy="703563"/>
          </a:xfrm>
          <a:custGeom>
            <a:avLst/>
            <a:gdLst/>
            <a:ahLst/>
            <a:cxnLst/>
            <a:rect l="l" t="t" r="r" b="b"/>
            <a:pathLst>
              <a:path w="3351180" h="703563">
                <a:moveTo>
                  <a:pt x="74057" y="0"/>
                </a:moveTo>
                <a:lnTo>
                  <a:pt x="3277123" y="0"/>
                </a:lnTo>
                <a:cubicBezTo>
                  <a:pt x="3318024" y="0"/>
                  <a:pt x="3351180" y="33156"/>
                  <a:pt x="3351180" y="74057"/>
                </a:cubicBezTo>
                <a:lnTo>
                  <a:pt x="3351180" y="629506"/>
                </a:lnTo>
                <a:cubicBezTo>
                  <a:pt x="3351180" y="670406"/>
                  <a:pt x="3318024" y="703563"/>
                  <a:pt x="3277123" y="703563"/>
                </a:cubicBezTo>
                <a:lnTo>
                  <a:pt x="74057" y="703563"/>
                </a:lnTo>
                <a:cubicBezTo>
                  <a:pt x="33156" y="703563"/>
                  <a:pt x="0" y="670406"/>
                  <a:pt x="0" y="629506"/>
                </a:cubicBezTo>
                <a:lnTo>
                  <a:pt x="0" y="74057"/>
                </a:lnTo>
                <a:cubicBezTo>
                  <a:pt x="0" y="33156"/>
                  <a:pt x="33156" y="0"/>
                  <a:pt x="74057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6" name="Text 43"/>
          <p:cNvSpPr/>
          <p:nvPr/>
        </p:nvSpPr>
        <p:spPr>
          <a:xfrm>
            <a:off x="8401527" y="2369895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401527" y="2629103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企业技术团队内部答疑,沉淀内部知识资产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290438" y="3073458"/>
            <a:ext cx="3351180" cy="1147918"/>
          </a:xfrm>
          <a:custGeom>
            <a:avLst/>
            <a:gdLst/>
            <a:ahLst/>
            <a:cxnLst/>
            <a:rect l="l" t="t" r="r" b="b"/>
            <a:pathLst>
              <a:path w="3351180" h="1147918">
                <a:moveTo>
                  <a:pt x="74064" y="0"/>
                </a:moveTo>
                <a:lnTo>
                  <a:pt x="3277116" y="0"/>
                </a:lnTo>
                <a:cubicBezTo>
                  <a:pt x="3318021" y="0"/>
                  <a:pt x="3351180" y="33159"/>
                  <a:pt x="3351180" y="74064"/>
                </a:cubicBezTo>
                <a:lnTo>
                  <a:pt x="3351180" y="1073854"/>
                </a:lnTo>
                <a:cubicBezTo>
                  <a:pt x="3351180" y="1114759"/>
                  <a:pt x="3318021" y="1147918"/>
                  <a:pt x="3277116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F4F6F8"/>
          </a:solidFill>
        </p:spPr>
      </p:sp>
      <p:sp>
        <p:nvSpPr>
          <p:cNvPr id="49" name="Text 46"/>
          <p:cNvSpPr/>
          <p:nvPr/>
        </p:nvSpPr>
        <p:spPr>
          <a:xfrm>
            <a:off x="8401527" y="3184547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401527" y="3443754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内部技术文档智能检索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401527" y="3665932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项目经验与解决方案沉淀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401527" y="3888109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新员工技术问题快速解答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90438" y="4332465"/>
            <a:ext cx="3351180" cy="703563"/>
          </a:xfrm>
          <a:custGeom>
            <a:avLst/>
            <a:gdLst/>
            <a:ahLst/>
            <a:cxnLst/>
            <a:rect l="l" t="t" r="r" b="b"/>
            <a:pathLst>
              <a:path w="3351180" h="703563">
                <a:moveTo>
                  <a:pt x="74057" y="0"/>
                </a:moveTo>
                <a:lnTo>
                  <a:pt x="3277123" y="0"/>
                </a:lnTo>
                <a:cubicBezTo>
                  <a:pt x="3318024" y="0"/>
                  <a:pt x="3351180" y="33156"/>
                  <a:pt x="3351180" y="74057"/>
                </a:cubicBezTo>
                <a:lnTo>
                  <a:pt x="3351180" y="629506"/>
                </a:lnTo>
                <a:cubicBezTo>
                  <a:pt x="3351180" y="670406"/>
                  <a:pt x="3318024" y="703563"/>
                  <a:pt x="3277123" y="703563"/>
                </a:cubicBezTo>
                <a:lnTo>
                  <a:pt x="74057" y="703563"/>
                </a:lnTo>
                <a:cubicBezTo>
                  <a:pt x="33156" y="703563"/>
                  <a:pt x="0" y="670406"/>
                  <a:pt x="0" y="629506"/>
                </a:cubicBezTo>
                <a:lnTo>
                  <a:pt x="0" y="74057"/>
                </a:lnTo>
                <a:cubicBezTo>
                  <a:pt x="0" y="33156"/>
                  <a:pt x="33156" y="0"/>
                  <a:pt x="74057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8401527" y="4443554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401527" y="4702761"/>
            <a:ext cx="3203062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新人上手时间缩短</a:t>
            </a:r>
            <a:r>
              <a:rPr lang="en-US" sz="1165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</a:t>
            </a:r>
            <a:r>
              <a:rPr lang="en-US" sz="116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,知识复用率提升</a:t>
            </a:r>
            <a:r>
              <a:rPr lang="en-US" sz="1165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3倍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370296" y="5813649"/>
            <a:ext cx="11451408" cy="675790"/>
          </a:xfrm>
          <a:custGeom>
            <a:avLst/>
            <a:gdLst/>
            <a:ahLst/>
            <a:cxnLst/>
            <a:rect l="l" t="t" r="r" b="b"/>
            <a:pathLst>
              <a:path w="11451408" h="675790">
                <a:moveTo>
                  <a:pt x="111086" y="0"/>
                </a:moveTo>
                <a:lnTo>
                  <a:pt x="11340321" y="0"/>
                </a:lnTo>
                <a:cubicBezTo>
                  <a:pt x="11401673" y="0"/>
                  <a:pt x="11451408" y="49735"/>
                  <a:pt x="11451408" y="111086"/>
                </a:cubicBezTo>
                <a:lnTo>
                  <a:pt x="11451408" y="564704"/>
                </a:lnTo>
                <a:cubicBezTo>
                  <a:pt x="11451408" y="626055"/>
                  <a:pt x="11401673" y="675790"/>
                  <a:pt x="11340321" y="675790"/>
                </a:cubicBezTo>
                <a:lnTo>
                  <a:pt x="111086" y="675790"/>
                </a:lnTo>
                <a:cubicBezTo>
                  <a:pt x="49735" y="675790"/>
                  <a:pt x="0" y="626055"/>
                  <a:pt x="0" y="564704"/>
                </a:cubicBezTo>
                <a:lnTo>
                  <a:pt x="0" y="111086"/>
                </a:lnTo>
                <a:cubicBezTo>
                  <a:pt x="0" y="49776"/>
                  <a:pt x="49776" y="0"/>
                  <a:pt x="111086" y="0"/>
                </a:cubicBezTo>
                <a:close/>
              </a:path>
            </a:pathLst>
          </a:custGeom>
          <a:gradFill flip="none" rotWithShape="1">
            <a:gsLst>
              <a:gs pos="0">
                <a:srgbClr val="0A2540"/>
              </a:gs>
              <a:gs pos="100000">
                <a:srgbClr val="0A2540">
                  <a:alpha val="90000"/>
                </a:srgbClr>
              </a:gs>
            </a:gsLst>
            <a:lin ang="0" scaled="1"/>
          </a:gradFill>
          <a:effectLst>
            <a:outerShdw blurRad="138861" dist="92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592474" y="6010369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138861" y="277722"/>
                </a:moveTo>
                <a:cubicBezTo>
                  <a:pt x="215501" y="277722"/>
                  <a:pt x="277722" y="215501"/>
                  <a:pt x="277722" y="138861"/>
                </a:cubicBezTo>
                <a:cubicBezTo>
                  <a:pt x="277722" y="62222"/>
                  <a:pt x="215501" y="0"/>
                  <a:pt x="138861" y="0"/>
                </a:cubicBezTo>
                <a:cubicBezTo>
                  <a:pt x="62222" y="0"/>
                  <a:pt x="0" y="62222"/>
                  <a:pt x="0" y="138861"/>
                </a:cubicBezTo>
                <a:cubicBezTo>
                  <a:pt x="0" y="215501"/>
                  <a:pt x="62222" y="277722"/>
                  <a:pt x="138861" y="277722"/>
                </a:cubicBezTo>
                <a:close/>
                <a:moveTo>
                  <a:pt x="184642" y="115374"/>
                </a:moveTo>
                <a:lnTo>
                  <a:pt x="141248" y="184805"/>
                </a:lnTo>
                <a:cubicBezTo>
                  <a:pt x="138970" y="188439"/>
                  <a:pt x="135064" y="190717"/>
                  <a:pt x="130779" y="190934"/>
                </a:cubicBezTo>
                <a:cubicBezTo>
                  <a:pt x="126494" y="191151"/>
                  <a:pt x="122371" y="189198"/>
                  <a:pt x="119822" y="185727"/>
                </a:cubicBezTo>
                <a:lnTo>
                  <a:pt x="93785" y="151011"/>
                </a:lnTo>
                <a:cubicBezTo>
                  <a:pt x="89446" y="145262"/>
                  <a:pt x="90639" y="137125"/>
                  <a:pt x="96389" y="132786"/>
                </a:cubicBezTo>
                <a:cubicBezTo>
                  <a:pt x="102139" y="128446"/>
                  <a:pt x="110275" y="129640"/>
                  <a:pt x="114615" y="135390"/>
                </a:cubicBezTo>
                <a:lnTo>
                  <a:pt x="129260" y="154917"/>
                </a:lnTo>
                <a:lnTo>
                  <a:pt x="162565" y="101596"/>
                </a:lnTo>
                <a:cubicBezTo>
                  <a:pt x="166362" y="95521"/>
                  <a:pt x="174390" y="93623"/>
                  <a:pt x="180519" y="97474"/>
                </a:cubicBezTo>
                <a:cubicBezTo>
                  <a:pt x="186649" y="101325"/>
                  <a:pt x="188493" y="109299"/>
                  <a:pt x="184642" y="115428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58" name="Text 55"/>
          <p:cNvSpPr/>
          <p:nvPr/>
        </p:nvSpPr>
        <p:spPr>
          <a:xfrm>
            <a:off x="1013686" y="5998797"/>
            <a:ext cx="5878451" cy="3054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三大场景覆盖</a:t>
            </a:r>
            <a:r>
              <a:rPr lang="en-US" sz="1460" b="1" dirty="0">
                <a:solidFill>
                  <a:srgbClr val="00E5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教育、开源、企业</a:t>
            </a:r>
            <a:r>
              <a:rPr lang="en-US" sz="14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领域,助力技术知识高效流转与价值释放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883" y="344650"/>
            <a:ext cx="1637088" cy="275720"/>
          </a:xfrm>
          <a:custGeom>
            <a:avLst/>
            <a:gdLst/>
            <a:ahLst/>
            <a:cxnLst/>
            <a:rect l="l" t="t" r="r" b="b"/>
            <a:pathLst>
              <a:path w="1637088" h="275720">
                <a:moveTo>
                  <a:pt x="0" y="0"/>
                </a:moveTo>
                <a:lnTo>
                  <a:pt x="1637088" y="0"/>
                </a:lnTo>
                <a:lnTo>
                  <a:pt x="1637088" y="275720"/>
                </a:lnTo>
                <a:lnTo>
                  <a:pt x="0" y="275720"/>
                </a:lnTo>
                <a:lnTo>
                  <a:pt x="0" y="0"/>
                </a:ln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361883" y="344650"/>
            <a:ext cx="34465" cy="275720"/>
          </a:xfrm>
          <a:custGeom>
            <a:avLst/>
            <a:gdLst/>
            <a:ahLst/>
            <a:cxnLst/>
            <a:rect l="l" t="t" r="r" b="b"/>
            <a:pathLst>
              <a:path w="34465" h="275720">
                <a:moveTo>
                  <a:pt x="0" y="0"/>
                </a:moveTo>
                <a:lnTo>
                  <a:pt x="34465" y="0"/>
                </a:lnTo>
                <a:lnTo>
                  <a:pt x="34465" y="275720"/>
                </a:lnTo>
                <a:lnTo>
                  <a:pt x="0" y="27572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5" name="Text 2"/>
          <p:cNvSpPr/>
          <p:nvPr/>
        </p:nvSpPr>
        <p:spPr>
          <a:xfrm>
            <a:off x="516975" y="392040"/>
            <a:ext cx="1410777" cy="1809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kern="0" spc="54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ROADMAP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4650" y="689300"/>
            <a:ext cx="11657792" cy="344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4650" y="1102881"/>
            <a:ext cx="689300" cy="34465"/>
          </a:xfrm>
          <a:custGeom>
            <a:avLst/>
            <a:gdLst/>
            <a:ahLst/>
            <a:cxnLst/>
            <a:rect l="l" t="t" r="r" b="b"/>
            <a:pathLst>
              <a:path w="689300" h="34465">
                <a:moveTo>
                  <a:pt x="0" y="0"/>
                </a:moveTo>
                <a:lnTo>
                  <a:pt x="689300" y="0"/>
                </a:lnTo>
                <a:lnTo>
                  <a:pt x="689300" y="34465"/>
                </a:lnTo>
                <a:lnTo>
                  <a:pt x="0" y="34465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Shape 5"/>
          <p:cNvSpPr/>
          <p:nvPr/>
        </p:nvSpPr>
        <p:spPr>
          <a:xfrm>
            <a:off x="361883" y="1309671"/>
            <a:ext cx="11485467" cy="1585391"/>
          </a:xfrm>
          <a:custGeom>
            <a:avLst/>
            <a:gdLst/>
            <a:ahLst/>
            <a:cxnLst/>
            <a:rect l="l" t="t" r="r" b="b"/>
            <a:pathLst>
              <a:path w="11485467" h="1585391">
                <a:moveTo>
                  <a:pt x="34465" y="0"/>
                </a:moveTo>
                <a:lnTo>
                  <a:pt x="11382068" y="0"/>
                </a:lnTo>
                <a:cubicBezTo>
                  <a:pt x="11439174" y="0"/>
                  <a:pt x="11485467" y="46293"/>
                  <a:pt x="11485467" y="103399"/>
                </a:cubicBezTo>
                <a:lnTo>
                  <a:pt x="11485467" y="1481992"/>
                </a:lnTo>
                <a:cubicBezTo>
                  <a:pt x="11485467" y="1539097"/>
                  <a:pt x="11439174" y="1585391"/>
                  <a:pt x="11382068" y="1585391"/>
                </a:cubicBez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9244" dist="861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883" y="1309671"/>
            <a:ext cx="34465" cy="1585391"/>
          </a:xfrm>
          <a:custGeom>
            <a:avLst/>
            <a:gdLst/>
            <a:ahLst/>
            <a:cxnLst/>
            <a:rect l="l" t="t" r="r" b="b"/>
            <a:pathLst>
              <a:path w="34465" h="1585391">
                <a:moveTo>
                  <a:pt x="34465" y="0"/>
                </a:moveTo>
                <a:lnTo>
                  <a:pt x="34465" y="0"/>
                </a:lnTo>
                <a:lnTo>
                  <a:pt x="34465" y="1585391"/>
                </a:ln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0" name="Shape 7"/>
          <p:cNvSpPr/>
          <p:nvPr/>
        </p:nvSpPr>
        <p:spPr>
          <a:xfrm>
            <a:off x="551440" y="1481996"/>
            <a:ext cx="482510" cy="482510"/>
          </a:xfrm>
          <a:custGeom>
            <a:avLst/>
            <a:gdLst/>
            <a:ahLst/>
            <a:cxnLst/>
            <a:rect l="l" t="t" r="r" b="b"/>
            <a:pathLst>
              <a:path w="482510" h="482510">
                <a:moveTo>
                  <a:pt x="241255" y="0"/>
                </a:moveTo>
                <a:lnTo>
                  <a:pt x="241255" y="0"/>
                </a:lnTo>
                <a:cubicBezTo>
                  <a:pt x="374407" y="0"/>
                  <a:pt x="482510" y="108103"/>
                  <a:pt x="482510" y="241255"/>
                </a:cubicBezTo>
                <a:lnTo>
                  <a:pt x="482510" y="241255"/>
                </a:lnTo>
                <a:cubicBezTo>
                  <a:pt x="482510" y="374407"/>
                  <a:pt x="374407" y="482510"/>
                  <a:pt x="241255" y="482510"/>
                </a:cubicBezTo>
                <a:lnTo>
                  <a:pt x="241255" y="482510"/>
                </a:lnTo>
                <a:cubicBezTo>
                  <a:pt x="108103" y="482510"/>
                  <a:pt x="0" y="374407"/>
                  <a:pt x="0" y="241255"/>
                </a:cubicBezTo>
                <a:lnTo>
                  <a:pt x="0" y="241255"/>
                </a:lnTo>
                <a:cubicBezTo>
                  <a:pt x="0" y="108103"/>
                  <a:pt x="108103" y="0"/>
                  <a:pt x="24125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11" name="Shape 8"/>
          <p:cNvSpPr/>
          <p:nvPr/>
        </p:nvSpPr>
        <p:spPr>
          <a:xfrm>
            <a:off x="702225" y="1619856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51698" y="0"/>
                </a:moveTo>
                <a:cubicBezTo>
                  <a:pt x="58846" y="0"/>
                  <a:pt x="64622" y="5776"/>
                  <a:pt x="64622" y="12924"/>
                </a:cubicBezTo>
                <a:lnTo>
                  <a:pt x="64622" y="25849"/>
                </a:lnTo>
                <a:lnTo>
                  <a:pt x="116319" y="25849"/>
                </a:lnTo>
                <a:lnTo>
                  <a:pt x="116319" y="12924"/>
                </a:lnTo>
                <a:cubicBezTo>
                  <a:pt x="116319" y="5776"/>
                  <a:pt x="122095" y="0"/>
                  <a:pt x="129244" y="0"/>
                </a:cubicBezTo>
                <a:cubicBezTo>
                  <a:pt x="136393" y="0"/>
                  <a:pt x="142168" y="5776"/>
                  <a:pt x="142168" y="12924"/>
                </a:cubicBezTo>
                <a:lnTo>
                  <a:pt x="142168" y="25849"/>
                </a:lnTo>
                <a:lnTo>
                  <a:pt x="155093" y="25849"/>
                </a:lnTo>
                <a:cubicBezTo>
                  <a:pt x="169350" y="25849"/>
                  <a:pt x="180941" y="37440"/>
                  <a:pt x="180941" y="51698"/>
                </a:cubicBezTo>
                <a:lnTo>
                  <a:pt x="180941" y="168017"/>
                </a:lnTo>
                <a:cubicBezTo>
                  <a:pt x="180941" y="182274"/>
                  <a:pt x="169350" y="193866"/>
                  <a:pt x="155093" y="193866"/>
                </a:cubicBezTo>
                <a:lnTo>
                  <a:pt x="25849" y="193866"/>
                </a:lnTo>
                <a:cubicBezTo>
                  <a:pt x="11592" y="193866"/>
                  <a:pt x="0" y="182274"/>
                  <a:pt x="0" y="168017"/>
                </a:cubicBezTo>
                <a:lnTo>
                  <a:pt x="0" y="51698"/>
                </a:lnTo>
                <a:cubicBezTo>
                  <a:pt x="0" y="37440"/>
                  <a:pt x="11592" y="25849"/>
                  <a:pt x="25849" y="25849"/>
                </a:cubicBezTo>
                <a:lnTo>
                  <a:pt x="38773" y="25849"/>
                </a:lnTo>
                <a:lnTo>
                  <a:pt x="38773" y="12924"/>
                </a:lnTo>
                <a:cubicBezTo>
                  <a:pt x="38773" y="5776"/>
                  <a:pt x="44549" y="0"/>
                  <a:pt x="51698" y="0"/>
                </a:cubicBezTo>
                <a:close/>
                <a:moveTo>
                  <a:pt x="51698" y="103395"/>
                </a:moveTo>
                <a:cubicBezTo>
                  <a:pt x="44549" y="103395"/>
                  <a:pt x="38773" y="109171"/>
                  <a:pt x="38773" y="116319"/>
                </a:cubicBezTo>
                <a:lnTo>
                  <a:pt x="38773" y="142168"/>
                </a:lnTo>
                <a:cubicBezTo>
                  <a:pt x="38773" y="149317"/>
                  <a:pt x="44549" y="155093"/>
                  <a:pt x="51698" y="155093"/>
                </a:cubicBezTo>
                <a:lnTo>
                  <a:pt x="77546" y="155093"/>
                </a:lnTo>
                <a:cubicBezTo>
                  <a:pt x="84695" y="155093"/>
                  <a:pt x="90471" y="149317"/>
                  <a:pt x="90471" y="142168"/>
                </a:cubicBezTo>
                <a:lnTo>
                  <a:pt x="90471" y="116319"/>
                </a:lnTo>
                <a:cubicBezTo>
                  <a:pt x="90471" y="109171"/>
                  <a:pt x="84695" y="103395"/>
                  <a:pt x="77546" y="103395"/>
                </a:cubicBezTo>
                <a:lnTo>
                  <a:pt x="51698" y="10339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1137346" y="1481996"/>
            <a:ext cx="1878343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短期规划 (6个月内)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7346" y="1757716"/>
            <a:ext cx="1843878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夯实基础,优化体验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1440" y="2067901"/>
            <a:ext cx="3636059" cy="654835"/>
          </a:xfrm>
          <a:custGeom>
            <a:avLst/>
            <a:gdLst/>
            <a:ahLst/>
            <a:cxnLst/>
            <a:rect l="l" t="t" r="r" b="b"/>
            <a:pathLst>
              <a:path w="3636059" h="654835">
                <a:moveTo>
                  <a:pt x="68928" y="0"/>
                </a:moveTo>
                <a:lnTo>
                  <a:pt x="3567131" y="0"/>
                </a:lnTo>
                <a:cubicBezTo>
                  <a:pt x="3605199" y="0"/>
                  <a:pt x="3636059" y="30860"/>
                  <a:pt x="3636059" y="68928"/>
                </a:cubicBezTo>
                <a:lnTo>
                  <a:pt x="3636059" y="585907"/>
                </a:lnTo>
                <a:cubicBezTo>
                  <a:pt x="3636059" y="623975"/>
                  <a:pt x="3605199" y="654835"/>
                  <a:pt x="3567131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654835" y="2171296"/>
            <a:ext cx="349819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场景深化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4835" y="2447016"/>
            <a:ext cx="348958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优化高校/开源社区场景适配,新增多语言答疑能力(支持中英文)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94058" y="2067901"/>
            <a:ext cx="3636059" cy="654835"/>
          </a:xfrm>
          <a:custGeom>
            <a:avLst/>
            <a:gdLst/>
            <a:ahLst/>
            <a:cxnLst/>
            <a:rect l="l" t="t" r="r" b="b"/>
            <a:pathLst>
              <a:path w="3636059" h="654835">
                <a:moveTo>
                  <a:pt x="68928" y="0"/>
                </a:moveTo>
                <a:lnTo>
                  <a:pt x="3567131" y="0"/>
                </a:lnTo>
                <a:cubicBezTo>
                  <a:pt x="3605199" y="0"/>
                  <a:pt x="3636059" y="30860"/>
                  <a:pt x="3636059" y="68928"/>
                </a:cubicBezTo>
                <a:lnTo>
                  <a:pt x="3636059" y="585907"/>
                </a:lnTo>
                <a:cubicBezTo>
                  <a:pt x="3636059" y="623975"/>
                  <a:pt x="3605199" y="654835"/>
                  <a:pt x="3567131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397454" y="2171296"/>
            <a:ext cx="349819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能力升级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97454" y="2447016"/>
            <a:ext cx="348958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扩展工具库至10+类(新增代码调试、依赖漏洞查询等功能)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36677" y="2067901"/>
            <a:ext cx="3636059" cy="654835"/>
          </a:xfrm>
          <a:custGeom>
            <a:avLst/>
            <a:gdLst/>
            <a:ahLst/>
            <a:cxnLst/>
            <a:rect l="l" t="t" r="r" b="b"/>
            <a:pathLst>
              <a:path w="3636059" h="654835">
                <a:moveTo>
                  <a:pt x="68928" y="0"/>
                </a:moveTo>
                <a:lnTo>
                  <a:pt x="3567131" y="0"/>
                </a:lnTo>
                <a:cubicBezTo>
                  <a:pt x="3605199" y="0"/>
                  <a:pt x="3636059" y="30860"/>
                  <a:pt x="3636059" y="68928"/>
                </a:cubicBezTo>
                <a:lnTo>
                  <a:pt x="3636059" y="585907"/>
                </a:lnTo>
                <a:cubicBezTo>
                  <a:pt x="3636059" y="623975"/>
                  <a:pt x="3605199" y="654835"/>
                  <a:pt x="3567131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8140072" y="2171296"/>
            <a:ext cx="3498199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体验优化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40072" y="2447016"/>
            <a:ext cx="3489583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提升响应速度,优化多轮对话自然度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1883" y="3032922"/>
            <a:ext cx="11485467" cy="1585391"/>
          </a:xfrm>
          <a:custGeom>
            <a:avLst/>
            <a:gdLst/>
            <a:ahLst/>
            <a:cxnLst/>
            <a:rect l="l" t="t" r="r" b="b"/>
            <a:pathLst>
              <a:path w="11485467" h="1585391">
                <a:moveTo>
                  <a:pt x="34465" y="0"/>
                </a:moveTo>
                <a:lnTo>
                  <a:pt x="11382068" y="0"/>
                </a:lnTo>
                <a:cubicBezTo>
                  <a:pt x="11439174" y="0"/>
                  <a:pt x="11485467" y="46293"/>
                  <a:pt x="11485467" y="103399"/>
                </a:cubicBezTo>
                <a:lnTo>
                  <a:pt x="11485467" y="1481992"/>
                </a:lnTo>
                <a:cubicBezTo>
                  <a:pt x="11485467" y="1539097"/>
                  <a:pt x="11439174" y="1585391"/>
                  <a:pt x="11382068" y="1585391"/>
                </a:cubicBez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9244" dist="861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1883" y="3032922"/>
            <a:ext cx="34465" cy="1585391"/>
          </a:xfrm>
          <a:custGeom>
            <a:avLst/>
            <a:gdLst/>
            <a:ahLst/>
            <a:cxnLst/>
            <a:rect l="l" t="t" r="r" b="b"/>
            <a:pathLst>
              <a:path w="34465" h="1585391">
                <a:moveTo>
                  <a:pt x="34465" y="0"/>
                </a:moveTo>
                <a:lnTo>
                  <a:pt x="34465" y="0"/>
                </a:lnTo>
                <a:lnTo>
                  <a:pt x="34465" y="1585391"/>
                </a:ln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5" name="Shape 22"/>
          <p:cNvSpPr/>
          <p:nvPr/>
        </p:nvSpPr>
        <p:spPr>
          <a:xfrm>
            <a:off x="551440" y="3205247"/>
            <a:ext cx="482510" cy="482510"/>
          </a:xfrm>
          <a:custGeom>
            <a:avLst/>
            <a:gdLst/>
            <a:ahLst/>
            <a:cxnLst/>
            <a:rect l="l" t="t" r="r" b="b"/>
            <a:pathLst>
              <a:path w="482510" h="482510">
                <a:moveTo>
                  <a:pt x="241255" y="0"/>
                </a:moveTo>
                <a:lnTo>
                  <a:pt x="241255" y="0"/>
                </a:lnTo>
                <a:cubicBezTo>
                  <a:pt x="374407" y="0"/>
                  <a:pt x="482510" y="108103"/>
                  <a:pt x="482510" y="241255"/>
                </a:cubicBezTo>
                <a:lnTo>
                  <a:pt x="482510" y="241255"/>
                </a:lnTo>
                <a:cubicBezTo>
                  <a:pt x="482510" y="374407"/>
                  <a:pt x="374407" y="482510"/>
                  <a:pt x="241255" y="482510"/>
                </a:cubicBezTo>
                <a:lnTo>
                  <a:pt x="241255" y="482510"/>
                </a:lnTo>
                <a:cubicBezTo>
                  <a:pt x="108103" y="482510"/>
                  <a:pt x="0" y="374407"/>
                  <a:pt x="0" y="241255"/>
                </a:cubicBezTo>
                <a:lnTo>
                  <a:pt x="0" y="241255"/>
                </a:lnTo>
                <a:cubicBezTo>
                  <a:pt x="0" y="108103"/>
                  <a:pt x="108103" y="0"/>
                  <a:pt x="241255" y="0"/>
                </a:cubicBezTo>
                <a:close/>
              </a:path>
            </a:pathLst>
          </a:custGeom>
          <a:solidFill>
            <a:srgbClr val="5A7184"/>
          </a:solidFill>
        </p:spPr>
      </p:sp>
      <p:sp>
        <p:nvSpPr>
          <p:cNvPr id="26" name="Shape 23"/>
          <p:cNvSpPr/>
          <p:nvPr/>
        </p:nvSpPr>
        <p:spPr>
          <a:xfrm>
            <a:off x="702225" y="3343107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51698" y="0"/>
                </a:moveTo>
                <a:cubicBezTo>
                  <a:pt x="58846" y="0"/>
                  <a:pt x="64622" y="5776"/>
                  <a:pt x="64622" y="12924"/>
                </a:cubicBezTo>
                <a:lnTo>
                  <a:pt x="64622" y="25849"/>
                </a:lnTo>
                <a:lnTo>
                  <a:pt x="116319" y="25849"/>
                </a:lnTo>
                <a:lnTo>
                  <a:pt x="116319" y="12924"/>
                </a:lnTo>
                <a:cubicBezTo>
                  <a:pt x="116319" y="5776"/>
                  <a:pt x="122095" y="0"/>
                  <a:pt x="129244" y="0"/>
                </a:cubicBezTo>
                <a:cubicBezTo>
                  <a:pt x="136393" y="0"/>
                  <a:pt x="142168" y="5776"/>
                  <a:pt x="142168" y="12924"/>
                </a:cubicBezTo>
                <a:lnTo>
                  <a:pt x="142168" y="25849"/>
                </a:lnTo>
                <a:lnTo>
                  <a:pt x="155093" y="25849"/>
                </a:lnTo>
                <a:cubicBezTo>
                  <a:pt x="169350" y="25849"/>
                  <a:pt x="180941" y="37440"/>
                  <a:pt x="180941" y="51698"/>
                </a:cubicBezTo>
                <a:lnTo>
                  <a:pt x="180941" y="168017"/>
                </a:lnTo>
                <a:cubicBezTo>
                  <a:pt x="180941" y="182274"/>
                  <a:pt x="169350" y="193866"/>
                  <a:pt x="155093" y="193866"/>
                </a:cubicBezTo>
                <a:lnTo>
                  <a:pt x="25849" y="193866"/>
                </a:lnTo>
                <a:cubicBezTo>
                  <a:pt x="11592" y="193866"/>
                  <a:pt x="0" y="182274"/>
                  <a:pt x="0" y="168017"/>
                </a:cubicBezTo>
                <a:lnTo>
                  <a:pt x="0" y="51698"/>
                </a:lnTo>
                <a:cubicBezTo>
                  <a:pt x="0" y="37440"/>
                  <a:pt x="11592" y="25849"/>
                  <a:pt x="25849" y="25849"/>
                </a:cubicBezTo>
                <a:lnTo>
                  <a:pt x="38773" y="25849"/>
                </a:lnTo>
                <a:lnTo>
                  <a:pt x="38773" y="12924"/>
                </a:lnTo>
                <a:cubicBezTo>
                  <a:pt x="38773" y="5776"/>
                  <a:pt x="44549" y="0"/>
                  <a:pt x="51698" y="0"/>
                </a:cubicBezTo>
                <a:close/>
                <a:moveTo>
                  <a:pt x="25849" y="96933"/>
                </a:moveTo>
                <a:lnTo>
                  <a:pt x="25849" y="109857"/>
                </a:lnTo>
                <a:cubicBezTo>
                  <a:pt x="25849" y="113411"/>
                  <a:pt x="28757" y="116319"/>
                  <a:pt x="32311" y="116319"/>
                </a:cubicBezTo>
                <a:lnTo>
                  <a:pt x="45235" y="116319"/>
                </a:lnTo>
                <a:cubicBezTo>
                  <a:pt x="48790" y="116319"/>
                  <a:pt x="51698" y="113411"/>
                  <a:pt x="51698" y="109857"/>
                </a:cubicBezTo>
                <a:lnTo>
                  <a:pt x="51698" y="96933"/>
                </a:lnTo>
                <a:cubicBezTo>
                  <a:pt x="51698" y="93379"/>
                  <a:pt x="48790" y="90471"/>
                  <a:pt x="45235" y="90471"/>
                </a:cubicBezTo>
                <a:lnTo>
                  <a:pt x="32311" y="90471"/>
                </a:lnTo>
                <a:cubicBezTo>
                  <a:pt x="28757" y="90471"/>
                  <a:pt x="25849" y="93379"/>
                  <a:pt x="25849" y="96933"/>
                </a:cubicBezTo>
                <a:close/>
                <a:moveTo>
                  <a:pt x="77546" y="96933"/>
                </a:moveTo>
                <a:lnTo>
                  <a:pt x="77546" y="109857"/>
                </a:lnTo>
                <a:cubicBezTo>
                  <a:pt x="77546" y="113411"/>
                  <a:pt x="80454" y="116319"/>
                  <a:pt x="84008" y="116319"/>
                </a:cubicBezTo>
                <a:lnTo>
                  <a:pt x="96933" y="116319"/>
                </a:lnTo>
                <a:cubicBezTo>
                  <a:pt x="100487" y="116319"/>
                  <a:pt x="103395" y="113411"/>
                  <a:pt x="103395" y="109857"/>
                </a:cubicBezTo>
                <a:lnTo>
                  <a:pt x="103395" y="96933"/>
                </a:lnTo>
                <a:cubicBezTo>
                  <a:pt x="103395" y="93379"/>
                  <a:pt x="100487" y="90471"/>
                  <a:pt x="96933" y="90471"/>
                </a:cubicBezTo>
                <a:lnTo>
                  <a:pt x="84008" y="90471"/>
                </a:lnTo>
                <a:cubicBezTo>
                  <a:pt x="80454" y="90471"/>
                  <a:pt x="77546" y="93379"/>
                  <a:pt x="77546" y="96933"/>
                </a:cubicBezTo>
                <a:close/>
                <a:moveTo>
                  <a:pt x="135706" y="90471"/>
                </a:moveTo>
                <a:cubicBezTo>
                  <a:pt x="132152" y="90471"/>
                  <a:pt x="129244" y="93379"/>
                  <a:pt x="129244" y="96933"/>
                </a:cubicBezTo>
                <a:lnTo>
                  <a:pt x="129244" y="109857"/>
                </a:lnTo>
                <a:cubicBezTo>
                  <a:pt x="129244" y="113411"/>
                  <a:pt x="132152" y="116319"/>
                  <a:pt x="135706" y="116319"/>
                </a:cubicBezTo>
                <a:lnTo>
                  <a:pt x="148630" y="116319"/>
                </a:lnTo>
                <a:cubicBezTo>
                  <a:pt x="152185" y="116319"/>
                  <a:pt x="155093" y="113411"/>
                  <a:pt x="155093" y="109857"/>
                </a:cubicBezTo>
                <a:lnTo>
                  <a:pt x="155093" y="96933"/>
                </a:lnTo>
                <a:cubicBezTo>
                  <a:pt x="155093" y="93379"/>
                  <a:pt x="152185" y="90471"/>
                  <a:pt x="148630" y="90471"/>
                </a:cubicBezTo>
                <a:lnTo>
                  <a:pt x="135706" y="90471"/>
                </a:lnTo>
                <a:close/>
                <a:moveTo>
                  <a:pt x="25849" y="148630"/>
                </a:moveTo>
                <a:lnTo>
                  <a:pt x="25849" y="161555"/>
                </a:lnTo>
                <a:cubicBezTo>
                  <a:pt x="25849" y="165109"/>
                  <a:pt x="28757" y="168017"/>
                  <a:pt x="32311" y="168017"/>
                </a:cubicBezTo>
                <a:lnTo>
                  <a:pt x="45235" y="168017"/>
                </a:lnTo>
                <a:cubicBezTo>
                  <a:pt x="48790" y="168017"/>
                  <a:pt x="51698" y="165109"/>
                  <a:pt x="51698" y="161555"/>
                </a:cubicBezTo>
                <a:lnTo>
                  <a:pt x="51698" y="148630"/>
                </a:lnTo>
                <a:cubicBezTo>
                  <a:pt x="51698" y="145076"/>
                  <a:pt x="48790" y="142168"/>
                  <a:pt x="45235" y="142168"/>
                </a:cubicBezTo>
                <a:lnTo>
                  <a:pt x="32311" y="142168"/>
                </a:lnTo>
                <a:cubicBezTo>
                  <a:pt x="28757" y="142168"/>
                  <a:pt x="25849" y="145076"/>
                  <a:pt x="25849" y="148630"/>
                </a:cubicBezTo>
                <a:close/>
                <a:moveTo>
                  <a:pt x="84008" y="142168"/>
                </a:moveTo>
                <a:cubicBezTo>
                  <a:pt x="80454" y="142168"/>
                  <a:pt x="77546" y="145076"/>
                  <a:pt x="77546" y="148630"/>
                </a:cubicBezTo>
                <a:lnTo>
                  <a:pt x="77546" y="161555"/>
                </a:lnTo>
                <a:cubicBezTo>
                  <a:pt x="77546" y="165109"/>
                  <a:pt x="80454" y="168017"/>
                  <a:pt x="84008" y="168017"/>
                </a:cubicBezTo>
                <a:lnTo>
                  <a:pt x="96933" y="168017"/>
                </a:lnTo>
                <a:cubicBezTo>
                  <a:pt x="100487" y="168017"/>
                  <a:pt x="103395" y="165109"/>
                  <a:pt x="103395" y="161555"/>
                </a:cubicBezTo>
                <a:lnTo>
                  <a:pt x="103395" y="148630"/>
                </a:lnTo>
                <a:cubicBezTo>
                  <a:pt x="103395" y="145076"/>
                  <a:pt x="100487" y="142168"/>
                  <a:pt x="96933" y="142168"/>
                </a:cubicBezTo>
                <a:lnTo>
                  <a:pt x="84008" y="142168"/>
                </a:lnTo>
                <a:close/>
                <a:moveTo>
                  <a:pt x="129244" y="148630"/>
                </a:moveTo>
                <a:lnTo>
                  <a:pt x="129244" y="161555"/>
                </a:lnTo>
                <a:cubicBezTo>
                  <a:pt x="129244" y="165109"/>
                  <a:pt x="132152" y="168017"/>
                  <a:pt x="135706" y="168017"/>
                </a:cubicBezTo>
                <a:lnTo>
                  <a:pt x="148630" y="168017"/>
                </a:lnTo>
                <a:cubicBezTo>
                  <a:pt x="152185" y="168017"/>
                  <a:pt x="155093" y="165109"/>
                  <a:pt x="155093" y="161555"/>
                </a:cubicBezTo>
                <a:lnTo>
                  <a:pt x="155093" y="148630"/>
                </a:lnTo>
                <a:cubicBezTo>
                  <a:pt x="155093" y="145076"/>
                  <a:pt x="152185" y="142168"/>
                  <a:pt x="148630" y="142168"/>
                </a:cubicBezTo>
                <a:lnTo>
                  <a:pt x="135706" y="142168"/>
                </a:lnTo>
                <a:cubicBezTo>
                  <a:pt x="132152" y="142168"/>
                  <a:pt x="129244" y="145076"/>
                  <a:pt x="129244" y="14863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4"/>
          <p:cNvSpPr/>
          <p:nvPr/>
        </p:nvSpPr>
        <p:spPr>
          <a:xfrm>
            <a:off x="1137346" y="3205247"/>
            <a:ext cx="1955890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中期规划 (6-12个月)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37346" y="3480967"/>
            <a:ext cx="1921425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拓展领域,构建生态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51440" y="3791152"/>
            <a:ext cx="5514403" cy="654835"/>
          </a:xfrm>
          <a:custGeom>
            <a:avLst/>
            <a:gdLst/>
            <a:ahLst/>
            <a:cxnLst/>
            <a:rect l="l" t="t" r="r" b="b"/>
            <a:pathLst>
              <a:path w="5514403" h="654835">
                <a:moveTo>
                  <a:pt x="68928" y="0"/>
                </a:moveTo>
                <a:lnTo>
                  <a:pt x="5445475" y="0"/>
                </a:lnTo>
                <a:cubicBezTo>
                  <a:pt x="5483543" y="0"/>
                  <a:pt x="5514403" y="30860"/>
                  <a:pt x="5514403" y="68928"/>
                </a:cubicBezTo>
                <a:lnTo>
                  <a:pt x="5514403" y="585907"/>
                </a:lnTo>
                <a:cubicBezTo>
                  <a:pt x="5514403" y="623975"/>
                  <a:pt x="5483543" y="654835"/>
                  <a:pt x="5445475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654835" y="3894547"/>
            <a:ext cx="53765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领域拓展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4835" y="4170267"/>
            <a:ext cx="536792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适配教育、中小企业服务等领域,开发垂直行业模板(金融、医疗、制造等)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165401" y="3791152"/>
            <a:ext cx="5514403" cy="654835"/>
          </a:xfrm>
          <a:custGeom>
            <a:avLst/>
            <a:gdLst/>
            <a:ahLst/>
            <a:cxnLst/>
            <a:rect l="l" t="t" r="r" b="b"/>
            <a:pathLst>
              <a:path w="5514403" h="654835">
                <a:moveTo>
                  <a:pt x="68928" y="0"/>
                </a:moveTo>
                <a:lnTo>
                  <a:pt x="5445475" y="0"/>
                </a:lnTo>
                <a:cubicBezTo>
                  <a:pt x="5483543" y="0"/>
                  <a:pt x="5514403" y="30860"/>
                  <a:pt x="5514403" y="68928"/>
                </a:cubicBezTo>
                <a:lnTo>
                  <a:pt x="5514403" y="585907"/>
                </a:lnTo>
                <a:cubicBezTo>
                  <a:pt x="5514403" y="623975"/>
                  <a:pt x="5483543" y="654835"/>
                  <a:pt x="5445475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5A7184">
              <a:alpha val="10196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6268796" y="3894547"/>
            <a:ext cx="5376543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生态构建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268796" y="4170267"/>
            <a:ext cx="5367927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搭建用户共建知识库平台,形成"提问-解答-沉淀-复用"的知识生态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61883" y="4756172"/>
            <a:ext cx="11485467" cy="1585391"/>
          </a:xfrm>
          <a:custGeom>
            <a:avLst/>
            <a:gdLst/>
            <a:ahLst/>
            <a:cxnLst/>
            <a:rect l="l" t="t" r="r" b="b"/>
            <a:pathLst>
              <a:path w="11485467" h="1585391">
                <a:moveTo>
                  <a:pt x="34465" y="0"/>
                </a:moveTo>
                <a:lnTo>
                  <a:pt x="11382068" y="0"/>
                </a:lnTo>
                <a:cubicBezTo>
                  <a:pt x="11439174" y="0"/>
                  <a:pt x="11485467" y="46293"/>
                  <a:pt x="11485467" y="103399"/>
                </a:cubicBezTo>
                <a:lnTo>
                  <a:pt x="11485467" y="1481992"/>
                </a:lnTo>
                <a:cubicBezTo>
                  <a:pt x="11485467" y="1539097"/>
                  <a:pt x="11439174" y="1585391"/>
                  <a:pt x="11382068" y="1585391"/>
                </a:cubicBez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9244" dist="861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1883" y="4756172"/>
            <a:ext cx="34465" cy="1585391"/>
          </a:xfrm>
          <a:custGeom>
            <a:avLst/>
            <a:gdLst/>
            <a:ahLst/>
            <a:cxnLst/>
            <a:rect l="l" t="t" r="r" b="b"/>
            <a:pathLst>
              <a:path w="34465" h="1585391">
                <a:moveTo>
                  <a:pt x="34465" y="0"/>
                </a:moveTo>
                <a:lnTo>
                  <a:pt x="34465" y="0"/>
                </a:lnTo>
                <a:lnTo>
                  <a:pt x="34465" y="1585391"/>
                </a:lnTo>
                <a:lnTo>
                  <a:pt x="34465" y="1585391"/>
                </a:lnTo>
                <a:cubicBezTo>
                  <a:pt x="15431" y="1585391"/>
                  <a:pt x="0" y="1569960"/>
                  <a:pt x="0" y="1550926"/>
                </a:cubicBezTo>
                <a:lnTo>
                  <a:pt x="0" y="34465"/>
                </a:lnTo>
                <a:cubicBezTo>
                  <a:pt x="0" y="15443"/>
                  <a:pt x="15443" y="0"/>
                  <a:pt x="3446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7" name="Shape 34"/>
          <p:cNvSpPr/>
          <p:nvPr/>
        </p:nvSpPr>
        <p:spPr>
          <a:xfrm>
            <a:off x="551440" y="4928498"/>
            <a:ext cx="482510" cy="482510"/>
          </a:xfrm>
          <a:custGeom>
            <a:avLst/>
            <a:gdLst/>
            <a:ahLst/>
            <a:cxnLst/>
            <a:rect l="l" t="t" r="r" b="b"/>
            <a:pathLst>
              <a:path w="482510" h="482510">
                <a:moveTo>
                  <a:pt x="241255" y="0"/>
                </a:moveTo>
                <a:lnTo>
                  <a:pt x="241255" y="0"/>
                </a:lnTo>
                <a:cubicBezTo>
                  <a:pt x="374407" y="0"/>
                  <a:pt x="482510" y="108103"/>
                  <a:pt x="482510" y="241255"/>
                </a:cubicBezTo>
                <a:lnTo>
                  <a:pt x="482510" y="241255"/>
                </a:lnTo>
                <a:cubicBezTo>
                  <a:pt x="482510" y="374407"/>
                  <a:pt x="374407" y="482510"/>
                  <a:pt x="241255" y="482510"/>
                </a:cubicBezTo>
                <a:lnTo>
                  <a:pt x="241255" y="482510"/>
                </a:lnTo>
                <a:cubicBezTo>
                  <a:pt x="108103" y="482510"/>
                  <a:pt x="0" y="374407"/>
                  <a:pt x="0" y="241255"/>
                </a:cubicBezTo>
                <a:lnTo>
                  <a:pt x="0" y="241255"/>
                </a:lnTo>
                <a:cubicBezTo>
                  <a:pt x="0" y="108103"/>
                  <a:pt x="108103" y="0"/>
                  <a:pt x="241255" y="0"/>
                </a:cubicBezTo>
                <a:close/>
              </a:path>
            </a:pathLst>
          </a:custGeom>
          <a:solidFill>
            <a:srgbClr val="00E5FF"/>
          </a:solidFill>
        </p:spPr>
      </p:sp>
      <p:sp>
        <p:nvSpPr>
          <p:cNvPr id="38" name="Shape 35"/>
          <p:cNvSpPr/>
          <p:nvPr/>
        </p:nvSpPr>
        <p:spPr>
          <a:xfrm>
            <a:off x="663452" y="5066358"/>
            <a:ext cx="258488" cy="206790"/>
          </a:xfrm>
          <a:custGeom>
            <a:avLst/>
            <a:gdLst/>
            <a:ahLst/>
            <a:cxnLst/>
            <a:rect l="l" t="t" r="r" b="b"/>
            <a:pathLst>
              <a:path w="258488" h="206790">
                <a:moveTo>
                  <a:pt x="0" y="103395"/>
                </a:moveTo>
                <a:cubicBezTo>
                  <a:pt x="0" y="67691"/>
                  <a:pt x="28918" y="38773"/>
                  <a:pt x="64622" y="38773"/>
                </a:cubicBezTo>
                <a:cubicBezTo>
                  <a:pt x="84978" y="38773"/>
                  <a:pt x="104122" y="48345"/>
                  <a:pt x="116319" y="64622"/>
                </a:cubicBezTo>
                <a:lnTo>
                  <a:pt x="129244" y="81868"/>
                </a:lnTo>
                <a:lnTo>
                  <a:pt x="142168" y="64622"/>
                </a:lnTo>
                <a:cubicBezTo>
                  <a:pt x="154366" y="48345"/>
                  <a:pt x="173510" y="38773"/>
                  <a:pt x="193866" y="38773"/>
                </a:cubicBezTo>
                <a:cubicBezTo>
                  <a:pt x="229569" y="38773"/>
                  <a:pt x="258488" y="67691"/>
                  <a:pt x="258488" y="103395"/>
                </a:cubicBezTo>
                <a:cubicBezTo>
                  <a:pt x="258488" y="139099"/>
                  <a:pt x="229569" y="168017"/>
                  <a:pt x="193866" y="168017"/>
                </a:cubicBezTo>
                <a:cubicBezTo>
                  <a:pt x="173510" y="168017"/>
                  <a:pt x="154366" y="158445"/>
                  <a:pt x="142168" y="142168"/>
                </a:cubicBezTo>
                <a:lnTo>
                  <a:pt x="129244" y="124922"/>
                </a:lnTo>
                <a:lnTo>
                  <a:pt x="116319" y="142168"/>
                </a:lnTo>
                <a:cubicBezTo>
                  <a:pt x="104122" y="158445"/>
                  <a:pt x="84978" y="168017"/>
                  <a:pt x="64622" y="168017"/>
                </a:cubicBezTo>
                <a:cubicBezTo>
                  <a:pt x="28918" y="168017"/>
                  <a:pt x="0" y="139099"/>
                  <a:pt x="0" y="103395"/>
                </a:cubicBezTo>
                <a:close/>
                <a:moveTo>
                  <a:pt x="113088" y="103395"/>
                </a:moveTo>
                <a:lnTo>
                  <a:pt x="95640" y="80131"/>
                </a:lnTo>
                <a:cubicBezTo>
                  <a:pt x="88330" y="70357"/>
                  <a:pt x="76819" y="64622"/>
                  <a:pt x="64622" y="64622"/>
                </a:cubicBezTo>
                <a:cubicBezTo>
                  <a:pt x="43216" y="64622"/>
                  <a:pt x="25849" y="81989"/>
                  <a:pt x="25849" y="103395"/>
                </a:cubicBezTo>
                <a:cubicBezTo>
                  <a:pt x="25849" y="124801"/>
                  <a:pt x="43216" y="142168"/>
                  <a:pt x="64622" y="142168"/>
                </a:cubicBezTo>
                <a:cubicBezTo>
                  <a:pt x="76819" y="142168"/>
                  <a:pt x="88330" y="136433"/>
                  <a:pt x="95640" y="126659"/>
                </a:cubicBezTo>
                <a:lnTo>
                  <a:pt x="113088" y="103395"/>
                </a:lnTo>
                <a:close/>
                <a:moveTo>
                  <a:pt x="145399" y="103395"/>
                </a:moveTo>
                <a:lnTo>
                  <a:pt x="162847" y="126659"/>
                </a:lnTo>
                <a:cubicBezTo>
                  <a:pt x="170158" y="136433"/>
                  <a:pt x="181668" y="142168"/>
                  <a:pt x="193866" y="142168"/>
                </a:cubicBezTo>
                <a:cubicBezTo>
                  <a:pt x="215272" y="142168"/>
                  <a:pt x="232639" y="124801"/>
                  <a:pt x="232639" y="103395"/>
                </a:cubicBezTo>
                <a:cubicBezTo>
                  <a:pt x="232639" y="81989"/>
                  <a:pt x="215272" y="64622"/>
                  <a:pt x="193866" y="64622"/>
                </a:cubicBezTo>
                <a:cubicBezTo>
                  <a:pt x="181668" y="64622"/>
                  <a:pt x="170158" y="70357"/>
                  <a:pt x="162847" y="80131"/>
                </a:cubicBezTo>
                <a:lnTo>
                  <a:pt x="145399" y="10339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6"/>
          <p:cNvSpPr/>
          <p:nvPr/>
        </p:nvSpPr>
        <p:spPr>
          <a:xfrm>
            <a:off x="1137346" y="4928498"/>
            <a:ext cx="1835262" cy="275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0" b="1" dirty="0">
                <a:solidFill>
                  <a:srgbClr val="0A254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长期规划 (1年以上)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37346" y="5204218"/>
            <a:ext cx="1800797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跨平台协同,生态互通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51440" y="5514403"/>
            <a:ext cx="11123584" cy="654835"/>
          </a:xfrm>
          <a:custGeom>
            <a:avLst/>
            <a:gdLst/>
            <a:ahLst/>
            <a:cxnLst/>
            <a:rect l="l" t="t" r="r" b="b"/>
            <a:pathLst>
              <a:path w="11123584" h="654835">
                <a:moveTo>
                  <a:pt x="68928" y="0"/>
                </a:moveTo>
                <a:lnTo>
                  <a:pt x="11054656" y="0"/>
                </a:lnTo>
                <a:cubicBezTo>
                  <a:pt x="11092724" y="0"/>
                  <a:pt x="11123584" y="30860"/>
                  <a:pt x="11123584" y="68928"/>
                </a:cubicBezTo>
                <a:lnTo>
                  <a:pt x="11123584" y="585907"/>
                </a:lnTo>
                <a:cubicBezTo>
                  <a:pt x="11123584" y="623975"/>
                  <a:pt x="11092724" y="654835"/>
                  <a:pt x="11054656" y="654835"/>
                </a:cubicBezTo>
                <a:lnTo>
                  <a:pt x="68928" y="654835"/>
                </a:lnTo>
                <a:cubicBezTo>
                  <a:pt x="30860" y="654835"/>
                  <a:pt x="0" y="623975"/>
                  <a:pt x="0" y="585907"/>
                </a:cubicBezTo>
                <a:lnTo>
                  <a:pt x="0" y="68928"/>
                </a:lnTo>
                <a:cubicBezTo>
                  <a:pt x="0" y="30860"/>
                  <a:pt x="30860" y="0"/>
                  <a:pt x="68928" y="0"/>
                </a:cubicBezTo>
                <a:close/>
              </a:path>
            </a:pathLst>
          </a:custGeom>
          <a:solidFill>
            <a:srgbClr val="00E5FF">
              <a:alpha val="10196"/>
            </a:srgbClr>
          </a:solidFill>
        </p:spPr>
      </p:sp>
      <p:sp>
        <p:nvSpPr>
          <p:cNvPr id="42" name="Text 39"/>
          <p:cNvSpPr/>
          <p:nvPr/>
        </p:nvSpPr>
        <p:spPr>
          <a:xfrm>
            <a:off x="654835" y="5617798"/>
            <a:ext cx="10985724" cy="2067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5" b="1" dirty="0">
                <a:solidFill>
                  <a:srgbClr val="0A25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跨平台协同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54835" y="5893518"/>
            <a:ext cx="10977108" cy="172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5A718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实现多社区知识库互联互通,支持跨社区问题检索与知识共享,构建开放的技术知识网络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30-16:31:52-d3dpau0s8jdo4os5dgd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86285" cy="6858000"/>
          </a:xfrm>
          <a:prstGeom prst="rect">
            <a:avLst/>
          </a:prstGeom>
        </p:spPr>
      </p:pic>
      <p:pic>
        <p:nvPicPr>
          <p:cNvPr id="3" name="Image 1" descr="https://kimi-web-img.moonshot.cn/img/img.freepik.com/96f1bde0571384b82b971af99d4247b4011dc476.jpg"/>
          <p:cNvPicPr>
            <a:picLocks noChangeAspect="1"/>
          </p:cNvPicPr>
          <p:nvPr/>
        </p:nvPicPr>
        <p:blipFill>
          <a:blip r:embed="rId2">
            <a:alphaModFix amt="20000"/>
          </a:blip>
          <a:srcRect l="5556" r="555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A2540">
                  <a:alpha val="95000"/>
                </a:srgbClr>
              </a:gs>
              <a:gs pos="50000">
                <a:srgbClr val="0A2540">
                  <a:alpha val="90000"/>
                </a:srgbClr>
              </a:gs>
              <a:gs pos="100000">
                <a:srgbClr val="00E5FF">
                  <a:alpha val="30000"/>
                </a:srgbClr>
              </a:gs>
            </a:gsLst>
            <a:lin ang="2700000" scaled="1"/>
          </a:gradFill>
        </p:spPr>
      </p:sp>
      <p:sp>
        <p:nvSpPr>
          <p:cNvPr id="5" name="Shape 1"/>
          <p:cNvSpPr/>
          <p:nvPr/>
        </p:nvSpPr>
        <p:spPr>
          <a:xfrm>
            <a:off x="5712142" y="1279266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6" name="Text 2"/>
          <p:cNvSpPr/>
          <p:nvPr/>
        </p:nvSpPr>
        <p:spPr>
          <a:xfrm>
            <a:off x="5393055" y="1686586"/>
            <a:ext cx="1400175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kern="0" spc="-112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致谢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712142" y="257871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E5FF"/>
          </a:solidFill>
        </p:spPr>
      </p:sp>
      <p:sp>
        <p:nvSpPr>
          <p:cNvPr id="8" name="Text 4"/>
          <p:cNvSpPr/>
          <p:nvPr/>
        </p:nvSpPr>
        <p:spPr>
          <a:xfrm>
            <a:off x="4164330" y="3196273"/>
            <a:ext cx="385762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感谢评委老师的聆听与指导！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48188" y="4551759"/>
            <a:ext cx="3095625" cy="1381125"/>
          </a:xfrm>
          <a:custGeom>
            <a:avLst/>
            <a:gdLst/>
            <a:ahLst/>
            <a:cxnLst/>
            <a:rect l="l" t="t" r="r" b="b"/>
            <a:pathLst>
              <a:path w="3095625" h="1381125">
                <a:moveTo>
                  <a:pt x="152393" y="0"/>
                </a:moveTo>
                <a:lnTo>
                  <a:pt x="2943232" y="0"/>
                </a:lnTo>
                <a:cubicBezTo>
                  <a:pt x="3027396" y="0"/>
                  <a:pt x="3095625" y="68229"/>
                  <a:pt x="3095625" y="152393"/>
                </a:cubicBezTo>
                <a:lnTo>
                  <a:pt x="3095625" y="1228732"/>
                </a:lnTo>
                <a:cubicBezTo>
                  <a:pt x="3095625" y="1312896"/>
                  <a:pt x="3027396" y="1381125"/>
                  <a:pt x="2943232" y="1381125"/>
                </a:cubicBezTo>
                <a:lnTo>
                  <a:pt x="152393" y="1381125"/>
                </a:lnTo>
                <a:cubicBezTo>
                  <a:pt x="68229" y="1381125"/>
                  <a:pt x="0" y="1312896"/>
                  <a:pt x="0" y="1228732"/>
                </a:cubicBezTo>
                <a:lnTo>
                  <a:pt x="0" y="152393"/>
                </a:lnTo>
                <a:cubicBezTo>
                  <a:pt x="0" y="68229"/>
                  <a:pt x="68229" y="0"/>
                  <a:pt x="15239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86313" y="4861322"/>
            <a:ext cx="26193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E5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敬请指导！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10125" y="5356622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期待您的宝贵意见与建议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4450</Words>
  <Application>WPS 文字</Application>
  <PresentationFormat>On-screen Show (16:9)</PresentationFormat>
  <Paragraphs>859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2" baseType="lpstr">
      <vt:lpstr>Arial</vt:lpstr>
      <vt:lpstr>宋体</vt:lpstr>
      <vt:lpstr>Wingdings</vt:lpstr>
      <vt:lpstr>MiSans</vt:lpstr>
      <vt:lpstr>苹方-简</vt:lpstr>
      <vt:lpstr>MiSans</vt:lpstr>
      <vt:lpstr>MiSans</vt:lpstr>
      <vt:lpstr>Noto Sans SC</vt:lpstr>
      <vt:lpstr>Noto Sans SC</vt:lpstr>
      <vt:lpstr>Noto Sans SC</vt:lpstr>
      <vt:lpstr>Liter</vt:lpstr>
      <vt:lpstr>Liter</vt:lpstr>
      <vt:lpstr>Liter</vt:lpstr>
      <vt:lpstr>汉仪书宋二KW</vt:lpstr>
      <vt:lpstr>Calibri</vt:lpstr>
      <vt:lpstr>Helvetica Neue</vt:lpstr>
      <vt:lpstr>等线</vt:lpstr>
      <vt:lpstr>汉仪中等线KW</vt:lpstr>
      <vt:lpstr>微软雅黑</vt:lpstr>
      <vt:lpstr>汉仪旗黑</vt:lpstr>
      <vt:lpstr>宋体</vt:lpstr>
      <vt:lpstr>Arial Unicode MS</vt:lpstr>
      <vt:lpstr>儷宋 Pro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睿知答惑 - 基于RAG+DeepSearch的智能答疑Agent</dc:title>
  <dc:creator>Kimi</dc:creator>
  <dc:subject>睿知答惑 - 基于RAG+DeepSearch的智能答疑Agent</dc:subject>
  <cp:lastModifiedBy>kk</cp:lastModifiedBy>
  <cp:revision>5</cp:revision>
  <dcterms:created xsi:type="dcterms:W3CDTF">2025-12-31T07:41:59Z</dcterms:created>
  <dcterms:modified xsi:type="dcterms:W3CDTF">2025-12-31T07:41:59Z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{"Label":"睿知答惑 - 基于RAG+DeepSearch的智能答疑Agent","ContentProducer":"001191110108MACG2KBH8F10000","ProduceID":"19b70189-3022-82d6-8000-0000b5dc9506","ReservedCode1":"","ContentPropagator":"001191110108MACG2KBH8F20000","PropagateID":"19b70189-3022-82d6-8000-0000b5dc9506","ReservedCode2":""}</vt:lpwstr>
  </property>
  <property fmtid="{D5CDD505-2E9C-101B-9397-08002B2CF9AE}" pid="3" name="KSOProductBuildVer">
    <vt:lpwstr>2052-12.1.24031.24031</vt:lpwstr>
  </property>
  <property fmtid="{D5CDD505-2E9C-101B-9397-08002B2CF9AE}" pid="4" name="ICV">
    <vt:lpwstr>A3197BE0EBC7DA31BB0254693224C894_43</vt:lpwstr>
  </property>
</Properties>
</file>